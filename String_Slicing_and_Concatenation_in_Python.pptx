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951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05840"/>
            <a:ext cx="4206240" cy="4206240"/>
          </a:xfrm>
          <a:prstGeom prst="ellipse">
            <a:avLst/>
          </a:prstGeom>
          <a:solidFill>
            <a:srgbClr val="30699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FFD43B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120640"/>
            <a:ext cx="3108960" cy="3108960"/>
          </a:xfrm>
          <a:prstGeom prst="roundRect">
            <a:avLst>
              <a:gd name="adj" fmla="val 17647"/>
            </a:avLst>
          </a:prstGeom>
          <a:solidFill>
            <a:srgbClr val="4B8BBE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BEGINNER GUIDE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373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Slicing and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 in Python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703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Extracting, Combining, and Manipulating Strings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1208" y="4434840"/>
            <a:ext cx="2011680" cy="0"/>
          </a:xfrm>
          <a:prstGeom prst="line">
            <a:avLst/>
          </a:prstGeom>
          <a:noFill/>
          <a:ln w="254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Vasundraa 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14,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507492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242048" y="5202936"/>
            <a:ext cx="40782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"ARUN"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print(name[::-1])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NURA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STRING SLICING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&amp; Indexing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1453896"/>
            <a:ext cx="46725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"ARUN"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 = "15-06-2004"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course_code = "CS101"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298448"/>
            <a:ext cx="5897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 sequence of characters in quotes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letters, numbers, spaces, symbols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"CS101" is a string — the quotes decide that,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digits inside it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has a position — an index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97280" y="34290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99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261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02536" y="34290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02536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002536" y="3099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002536" y="4261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07792" y="34290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07792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907792" y="3099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07792" y="4261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13048" y="34290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13048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813048" y="3099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813048" y="4261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" y="3108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" y="4297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3832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indexing starts at 0, left to right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indexing starts at -1, right to left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02920" y="53035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04088" y="5431536"/>
            <a:ext cx="4901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print(name[0])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print(name[-1])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0" y="530352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5376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5614416"/>
            <a:ext cx="5266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STRING SLICING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String Slicing?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slicing </a:t>
            </a:r>
            <a:r>
              <a:rPr lang="en-US" sz="17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extracting a portion of a string.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377440" y="2377440"/>
            <a:ext cx="7406640" cy="5943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77440" y="23774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 start : stop : step 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4612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where slicing begins
</a:t>
            </a: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where slicing ends
</a:t>
            </a: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how we move through the string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09360" y="3383280"/>
            <a:ext cx="5394960" cy="5029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33832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IS INCLUDED  ·  STOP IS EXCLUDED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4088" y="4654296"/>
            <a:ext cx="49011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"ARUN"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print(name[0:2])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45262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45994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4837176"/>
            <a:ext cx="2066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69680" y="47091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09760" y="47091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149840" y="47091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789920" y="47091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78992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869680" y="5440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0 to 1 selected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STRING SLICING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Without Parameters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2971800" cy="50292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name[:]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to 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01852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1852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723644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23644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345436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45436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967228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67228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05840" y="3657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3730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968496"/>
            <a:ext cx="2203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13716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617720" y="1600200"/>
            <a:ext cx="2971800" cy="50292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17720" y="1600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name[:2]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2240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to stop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6612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6612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518404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18404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140196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40196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761988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1988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800600" y="3657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83480" y="3730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001768" y="3968496"/>
            <a:ext cx="2203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092440" y="13716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36" name="Shape 34"/>
          <p:cNvSpPr/>
          <p:nvPr/>
        </p:nvSpPr>
        <p:spPr>
          <a:xfrm>
            <a:off x="8412480" y="1600200"/>
            <a:ext cx="2971800" cy="50292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12480" y="1600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name[2:]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2240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 end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691372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91372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9313164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13164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9934956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934956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10556748" y="2743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556748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595360" y="3657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778240" y="3730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796528" y="3968496"/>
            <a:ext cx="2203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[:]</a:t>
            </a: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whole string      </a:t>
            </a: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[:stop]</a:t>
            </a: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start to stop      </a:t>
            </a: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[start:]</a:t>
            </a: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start to end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STRING SLICING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Start, Stop, and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1840" y="1417320"/>
            <a:ext cx="5577840" cy="50292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91840" y="14173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 start : stop : step 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4088" y="2276856"/>
            <a:ext cx="4718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"ABCDEFG"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print(name[0:7:2])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21488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2219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2459736"/>
            <a:ext cx="19751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17320" y="38404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51129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30552" y="38404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30552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130552" y="351129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43784" y="38404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43784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2843784" y="351129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57016" y="38404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57016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557016" y="351129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70248" y="38404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70248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270248" y="351129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83480" y="38404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83480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351129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96712" y="38404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96712" y="38404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696712" y="351129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= 2 → Python takes every 2nd character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412480" y="397764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613648" y="4105656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print(name[::2])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412480" y="484632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95360" y="4919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613648" y="5157216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ACEG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5715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stop can be omitted while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step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STRING SLICING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Step &amp; Reversing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1545336"/>
            <a:ext cx="4718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"ARUN"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print(name[::-1])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806440" y="14173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490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07608" y="1728216"/>
            <a:ext cx="22494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69680" y="1508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509760" y="1508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149840" y="1508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4984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789920" y="1508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8992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reading backward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9718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4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step → moves left to right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4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step → moves right to left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4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[::-1] is the classic way to reverse a string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4348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4088" y="4562856"/>
            <a:ext cx="47183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name[-1:-4:-1]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806440" y="44348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45079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007608" y="4745736"/>
            <a:ext cx="2249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5285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→ U → R  (right-to-left)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66160" y="55961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66160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61539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42232" y="55961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42232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142232" y="61539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18304" y="55961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18304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4718304" y="61539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294376" y="55961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94376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5294376" y="61539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STRING SLICING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Indexes in Slicing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37360" y="169164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16916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4597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42032" y="169164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16916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4597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46704" y="169164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46704" y="16916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346704" y="24597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51376" y="169164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51376" y="16916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151376" y="24597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56048" y="169164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56048" y="16916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956048" y="24597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169164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16916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24597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65392" y="169164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16916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24597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5661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04088" y="3694176"/>
            <a:ext cx="4809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"ABCDEFG"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print(name[-5:-2])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897880" y="35661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80760" y="36393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099048" y="3877056"/>
            <a:ext cx="2340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915400" y="356616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09828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applies: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included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excluded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 is index 2 (C)  ·  -2 is index 5 (F, excluded)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STRING SLICING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Out-of-Range Slicing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1499616"/>
            <a:ext cx="4809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"ARUN"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print(name[0:10])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13716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80760" y="1444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48" y="1682496"/>
            <a:ext cx="2340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14173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is past the string length —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simply stops at the end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4088" y="2916936"/>
            <a:ext cx="4809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print(name[10:])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97880" y="27889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0760" y="2862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099048" y="309981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  (empty string)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beyond the end gives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string, not an error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840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print(name[10])</a:t>
            </a:r>
            <a:r>
              <a:rPr lang="en-US" sz="1600" dirty="0">
                <a:solidFill>
                  <a:srgbClr val="24303B"/>
                </a:solidFill>
              </a:rPr>
              <a:t>   →   </a:t>
            </a:r>
            <a:r>
              <a:rPr lang="en-US" sz="16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5074920"/>
            <a:ext cx="8138160" cy="5943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5074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Slicing is safe · Indexing raises an error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STRING SLICING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Start, Stop &amp;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1499616"/>
            <a:ext cx="48097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"ABCDEFG"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print(name[5:2])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897880" y="1371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80760" y="1444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48" y="1682496"/>
            <a:ext cx="23408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  (empty)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13258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step is +1 (left to right)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index 5 already comes after stop index 2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nothing can be selected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4088" y="3008376"/>
            <a:ext cx="4809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print(name[5:2:-1])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897880" y="28803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0760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099048" y="319125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3977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3648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3977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48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3977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648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3977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3648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3977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3648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06640" y="3977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0664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3648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46720" y="3977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3648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94560" y="5212080"/>
            <a:ext cx="7772400" cy="54864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194560" y="5212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Moving backward? Use a negative step.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STRING SLICING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Cheat Sheet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201400" cy="3291840"/>
          </a:xfrm>
          <a:prstGeom prst="roundRect">
            <a:avLst>
              <a:gd name="adj" fmla="val 2222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463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string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1201400" cy="457200"/>
          </a:xfrm>
          <a:prstGeom prst="rect">
            <a:avLst/>
          </a:prstGeom>
          <a:solidFill>
            <a:srgbClr val="E9EE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[start:]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920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 end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[:stop]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377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to stop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11201400" cy="457200"/>
          </a:xfrm>
          <a:prstGeom prst="rect">
            <a:avLst/>
          </a:prstGeom>
          <a:solidFill>
            <a:srgbClr val="E9EE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[start:stop]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834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portion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[::step]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291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string with step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11201400" cy="457200"/>
          </a:xfrm>
          <a:prstGeom prst="rect">
            <a:avLst/>
          </a:prstGeom>
          <a:solidFill>
            <a:srgbClr val="E9EE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[start:stop:step]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749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slicing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[::-1]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206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string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1E7B4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" y="4892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Included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97680" y="489204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B23A4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97680" y="4892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Excluded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92440" y="4892040"/>
            <a:ext cx="3611880" cy="594360"/>
          </a:xfrm>
          <a:prstGeom prst="roundRect">
            <a:avLst>
              <a:gd name="adj" fmla="val 15385"/>
            </a:avLst>
          </a:prstGeom>
          <a:solidFill>
            <a:srgbClr val="30699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92440" y="48920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Jump / Direction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STRING CONCATENATION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String Concatenation?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concatenation </a:t>
            </a:r>
            <a:r>
              <a:rPr lang="en-US" sz="17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joining two or more strings into one.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6035040" cy="1874520"/>
          </a:xfrm>
          <a:prstGeom prst="roundRect">
            <a:avLst>
              <a:gd name="adj" fmla="val 3902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4088" y="2505456"/>
            <a:ext cx="563270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 = "Arun"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 = "Kumar"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 = first_name + " " + last_name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print(full_name)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23774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24505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967728" y="2688336"/>
            <a:ext cx="4535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 Kumar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520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 operator joins strings together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 is added manually with " "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0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originals stay unchanged — result is new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526280"/>
            <a:ext cx="1120140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64515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"Arun"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r>
              <a:rPr lang="en-US" sz="18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r>
              <a:rPr lang="en-US" sz="18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"Kumar"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0292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28523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"Arun Kumar"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STRING CONCATENATION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+ Operator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1545336"/>
            <a:ext cx="49011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"Hello"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"World"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b)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490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90488" y="1728216"/>
            <a:ext cx="499262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HelloWorld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4088" y="3282696"/>
            <a:ext cx="49011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" " + b)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89320" y="31546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3227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3465576"/>
            <a:ext cx="4992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20140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434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are never automatic — add them yourself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46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+ "World"</a:t>
            </a:r>
            <a:r>
              <a:rPr lang="en-US" sz="1500" dirty="0">
                <a:solidFill>
                  <a:srgbClr val="667685"/>
                </a:solidFill>
              </a:rPr>
              <a:t>   →   </a:t>
            </a:r>
            <a:r>
              <a:rPr lang="en-US" sz="15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HelloWorld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852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+ " " + "World"</a:t>
            </a:r>
            <a:r>
              <a:rPr lang="en-US" sz="1500" dirty="0">
                <a:solidFill>
                  <a:srgbClr val="667685"/>
                </a:solidFill>
              </a:rPr>
              <a:t>   →   </a:t>
            </a:r>
            <a:r>
              <a:rPr lang="en-US" sz="1500" b="1" dirty="0">
                <a:solidFill>
                  <a:srgbClr val="1E7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STRING CONCATENATION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Concatenating Multiple Strings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649224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1545336"/>
            <a:ext cx="608990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 = "Arun"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middle_name = "Kumar"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= "Python"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first_name + " " + middle_name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" is learning " + course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23760" y="141732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490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24928" y="1728216"/>
            <a:ext cx="407822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 Kumar is</a:t>
            </a:r>
            <a:endParaRPr lang="en-US" sz="1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Python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30632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small strings to build full sentences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34340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4088" y="4471416"/>
            <a:ext cx="69128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 = "Welcome" + " " + "to" + " " + "Python"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print(sentence)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01000" y="434340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4165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02168" y="4654296"/>
            <a:ext cx="33009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Python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STRING CONCATENATION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Strings, Numbers &amp; TypeError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17320" y="1371600"/>
            <a:ext cx="9326880" cy="5029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3716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 can only be concatenated with strings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11201400" cy="1143000"/>
          </a:xfrm>
          <a:prstGeom prst="roundRect">
            <a:avLst>
              <a:gd name="adj" fmla="val 6400"/>
            </a:avLst>
          </a:prstGeom>
          <a:solidFill>
            <a:srgbClr val="FBEAEA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22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print("Age: " + age)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94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3375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does not auto-convert numbers to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during + concatenation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0233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4088" y="4151376"/>
            <a:ext cx="49926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print("Age: " + str(age))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40233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4096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4334256"/>
            <a:ext cx="49926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22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120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 — convert with str()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48640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04088" y="5614416"/>
            <a:ext cx="49926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print(f"Age: {age}")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548640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55595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36208" y="5797296"/>
            <a:ext cx="4992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22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STRING CONCATENATION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Ways to Concatenate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544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Using 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86968" y="2276856"/>
            <a:ext cx="28437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"Python"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"Programming"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" " + b)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6576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Programming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4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15544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join()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21488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81728" y="2276856"/>
            <a:ext cx="28437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["Python",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"is", "easy"]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 ".join(words))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80560" y="3657600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81728" y="36576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is easy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13716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366760" y="15544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6676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f-string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75320" y="21488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76488" y="2276856"/>
            <a:ext cx="28437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"Arun"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= "Python"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print(f"{name} is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 {course}")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75320" y="3657600"/>
            <a:ext cx="3246120" cy="457200"/>
          </a:xfrm>
          <a:prstGeom prst="roundRect">
            <a:avLst>
              <a:gd name="adj" fmla="val 16000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76488" y="36576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 is learning Python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480560"/>
            <a:ext cx="1120140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string joining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4983480"/>
            <a:ext cx="11201400" cy="457200"/>
          </a:xfrm>
          <a:prstGeom prst="rect">
            <a:avLst/>
          </a:prstGeom>
          <a:solidFill>
            <a:srgbClr val="E9EEF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join()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4983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multiple strings in a list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440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f-string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200400" y="5440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text and variables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STUDENT RECORD APPLICATIONS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 Record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86400" cy="4069080"/>
          </a:xfrm>
          <a:prstGeom prst="roundRect">
            <a:avLst>
              <a:gd name="adj" fmla="val 179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1499616"/>
            <a:ext cx="5084064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"Arun Kumar",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"DOB": "15-06-2004",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"Degree": "B.E",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"Course Code": "CS101",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"Course": "Python",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"Credit": "4",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"Duration": "12 weeks"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440680" cy="3675888"/>
          </a:xfrm>
          <a:prstGeom prst="roundRect">
            <a:avLst>
              <a:gd name="adj" fmla="val 1990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4173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23960" y="14173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 Kumar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929384"/>
            <a:ext cx="5440680" cy="512064"/>
          </a:xfrm>
          <a:prstGeom prst="rect">
            <a:avLst/>
          </a:prstGeom>
          <a:solidFill>
            <a:srgbClr val="E9EE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92938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192938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15-06-2004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4144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823960" y="24414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953512"/>
            <a:ext cx="5440680" cy="512064"/>
          </a:xfrm>
          <a:prstGeom prst="rect">
            <a:avLst/>
          </a:prstGeom>
          <a:solidFill>
            <a:srgbClr val="E9EE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295351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29535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CS101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46557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34655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440680" cy="512064"/>
          </a:xfrm>
          <a:prstGeom prst="rect">
            <a:avLst/>
          </a:prstGeom>
          <a:solidFill>
            <a:srgbClr val="E9EE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39776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823960" y="39776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48970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823960" y="44897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weeks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5532120"/>
            <a:ext cx="5440680" cy="5943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553212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Slicing extracts pieces · Concatenation combines them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STUDENT RECORD APPLICATIONS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the Student Details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4592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of Birth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86968" y="2414016"/>
            <a:ext cx="28437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 = "15-06-2004"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= dob[6:10]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print(year)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65760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F4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164592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645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22860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81728" y="2414016"/>
            <a:ext cx="28437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course_code = "CS101"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 = course_code[:2]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print(dept)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365760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81728" y="365760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1417320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366760" y="164592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66760" y="1645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Number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75320" y="22860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76488" y="2414016"/>
            <a:ext cx="28437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course_code = "CS101"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course_code[2:]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75320" y="365760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76488" y="365760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3794760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947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306824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06824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818888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18888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330952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30952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843016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43016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355080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E8ED"/>
          </a:solidFill>
          <a:ln w="15875">
            <a:solidFill>
              <a:srgbClr val="C7D2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55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867144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67144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7379208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79208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891272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91272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8403336" y="4754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D43B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403336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dob[6:10] → 2004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STUDENT RECORD APPLICATIONS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Student Profile Message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1499616"/>
            <a:ext cx="508406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"Arun Kumar"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 = "15-06-2004"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course_code = "CS101"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= "Python"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= dob[6:10]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= course_code[:2]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course_number = course_code[2:]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4808" y="1499616"/>
            <a:ext cx="50383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"Student: " + name +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 | Year of Birth: " + year +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 | Department: " + department +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 | Course Number: " + course_number +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 | Course: " + course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33832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34564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3694176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Student: Arun Kumar | Year of Birth: 2004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Department: CS | Course Number: 101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Course: Python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892040"/>
            <a:ext cx="11201400" cy="59436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48920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Slicing extracts the details — concatenation combines them into one message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DIFFICULT QUESTIONS &amp; ANSWERS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Challenge: Predict the Output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155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solve each one before checking the answers slide.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" y="157276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Negative Slicing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1248" y="2093976"/>
            <a:ext cx="20208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"PYTHON"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print(text[-5:-1:2])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41071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2152" y="157276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Conflicting Direction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0" y="19659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75888" y="2093976"/>
            <a:ext cx="20208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"ABCDEFG"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print(text[1:6:-1])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41071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36792" y="157276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Slicing + Concat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9659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10528" y="2093976"/>
            <a:ext cx="20208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"ARUN KUMAR"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name[:4]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name[-5:]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341071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06840" y="146304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71432" y="157276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Concat with Slices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0" y="19659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345168" y="2093976"/>
            <a:ext cx="20208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 = "15-06-2004"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= "CS101"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dob[-4:]+'-'+code[:2]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+code[2:]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171432" y="341071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93192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7512" y="4041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Step + Reverse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43484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41248" y="4562856"/>
            <a:ext cx="20208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= "COMPUTER"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print(word[7:1:-2])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67512" y="587959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393192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02152" y="4041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Concat vs Addition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74720" y="443484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675888" y="4562856"/>
            <a:ext cx="20208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"10"; b = "20"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b)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print(int(a)+int(b))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502152" y="587959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393192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36792" y="4041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Student Challenge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09360" y="443484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1A1A2E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510528" y="4562856"/>
            <a:ext cx="20208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name="Arun Kumar"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dob="15-06-2004"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code="CS101"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name[:4]+dob[-4:]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+code[-3:]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336792" y="5879592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06840" y="393192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144000" y="411480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it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through,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flip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slide!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DIFFICULT QUESTIONS &amp; ANSWERS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Answers &amp; Explanations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55448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78892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-5(Y), step 2, stop before -1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2152" y="155448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92024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78892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step but start &lt; stop — no match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36792" y="155448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92024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ARUNKUMAR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278892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+ KUMAR joined directly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6840" y="146304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432" y="155448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0" y="192024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0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2004-CS101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71432" y="278892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+ '-' + CS + 101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7512" y="402336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38912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389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RTP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" y="525780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R(7)→T(5)→P(3), step -2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393192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02152" y="402336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74720" y="438912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74720" y="4389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1020 / 30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502152" y="525780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join vs. int() addition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72200" y="393192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36792" y="402336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438912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AF2F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4389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 | 2004 | 101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336792" y="525780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24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each field, join with ' | '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06840" y="393192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1E3A5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44000" y="411480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extracts.</a:t>
            </a:r>
            <a:endParaRPr lang="en-US" sz="15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</a:t>
            </a:r>
            <a:endParaRPr lang="en-US" sz="15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023360" cy="4023360"/>
          </a:xfrm>
          <a:prstGeom prst="ellipse">
            <a:avLst/>
          </a:prstGeom>
          <a:solidFill>
            <a:srgbClr val="30699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FFD43B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Slicing &amp; Concatenation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2643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SLICING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string[start:stop:step]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E3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part of a string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E3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is included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E3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is excluded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E3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controls jump &amp; direction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60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dob[6:10]  ·  code[:2]  ·  code[2:]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2643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691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CONCATENATION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0116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string1 + string2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E3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multiple strings together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E3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must be added manually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E3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str() or f-strings with numbers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 + " " + "World"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096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f"{name} is learning {course}"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98348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50" b="1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“Slicing helps us get the information we need — concatenation helps us combine that information into meaningful output.”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1980</Words>
  <Application>Microsoft Office PowerPoint</Application>
  <PresentationFormat>Widescreen</PresentationFormat>
  <Paragraphs>516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VASUNDRAA S</cp:lastModifiedBy>
  <cp:revision>2</cp:revision>
  <dcterms:created xsi:type="dcterms:W3CDTF">2026-09-14T18:10:21Z</dcterms:created>
  <dcterms:modified xsi:type="dcterms:W3CDTF">2026-10-15T13:50:04Z</dcterms:modified>
</cp:coreProperties>
</file>