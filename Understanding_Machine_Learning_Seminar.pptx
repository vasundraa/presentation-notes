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7" d="100"/>
          <a:sy n="87" d="100"/>
        </p:scale>
        <p:origin x="422"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065215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Welcome everyone. This seminar explains how machine-learning models learn from examples, why a model can perform well on training data but poorly on new data, and how regularization can help. We will use a hypothetical student-marks prediction example throughout. Replace the presenter, department, college, and date placeholders before presenting.</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model learns by adjusting its parameters based on examples in the training data. First, we identify the input features and the target we want to predict. The model makes predictions, compares them with the actual values, and calculates an error. The training algorithm updates the parameters to reduce its training objective. This process repeats. When we later predict for a new student, we use the learned model rather than training it from scratch.</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a small hypothetical dataset for illustration. Each row represents a student. Attendance, study hours, internal marks, and assignments completed are the features, or inputs. The actual final score is the target. A model uses examples like these to learn a relationship between inputs and target. The numbers are illustrative only and should not be interpreted as real student data or as proof of predictive performance.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this simplified linear regression equation, 10 is the intercept and 2 is the coefficient or weight for study hours. The input feature is study hours, and the output is the predicted score. A positive weight means the prediction increases as that feature increases, assuming other features are held fixed. A negative weight means the prediction decreases. Weight magnitudes depend on units and on which other features the model includes, so weights should not be interpreted in isolation.</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Both models have an intercept of 10, but their weights differ. At five study hours, Model A predicts 20 and Model B predicts 35. Model B's line is steeper, so the prediction changes more for each extra hour. But a larger weight does not automatically mean overfitting. Overfitting is about how a model performs beyond its training examples, especially on validation or unseen data.</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Training data is used to learn model parameters. Validation data helps compare settings, tune hyperparameters, and choose a model or checkpoint. The test set is reserved for a final, relatively unbiased evaluation after choices have been made. A 70/15/15 split is only one possible arrangement; the right split depends on dataset size and task. Split the data before fitting preprocessing steps such as scaling or imputation, so information from held-out data does not leak into training.</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Bias refers to error from overly simple assumptions. A high-bias model may miss important patterns. Variance describes how sensitive a model is to the particular training sample; high variance means the fitted model can change a lot when the data changes. The target diagrams are conceptual: the center represents the intended pattern. A desirable model has both low systematic error and stable performance, although real-world trade-offs and irreducible noise remain.</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Underfitting happens when a model is too simple to capture the main structure; both training and validation performance are often poor. A good fit captures useful patterns without following every fluctuation. Overfitting occurs when the model fits training examples too closely, including noise, so training error is low but validation error is relatively high or worsens. The mini-plots are conceptual illustrations, not measured results.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 epoch is one complete pass through the training dataset. Early in training, the model often learns useful structure, so both training and validation error can decrease. Later, training error may keep falling while validation error rises, suggesting the model is fitting training-specific noise. The point near the minimum validation error is a candidate checkpoint. Validation curves can fluctuate, so one increase alone is not proof; practitioners often use a patience rule.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Regularization is a way to discourage unnecessarily large coefficients or otherwise restrict model complexity. Flexible models can fit noise in the training data, and low training error alone does not guarantee strong performance on new data. The training algorithm minimizes a combined objective: prediction error plus a regularization penalty. The penalty can make the training objective larger even if the raw prediction error is small. The real goal is good generalization, which is assessed using held-out data.</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a simplified one-observation illustration. With an actual score of 35 and five study hours, weight 4 predicts 30, giving squared error 25 and a Ridge penalty of 32, for a total of 57. Weight 5 predicts 35, giving zero squared error and penalty 50, for a total of 50. So the larger weight has the lower combined objective in this example. Regularization does not automatically choose the smallest weight; it balances prediction error and penalty. Real training aggregates error across many observations and may normalize the objective differently.</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process begins with initial weights, then makes predictions, calculates the prediction error and the regularization penalty, combines them into one objective, and updates the weights to reduce that objective. The algorithm does not have to reduce prediction error and penalty separately at every step; it minimizes the combined objective. During one run, lambda is generally fixed. To compare lambda values, train separate models and use validation data or cross-validation. Never use the final test set to choose lambda.</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Ridge is L2 regularization. Its objective adds lambda times the sum of squared coefficients to the prediction error, often mean squared error for regression. Squaring means larger coefficient magnitudes incur a larger penalty. Ridge usually shrinks coefficients toward zero but does not generally set them exactly to zero. The bars are illustrative, not fitted values. Ridge does not guarantee improved prediction for every dataset; performance should be evaluated on held-out data.</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Lasso is L1 regularization. Instead of squaring coefficients, it adds lambda times the sum of their absolute values. Lasso shrinks coefficients and can set some exactly to zero. A zero coefficient means that feature contributes nothing through that coefficient to the fitted linear prediction. This can support feature selection, but which features remain can be unstable when predictors are strongly correlated. The chart values are illustrative.</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Ridge and Lasso both regularize coefficient magnitudes, but use different penalties. Ridge uses the sum of squared coefficients and usually keeps coefficients nonzero. Lasso uses the sum of absolute coefficients and can set some to zero, which can perform feature selection. Neither is universally better. When features are strongly correlated, Ridge often distributes weights across them, while Lasso may select only some, depending on the data.</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Lambda is a hyperparameter that controls the strength of regularization. A small lambda applies a weaker penalty and may leave more room for overfitting in some settings. A moderate value may balance fit and complexity. A very large value can shrink coefficients so much that the model underfits. These are conceptual cases, not fixed numeric thresholds. Lambda's effective strength depends on feature scales, the dataset, and how the loss is normalized. A practitioner generally selects lambda using validation or cross-validation; the training algorithm optimizes weights for that selected value.</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select lambda, choose a set of candidate values and train a separate model for each candidate using the training data. Compare validation performance, often using validation error or cross-validation. In this illustrative chart, lambda 1 has the lowest displayed validation error, but the values are invented for explanation only. Once the model and hyperparameters are selected, the final test set is used once for evaluation. If appropriate, the model may be retrained on training plus validation data before that final test.</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Feature scaling and regularization are different. Scaling transforms input values to comparable numerical scales, for example with StandardScaler or Min-Max Scaling. Regularization adds a penalty to the training objective. Scaling matters for Ridge and Lasso because coefficient penalties are affected by feature scales: a feature measured in thousands and one measured in fractions can otherwise be treated unevenly. Fit the scaler on training data only, then apply the same fitted transformation to validation and test data. The bars are conceptual, not actual distributions.</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Early stopping monitors validation performance during iterative training. After each epoch, the model is evaluated on validation data. The best checkpoint is saved, and training stops if validation performance fails to improve for a chosen patience period. The best checkpoint is then restored. This can act as implicit regularization. It is common with neural networks and gradient-based training, but it is not normally a standard training control for ordinary closed-form least-squares regression.</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Generalization is a model's ability to perform well on new data that it has not seen during fitting. Training performance describes fit on the examples used to learn parameters. Validation performance supports model and hyperparameter selection. Test performance is a final estimate using data that did not influence those choices. A model can memorize training examples and still fail on new examples, so training error alone is not enough. The graph is conceptual.</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Data leakage means information is used during training or model selection that would not legitimately be available at prediction time, or evaluation data influences fitting. Target leakage might occur if final score is used to predict a pass/fail label directly determined by that score. Preprocessing leakage occurs when a scaler or imputer is fit on the full dataset before splitting. Time leakage occurs when future information is used to predict the past. Leakage can make results look unrealistically good. It is distinct from overfitting, though both can make evaluation misleading.</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diagram combines the workflow. Define the problem, collect and clean data, then split into training, validation, and test sets. Fit preprocessing steps using training data only. Train a model, including regularization where appropriate. Use validation data to tune hyperparameters and select a model. Keep the test set untouched until final evaluation. If the results are acceptable, deploy the model and monitor performance as new data arrives. The test set should not guide hyperparameter choices.</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summarize: models learn parameters from training data, but low training error does not guarantee good performance on new data. Bias and variance help explain underfitting and overfitting. Regularization adds a penalty to the training objective. Ridge uses an L2 penalty and usually shrinks coefficients; Lasso uses an L1 penalty and can set some coefficients to zero. Lambda controls regularization strength and is usually selected through validation. Feature scaling is different from regularization, early stopping can help iterative training, and data leakage can invalidate evaluation. The ultimate goal is generalization.</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Thank the audience for their time and invite questions. If discussion begins, return to the central ideas: models learn weights from data, validation helps assess generalization during model selection, and regularization controls model complexity. Be ready to clarify the difference between a model parameter such as a weight and a hyperparameter such as lambda.</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326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7827264" y="1837944"/>
            <a:ext cx="164592" cy="164592"/>
          </a:xfrm>
          <a:prstGeom prst="ellipse">
            <a:avLst/>
          </a:prstGeom>
          <a:solidFill>
            <a:srgbClr val="1C9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 name="Connector 3"/>
          <p:cNvCxnSpPr/>
          <p:nvPr/>
        </p:nvCxnSpPr>
        <p:spPr>
          <a:xfrm>
            <a:off x="8046720" y="1920240"/>
            <a:ext cx="1097280" cy="822960"/>
          </a:xfrm>
          <a:prstGeom prst="line">
            <a:avLst/>
          </a:prstGeom>
          <a:ln w="12700">
            <a:solidFill>
              <a:srgbClr val="5A7DA5"/>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8284464" y="2249424"/>
            <a:ext cx="164592" cy="164592"/>
          </a:xfrm>
          <a:prstGeom prst="ellipse">
            <a:avLst/>
          </a:prstGeom>
          <a:solidFill>
            <a:srgbClr val="E69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8503920" y="2331720"/>
            <a:ext cx="640080" cy="411480"/>
          </a:xfrm>
          <a:prstGeom prst="line">
            <a:avLst/>
          </a:prstGeom>
          <a:ln w="12700">
            <a:solidFill>
              <a:srgbClr val="5A7DA5"/>
            </a:solidFill>
          </a:ln>
        </p:spPr>
        <p:style>
          <a:lnRef idx="2">
            <a:schemeClr val="accent1"/>
          </a:lnRef>
          <a:fillRef idx="0">
            <a:schemeClr val="accent1"/>
          </a:fillRef>
          <a:effectRef idx="1">
            <a:schemeClr val="accent1"/>
          </a:effectRef>
          <a:fontRef idx="minor">
            <a:schemeClr val="tx1"/>
          </a:fontRef>
        </p:style>
      </p:cxnSp>
      <p:sp>
        <p:nvSpPr>
          <p:cNvPr id="7" name="Oval 6"/>
          <p:cNvSpPr/>
          <p:nvPr/>
        </p:nvSpPr>
        <p:spPr>
          <a:xfrm>
            <a:off x="7872983" y="2752344"/>
            <a:ext cx="164592" cy="164592"/>
          </a:xfrm>
          <a:prstGeom prst="ellipse">
            <a:avLst/>
          </a:prstGeom>
          <a:solidFill>
            <a:srgbClr val="1C9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8" name="Connector 7"/>
          <p:cNvCxnSpPr/>
          <p:nvPr/>
        </p:nvCxnSpPr>
        <p:spPr>
          <a:xfrm flipV="1">
            <a:off x="8092440" y="2743200"/>
            <a:ext cx="1051560" cy="91440"/>
          </a:xfrm>
          <a:prstGeom prst="line">
            <a:avLst/>
          </a:prstGeom>
          <a:ln w="12700">
            <a:solidFill>
              <a:srgbClr val="5A7DA5"/>
            </a:solidFill>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8375904" y="3072384"/>
            <a:ext cx="164592" cy="164592"/>
          </a:xfrm>
          <a:prstGeom prst="ellipse">
            <a:avLst/>
          </a:prstGeom>
          <a:solidFill>
            <a:srgbClr val="E69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0" name="Connector 9"/>
          <p:cNvCxnSpPr/>
          <p:nvPr/>
        </p:nvCxnSpPr>
        <p:spPr>
          <a:xfrm flipV="1">
            <a:off x="8595360" y="2743200"/>
            <a:ext cx="548640" cy="411480"/>
          </a:xfrm>
          <a:prstGeom prst="line">
            <a:avLst/>
          </a:prstGeom>
          <a:ln w="12700">
            <a:solidFill>
              <a:srgbClr val="5A7DA5"/>
            </a:solidFill>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7735824" y="3575304"/>
            <a:ext cx="164592" cy="164592"/>
          </a:xfrm>
          <a:prstGeom prst="ellipse">
            <a:avLst/>
          </a:prstGeom>
          <a:solidFill>
            <a:srgbClr val="1C9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2" name="Connector 11"/>
          <p:cNvCxnSpPr/>
          <p:nvPr/>
        </p:nvCxnSpPr>
        <p:spPr>
          <a:xfrm flipV="1">
            <a:off x="7955280" y="2743200"/>
            <a:ext cx="1188720" cy="914400"/>
          </a:xfrm>
          <a:prstGeom prst="line">
            <a:avLst/>
          </a:prstGeom>
          <a:ln w="12700">
            <a:solidFill>
              <a:srgbClr val="5A7DA5"/>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9144000" y="2057400"/>
            <a:ext cx="1234440" cy="1371600"/>
          </a:xfrm>
          <a:prstGeom prst="roundRect">
            <a:avLst/>
          </a:prstGeom>
          <a:solidFill>
            <a:srgbClr val="233E63"/>
          </a:solidFill>
          <a:ln>
            <a:solidFill>
              <a:srgbClr val="1C96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253728" y="2331720"/>
            <a:ext cx="1005840" cy="640080"/>
          </a:xfrm>
          <a:prstGeom prst="rect">
            <a:avLst/>
          </a:prstGeom>
          <a:noFill/>
        </p:spPr>
        <p:txBody>
          <a:bodyPr wrap="square" lIns="54864" tIns="54864" rIns="54864" bIns="54864" anchor="ctr">
            <a:spAutoFit/>
          </a:bodyPr>
          <a:lstStyle/>
          <a:p>
            <a:pPr algn="ctr">
              <a:spcAft>
                <a:spcPts val="0"/>
              </a:spcAft>
            </a:pPr>
            <a:r>
              <a:rPr sz="1600" b="1">
                <a:solidFill>
                  <a:srgbClr val="FFFFFF"/>
                </a:solidFill>
                <a:latin typeface="Aptos"/>
              </a:rPr>
              <a:t>ML
MODEL</a:t>
            </a:r>
          </a:p>
        </p:txBody>
      </p:sp>
      <p:cxnSp>
        <p:nvCxnSpPr>
          <p:cNvPr id="15" name="Connector 14"/>
          <p:cNvCxnSpPr/>
          <p:nvPr/>
        </p:nvCxnSpPr>
        <p:spPr>
          <a:xfrm>
            <a:off x="10469880" y="2743200"/>
            <a:ext cx="548640" cy="0"/>
          </a:xfrm>
          <a:prstGeom prst="line">
            <a:avLst/>
          </a:prstGeom>
          <a:ln w="25400">
            <a:solidFill>
              <a:srgbClr val="E69132"/>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10927080" y="2359152"/>
            <a:ext cx="960120" cy="731520"/>
          </a:xfrm>
          <a:prstGeom prst="rect">
            <a:avLst/>
          </a:prstGeom>
          <a:noFill/>
        </p:spPr>
        <p:txBody>
          <a:bodyPr wrap="square" lIns="54864" tIns="54864" rIns="54864" bIns="54864" anchor="ctr">
            <a:spAutoFit/>
          </a:bodyPr>
          <a:lstStyle/>
          <a:p>
            <a:pPr algn="ctr">
              <a:spcAft>
                <a:spcPts val="0"/>
              </a:spcAft>
            </a:pPr>
            <a:r>
              <a:rPr sz="1500" b="1">
                <a:solidFill>
                  <a:srgbClr val="FFFFFF"/>
                </a:solidFill>
                <a:latin typeface="Aptos"/>
              </a:rPr>
              <a:t>Score
= 20</a:t>
            </a:r>
          </a:p>
        </p:txBody>
      </p:sp>
      <p:sp>
        <p:nvSpPr>
          <p:cNvPr id="17" name="TextBox 16"/>
          <p:cNvSpPr txBox="1"/>
          <p:nvPr/>
        </p:nvSpPr>
        <p:spPr>
          <a:xfrm>
            <a:off x="777240" y="1097280"/>
            <a:ext cx="6583680" cy="411480"/>
          </a:xfrm>
          <a:prstGeom prst="rect">
            <a:avLst/>
          </a:prstGeom>
          <a:noFill/>
        </p:spPr>
        <p:txBody>
          <a:bodyPr wrap="square" lIns="54864" tIns="54864" rIns="54864" bIns="54864" anchor="t">
            <a:spAutoFit/>
          </a:bodyPr>
          <a:lstStyle/>
          <a:p>
            <a:pPr algn="l">
              <a:spcAft>
                <a:spcPts val="0"/>
              </a:spcAft>
            </a:pPr>
            <a:r>
              <a:rPr sz="1200" b="1">
                <a:solidFill>
                  <a:srgbClr val="1C968C"/>
                </a:solidFill>
                <a:latin typeface="Aptos"/>
              </a:rPr>
              <a:t>TECHNICAL SEMINAR</a:t>
            </a:r>
          </a:p>
        </p:txBody>
      </p:sp>
      <p:sp>
        <p:nvSpPr>
          <p:cNvPr id="18" name="TextBox 17"/>
          <p:cNvSpPr txBox="1"/>
          <p:nvPr/>
        </p:nvSpPr>
        <p:spPr>
          <a:xfrm>
            <a:off x="749808" y="1645920"/>
            <a:ext cx="6675120" cy="1828800"/>
          </a:xfrm>
          <a:prstGeom prst="rect">
            <a:avLst/>
          </a:prstGeom>
          <a:noFill/>
        </p:spPr>
        <p:txBody>
          <a:bodyPr wrap="square" lIns="54864" tIns="54864" rIns="54864" bIns="54864" anchor="t">
            <a:spAutoFit/>
          </a:bodyPr>
          <a:lstStyle/>
          <a:p>
            <a:pPr algn="l">
              <a:spcAft>
                <a:spcPts val="0"/>
              </a:spcAft>
            </a:pPr>
            <a:r>
              <a:rPr sz="2900" b="1">
                <a:solidFill>
                  <a:srgbClr val="FFFFFF"/>
                </a:solidFill>
                <a:latin typeface="Aptos"/>
              </a:rPr>
              <a:t>Understanding Machine Learning:
Bias, Variance, Overfitting,
and Regularization</a:t>
            </a:r>
          </a:p>
        </p:txBody>
      </p:sp>
      <p:sp>
        <p:nvSpPr>
          <p:cNvPr id="19" name="TextBox 18"/>
          <p:cNvSpPr txBox="1"/>
          <p:nvPr/>
        </p:nvSpPr>
        <p:spPr>
          <a:xfrm>
            <a:off x="786384" y="3886200"/>
            <a:ext cx="6035040" cy="685800"/>
          </a:xfrm>
          <a:prstGeom prst="rect">
            <a:avLst/>
          </a:prstGeom>
          <a:noFill/>
        </p:spPr>
        <p:txBody>
          <a:bodyPr wrap="square" lIns="54864" tIns="54864" rIns="54864" bIns="54864" anchor="t">
            <a:spAutoFit/>
          </a:bodyPr>
          <a:lstStyle/>
          <a:p>
            <a:pPr algn="l">
              <a:spcAft>
                <a:spcPts val="0"/>
              </a:spcAft>
            </a:pPr>
            <a:r>
              <a:rPr sz="1700" b="0">
                <a:solidFill>
                  <a:srgbClr val="D2DEEE"/>
                </a:solidFill>
                <a:latin typeface="Aptos"/>
              </a:rPr>
              <a:t>How models learn, why they fail, and how regularization improves generalization.</a:t>
            </a:r>
          </a:p>
        </p:txBody>
      </p:sp>
      <p:sp>
        <p:nvSpPr>
          <p:cNvPr id="20" name="TextBox 19"/>
          <p:cNvSpPr txBox="1"/>
          <p:nvPr/>
        </p:nvSpPr>
        <p:spPr>
          <a:xfrm>
            <a:off x="786384" y="5623560"/>
            <a:ext cx="6217920" cy="280077"/>
          </a:xfrm>
          <a:prstGeom prst="rect">
            <a:avLst/>
          </a:prstGeom>
          <a:noFill/>
        </p:spPr>
        <p:txBody>
          <a:bodyPr wrap="square" lIns="54864" tIns="54864" rIns="54864" bIns="54864" anchor="t">
            <a:spAutoFit/>
          </a:bodyPr>
          <a:lstStyle/>
          <a:p>
            <a:pPr algn="l">
              <a:spcAft>
                <a:spcPts val="0"/>
              </a:spcAft>
            </a:pPr>
            <a:r>
              <a:rPr sz="1100" b="0" dirty="0">
                <a:solidFill>
                  <a:srgbClr val="BECDDF"/>
                </a:solidFill>
                <a:latin typeface="Aptos"/>
              </a:rPr>
              <a:t>Presenter: </a:t>
            </a:r>
            <a:r>
              <a:rPr lang="en-IN" sz="1100" dirty="0">
                <a:solidFill>
                  <a:srgbClr val="BECDDF"/>
                </a:solidFill>
                <a:latin typeface="Aptos"/>
              </a:rPr>
              <a:t>Vasundraa S</a:t>
            </a:r>
            <a:r>
              <a:rPr sz="1100" b="0" dirty="0">
                <a:solidFill>
                  <a:srgbClr val="BECDDF"/>
                </a:solidFill>
                <a:latin typeface="Aptos"/>
              </a:rPr>
              <a:t>  •   </a:t>
            </a:r>
            <a:r>
              <a:rPr lang="en-IN" sz="1100">
                <a:solidFill>
                  <a:srgbClr val="BECDDF"/>
                </a:solidFill>
                <a:latin typeface="Aptos"/>
              </a:rPr>
              <a:t>Date: 15/10/2026</a:t>
            </a:r>
            <a:endParaRPr sz="1100" b="0">
              <a:solidFill>
                <a:srgbClr val="BECDDF"/>
              </a:solidFill>
              <a:latin typeface="Apto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256032"/>
            <a:ext cx="10972800" cy="502920"/>
          </a:xfrm>
          <a:prstGeom prst="rect">
            <a:avLst/>
          </a:prstGeom>
          <a:noFill/>
        </p:spPr>
        <p:txBody>
          <a:bodyPr wrap="square" lIns="54864" tIns="54864" rIns="54864" bIns="54864" anchor="t">
            <a:spAutoFit/>
          </a:bodyPr>
          <a:lstStyle/>
          <a:p>
            <a:pPr algn="l">
              <a:spcAft>
                <a:spcPts val="0"/>
              </a:spcAft>
            </a:pPr>
            <a:r>
              <a:rPr sz="2700" b="1">
                <a:solidFill>
                  <a:srgbClr val="132645"/>
                </a:solidFill>
                <a:latin typeface="Aptos"/>
              </a:rPr>
              <a:t>How Does a Machine-Learning Model Learn?</a:t>
            </a:r>
          </a:p>
        </p:txBody>
      </p:sp>
      <p:sp>
        <p:nvSpPr>
          <p:cNvPr id="4" name="Rectangle 3"/>
          <p:cNvSpPr/>
          <p:nvPr/>
        </p:nvSpPr>
        <p:spPr>
          <a:xfrm>
            <a:off x="585216" y="832104"/>
            <a:ext cx="731520" cy="50292"/>
          </a:xfrm>
          <a:prstGeom prst="rect">
            <a:avLst/>
          </a:prstGeom>
          <a:solidFill>
            <a:srgbClr val="1C9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464040" y="292608"/>
            <a:ext cx="2103120" cy="274320"/>
          </a:xfrm>
          <a:prstGeom prst="rect">
            <a:avLst/>
          </a:prstGeom>
          <a:noFill/>
        </p:spPr>
        <p:txBody>
          <a:bodyPr wrap="square" lIns="54864" tIns="54864" rIns="54864" bIns="54864" anchor="t">
            <a:spAutoFit/>
          </a:bodyPr>
          <a:lstStyle/>
          <a:p>
            <a:pPr algn="r">
              <a:spcAft>
                <a:spcPts val="0"/>
              </a:spcAft>
            </a:pPr>
            <a:r>
              <a:rPr sz="900" b="1">
                <a:solidFill>
                  <a:srgbClr val="657384"/>
                </a:solidFill>
                <a:latin typeface="Aptos"/>
              </a:rPr>
              <a:t>FOUNDATIONS</a:t>
            </a:r>
          </a:p>
        </p:txBody>
      </p:sp>
      <p:sp>
        <p:nvSpPr>
          <p:cNvPr id="6" name="TextBox 5"/>
          <p:cNvSpPr txBox="1"/>
          <p:nvPr/>
        </p:nvSpPr>
        <p:spPr>
          <a:xfrm>
            <a:off x="594360" y="6510528"/>
            <a:ext cx="8961120" cy="164592"/>
          </a:xfrm>
          <a:prstGeom prst="rect">
            <a:avLst/>
          </a:prstGeom>
          <a:noFill/>
        </p:spPr>
        <p:txBody>
          <a:bodyPr wrap="square" lIns="54864" tIns="54864" rIns="54864" bIns="54864" anchor="t">
            <a:spAutoFit/>
          </a:bodyPr>
          <a:lstStyle/>
          <a:p>
            <a:pPr algn="l">
              <a:spcAft>
                <a:spcPts val="0"/>
              </a:spcAft>
            </a:pPr>
            <a:r>
              <a:rPr sz="800" b="0">
                <a:solidFill>
                  <a:srgbClr val="657384"/>
                </a:solidFill>
                <a:latin typeface="Aptos"/>
              </a:rPr>
              <a:t>UNDERSTANDING MACHINE LEARNING  •  TECHNICAL SEMINAR</a:t>
            </a:r>
          </a:p>
        </p:txBody>
      </p:sp>
      <p:sp>
        <p:nvSpPr>
          <p:cNvPr id="7" name="TextBox 6"/>
          <p:cNvSpPr txBox="1"/>
          <p:nvPr/>
        </p:nvSpPr>
        <p:spPr>
          <a:xfrm>
            <a:off x="11064240" y="6473952"/>
            <a:ext cx="502920" cy="201168"/>
          </a:xfrm>
          <a:prstGeom prst="rect">
            <a:avLst/>
          </a:prstGeom>
          <a:noFill/>
        </p:spPr>
        <p:txBody>
          <a:bodyPr wrap="square" lIns="54864" tIns="54864" rIns="54864" bIns="54864" anchor="t">
            <a:spAutoFit/>
          </a:bodyPr>
          <a:lstStyle/>
          <a:p>
            <a:pPr algn="r">
              <a:spcAft>
                <a:spcPts val="0"/>
              </a:spcAft>
            </a:pPr>
            <a:r>
              <a:rPr sz="900" b="1">
                <a:solidFill>
                  <a:srgbClr val="657384"/>
                </a:solidFill>
                <a:latin typeface="Aptos"/>
              </a:rPr>
              <a:t>02</a:t>
            </a:r>
          </a:p>
        </p:txBody>
      </p:sp>
      <p:sp>
        <p:nvSpPr>
          <p:cNvPr id="8" name="Rounded Rectangle 7"/>
          <p:cNvSpPr/>
          <p:nvPr/>
        </p:nvSpPr>
        <p:spPr>
          <a:xfrm>
            <a:off x="640080" y="1965960"/>
            <a:ext cx="1508760" cy="1234440"/>
          </a:xfrm>
          <a:prstGeom prst="roundRect">
            <a:avLst/>
          </a:prstGeom>
          <a:solidFill>
            <a:srgbClr val="FFFFFF"/>
          </a:solidFill>
          <a:ln w="12700">
            <a:solidFill>
              <a:srgbClr val="DEE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40080" y="1965960"/>
            <a:ext cx="73152" cy="1234440"/>
          </a:xfrm>
          <a:prstGeom prst="rect">
            <a:avLst/>
          </a:prstGeom>
          <a:solidFill>
            <a:srgbClr val="2D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41247" y="2112264"/>
            <a:ext cx="1161288" cy="310896"/>
          </a:xfrm>
          <a:prstGeom prst="rect">
            <a:avLst/>
          </a:prstGeom>
          <a:noFill/>
        </p:spPr>
        <p:txBody>
          <a:bodyPr wrap="square" lIns="54864" tIns="54864" rIns="54864" bIns="54864" anchor="t">
            <a:spAutoFit/>
          </a:bodyPr>
          <a:lstStyle/>
          <a:p>
            <a:pPr algn="l">
              <a:spcAft>
                <a:spcPts val="0"/>
              </a:spcAft>
            </a:pPr>
            <a:r>
              <a:rPr sz="1300" b="1">
                <a:solidFill>
                  <a:srgbClr val="132645"/>
                </a:solidFill>
                <a:latin typeface="Aptos"/>
              </a:rPr>
              <a:t>Collect
historical data</a:t>
            </a:r>
          </a:p>
        </p:txBody>
      </p:sp>
      <p:sp>
        <p:nvSpPr>
          <p:cNvPr id="11" name="TextBox 10"/>
          <p:cNvSpPr txBox="1"/>
          <p:nvPr/>
        </p:nvSpPr>
        <p:spPr>
          <a:xfrm>
            <a:off x="841247" y="2496312"/>
            <a:ext cx="1161288" cy="612648"/>
          </a:xfrm>
          <a:prstGeom prst="rect">
            <a:avLst/>
          </a:prstGeom>
          <a:noFill/>
        </p:spPr>
        <p:txBody>
          <a:bodyPr wrap="square" lIns="54864" tIns="54864" rIns="54864" bIns="54864" anchor="t">
            <a:spAutoFit/>
          </a:bodyPr>
          <a:lstStyle/>
          <a:p>
            <a:pPr algn="l">
              <a:spcAft>
                <a:spcPts val="0"/>
              </a:spcAft>
            </a:pPr>
            <a:endParaRPr/>
          </a:p>
        </p:txBody>
      </p:sp>
      <p:sp>
        <p:nvSpPr>
          <p:cNvPr id="12" name="Oval 11"/>
          <p:cNvSpPr/>
          <p:nvPr/>
        </p:nvSpPr>
        <p:spPr>
          <a:xfrm>
            <a:off x="685799" y="1764792"/>
            <a:ext cx="310896" cy="310896"/>
          </a:xfrm>
          <a:prstGeom prst="ellipse">
            <a:avLst/>
          </a:prstGeom>
          <a:solidFill>
            <a:srgbClr val="2D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49808" y="1773936"/>
            <a:ext cx="182880" cy="228600"/>
          </a:xfrm>
          <a:prstGeom prst="rect">
            <a:avLst/>
          </a:prstGeom>
          <a:noFill/>
        </p:spPr>
        <p:txBody>
          <a:bodyPr wrap="square" lIns="54864" tIns="54864" rIns="54864" bIns="54864" anchor="t">
            <a:spAutoFit/>
          </a:bodyPr>
          <a:lstStyle/>
          <a:p>
            <a:pPr algn="ctr">
              <a:spcAft>
                <a:spcPts val="0"/>
              </a:spcAft>
            </a:pPr>
            <a:r>
              <a:rPr sz="1000" b="1">
                <a:solidFill>
                  <a:srgbClr val="FFFFFF"/>
                </a:solidFill>
                <a:latin typeface="Aptos"/>
              </a:rPr>
              <a:t>1</a:t>
            </a:r>
          </a:p>
        </p:txBody>
      </p:sp>
      <p:cxnSp>
        <p:nvCxnSpPr>
          <p:cNvPr id="14" name="Connector 13"/>
          <p:cNvCxnSpPr/>
          <p:nvPr/>
        </p:nvCxnSpPr>
        <p:spPr>
          <a:xfrm>
            <a:off x="2176272" y="2587752"/>
            <a:ext cx="265176" cy="0"/>
          </a:xfrm>
          <a:prstGeom prst="line">
            <a:avLst/>
          </a:prstGeom>
          <a:ln w="16510">
            <a:solidFill>
              <a:srgbClr val="657384"/>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2514600" y="1965960"/>
            <a:ext cx="1508760" cy="1234440"/>
          </a:xfrm>
          <a:prstGeom prst="roundRect">
            <a:avLst/>
          </a:prstGeom>
          <a:solidFill>
            <a:srgbClr val="FFFFFF"/>
          </a:solidFill>
          <a:ln w="12700">
            <a:solidFill>
              <a:srgbClr val="DEE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2514600" y="1965960"/>
            <a:ext cx="73152" cy="1234440"/>
          </a:xfrm>
          <a:prstGeom prst="rect">
            <a:avLst/>
          </a:prstGeom>
          <a:solidFill>
            <a:srgbClr val="2D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715768" y="2112264"/>
            <a:ext cx="1161288" cy="310896"/>
          </a:xfrm>
          <a:prstGeom prst="rect">
            <a:avLst/>
          </a:prstGeom>
          <a:noFill/>
        </p:spPr>
        <p:txBody>
          <a:bodyPr wrap="square" lIns="54864" tIns="54864" rIns="54864" bIns="54864" anchor="t">
            <a:spAutoFit/>
          </a:bodyPr>
          <a:lstStyle/>
          <a:p>
            <a:pPr algn="l">
              <a:spcAft>
                <a:spcPts val="0"/>
              </a:spcAft>
            </a:pPr>
            <a:r>
              <a:rPr sz="1300" b="1">
                <a:solidFill>
                  <a:srgbClr val="132645"/>
                </a:solidFill>
                <a:latin typeface="Aptos"/>
              </a:rPr>
              <a:t>Choose inputs
and target</a:t>
            </a:r>
          </a:p>
        </p:txBody>
      </p:sp>
      <p:sp>
        <p:nvSpPr>
          <p:cNvPr id="18" name="TextBox 17"/>
          <p:cNvSpPr txBox="1"/>
          <p:nvPr/>
        </p:nvSpPr>
        <p:spPr>
          <a:xfrm>
            <a:off x="2715768" y="2496312"/>
            <a:ext cx="1161288" cy="612648"/>
          </a:xfrm>
          <a:prstGeom prst="rect">
            <a:avLst/>
          </a:prstGeom>
          <a:noFill/>
        </p:spPr>
        <p:txBody>
          <a:bodyPr wrap="square" lIns="54864" tIns="54864" rIns="54864" bIns="54864" anchor="t">
            <a:spAutoFit/>
          </a:bodyPr>
          <a:lstStyle/>
          <a:p>
            <a:pPr algn="l">
              <a:spcAft>
                <a:spcPts val="0"/>
              </a:spcAft>
            </a:pPr>
            <a:endParaRPr/>
          </a:p>
        </p:txBody>
      </p:sp>
      <p:sp>
        <p:nvSpPr>
          <p:cNvPr id="19" name="Oval 18"/>
          <p:cNvSpPr/>
          <p:nvPr/>
        </p:nvSpPr>
        <p:spPr>
          <a:xfrm>
            <a:off x="2560320" y="1764792"/>
            <a:ext cx="310896" cy="310896"/>
          </a:xfrm>
          <a:prstGeom prst="ellipse">
            <a:avLst/>
          </a:prstGeom>
          <a:solidFill>
            <a:srgbClr val="2D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624328" y="1773936"/>
            <a:ext cx="182880" cy="228600"/>
          </a:xfrm>
          <a:prstGeom prst="rect">
            <a:avLst/>
          </a:prstGeom>
          <a:noFill/>
        </p:spPr>
        <p:txBody>
          <a:bodyPr wrap="square" lIns="54864" tIns="54864" rIns="54864" bIns="54864" anchor="t">
            <a:spAutoFit/>
          </a:bodyPr>
          <a:lstStyle/>
          <a:p>
            <a:pPr algn="ctr">
              <a:spcAft>
                <a:spcPts val="0"/>
              </a:spcAft>
            </a:pPr>
            <a:r>
              <a:rPr sz="1000" b="1">
                <a:solidFill>
                  <a:srgbClr val="FFFFFF"/>
                </a:solidFill>
                <a:latin typeface="Aptos"/>
              </a:rPr>
              <a:t>2</a:t>
            </a:r>
          </a:p>
        </p:txBody>
      </p:sp>
      <p:cxnSp>
        <p:nvCxnSpPr>
          <p:cNvPr id="21" name="Connector 20"/>
          <p:cNvCxnSpPr/>
          <p:nvPr/>
        </p:nvCxnSpPr>
        <p:spPr>
          <a:xfrm>
            <a:off x="4050791" y="2587752"/>
            <a:ext cx="265177" cy="0"/>
          </a:xfrm>
          <a:prstGeom prst="line">
            <a:avLst/>
          </a:prstGeom>
          <a:ln w="16510">
            <a:solidFill>
              <a:srgbClr val="657384"/>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4389120" y="1965960"/>
            <a:ext cx="1508760" cy="1234440"/>
          </a:xfrm>
          <a:prstGeom prst="roundRect">
            <a:avLst/>
          </a:prstGeom>
          <a:solidFill>
            <a:srgbClr val="FFFFFF"/>
          </a:solidFill>
          <a:ln w="12700">
            <a:solidFill>
              <a:srgbClr val="DEE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4389120" y="1965960"/>
            <a:ext cx="73152" cy="1234440"/>
          </a:xfrm>
          <a:prstGeom prst="rect">
            <a:avLst/>
          </a:prstGeom>
          <a:solidFill>
            <a:srgbClr val="1C9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590288" y="2112264"/>
            <a:ext cx="1161288" cy="310896"/>
          </a:xfrm>
          <a:prstGeom prst="rect">
            <a:avLst/>
          </a:prstGeom>
          <a:noFill/>
        </p:spPr>
        <p:txBody>
          <a:bodyPr wrap="square" lIns="54864" tIns="54864" rIns="54864" bIns="54864" anchor="t">
            <a:spAutoFit/>
          </a:bodyPr>
          <a:lstStyle/>
          <a:p>
            <a:pPr algn="l">
              <a:spcAft>
                <a:spcPts val="0"/>
              </a:spcAft>
            </a:pPr>
            <a:r>
              <a:rPr sz="1300" b="1">
                <a:solidFill>
                  <a:srgbClr val="132645"/>
                </a:solidFill>
                <a:latin typeface="Aptos"/>
              </a:rPr>
              <a:t>Select a
model</a:t>
            </a:r>
          </a:p>
        </p:txBody>
      </p:sp>
      <p:sp>
        <p:nvSpPr>
          <p:cNvPr id="25" name="TextBox 24"/>
          <p:cNvSpPr txBox="1"/>
          <p:nvPr/>
        </p:nvSpPr>
        <p:spPr>
          <a:xfrm>
            <a:off x="4590288" y="2496312"/>
            <a:ext cx="1161288" cy="612648"/>
          </a:xfrm>
          <a:prstGeom prst="rect">
            <a:avLst/>
          </a:prstGeom>
          <a:noFill/>
        </p:spPr>
        <p:txBody>
          <a:bodyPr wrap="square" lIns="54864" tIns="54864" rIns="54864" bIns="54864" anchor="t">
            <a:spAutoFit/>
          </a:bodyPr>
          <a:lstStyle/>
          <a:p>
            <a:pPr algn="l">
              <a:spcAft>
                <a:spcPts val="0"/>
              </a:spcAft>
            </a:pPr>
            <a:endParaRPr/>
          </a:p>
        </p:txBody>
      </p:sp>
      <p:sp>
        <p:nvSpPr>
          <p:cNvPr id="26" name="Oval 25"/>
          <p:cNvSpPr/>
          <p:nvPr/>
        </p:nvSpPr>
        <p:spPr>
          <a:xfrm>
            <a:off x="4434840" y="1764792"/>
            <a:ext cx="310896" cy="310896"/>
          </a:xfrm>
          <a:prstGeom prst="ellipse">
            <a:avLst/>
          </a:prstGeom>
          <a:solidFill>
            <a:srgbClr val="1C9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498848" y="1773936"/>
            <a:ext cx="182880" cy="228600"/>
          </a:xfrm>
          <a:prstGeom prst="rect">
            <a:avLst/>
          </a:prstGeom>
          <a:noFill/>
        </p:spPr>
        <p:txBody>
          <a:bodyPr wrap="square" lIns="54864" tIns="54864" rIns="54864" bIns="54864" anchor="t">
            <a:spAutoFit/>
          </a:bodyPr>
          <a:lstStyle/>
          <a:p>
            <a:pPr algn="ctr">
              <a:spcAft>
                <a:spcPts val="0"/>
              </a:spcAft>
            </a:pPr>
            <a:r>
              <a:rPr sz="1000" b="1">
                <a:solidFill>
                  <a:srgbClr val="FFFFFF"/>
                </a:solidFill>
                <a:latin typeface="Aptos"/>
              </a:rPr>
              <a:t>3</a:t>
            </a:r>
          </a:p>
        </p:txBody>
      </p:sp>
      <p:cxnSp>
        <p:nvCxnSpPr>
          <p:cNvPr id="28" name="Connector 27"/>
          <p:cNvCxnSpPr/>
          <p:nvPr/>
        </p:nvCxnSpPr>
        <p:spPr>
          <a:xfrm>
            <a:off x="5925312" y="2587752"/>
            <a:ext cx="265176" cy="0"/>
          </a:xfrm>
          <a:prstGeom prst="line">
            <a:avLst/>
          </a:prstGeom>
          <a:ln w="16510">
            <a:solidFill>
              <a:srgbClr val="657384"/>
            </a:solidFill>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6263640" y="1965960"/>
            <a:ext cx="1508760" cy="1234440"/>
          </a:xfrm>
          <a:prstGeom prst="roundRect">
            <a:avLst/>
          </a:prstGeom>
          <a:solidFill>
            <a:srgbClr val="FFFFFF"/>
          </a:solidFill>
          <a:ln w="12700">
            <a:solidFill>
              <a:srgbClr val="DEE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6263640" y="1965960"/>
            <a:ext cx="73152" cy="1234440"/>
          </a:xfrm>
          <a:prstGeom prst="rect">
            <a:avLst/>
          </a:prstGeom>
          <a:solidFill>
            <a:srgbClr val="1C9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464807" y="2112264"/>
            <a:ext cx="1161288" cy="310896"/>
          </a:xfrm>
          <a:prstGeom prst="rect">
            <a:avLst/>
          </a:prstGeom>
          <a:noFill/>
        </p:spPr>
        <p:txBody>
          <a:bodyPr wrap="square" lIns="54864" tIns="54864" rIns="54864" bIns="54864" anchor="t">
            <a:spAutoFit/>
          </a:bodyPr>
          <a:lstStyle/>
          <a:p>
            <a:pPr algn="l">
              <a:spcAft>
                <a:spcPts val="0"/>
              </a:spcAft>
            </a:pPr>
            <a:r>
              <a:rPr sz="1300" b="1">
                <a:solidFill>
                  <a:srgbClr val="132645"/>
                </a:solidFill>
                <a:latin typeface="Aptos"/>
              </a:rPr>
              <a:t>Make
predictions</a:t>
            </a:r>
          </a:p>
        </p:txBody>
      </p:sp>
      <p:sp>
        <p:nvSpPr>
          <p:cNvPr id="32" name="TextBox 31"/>
          <p:cNvSpPr txBox="1"/>
          <p:nvPr/>
        </p:nvSpPr>
        <p:spPr>
          <a:xfrm>
            <a:off x="6464807" y="2496312"/>
            <a:ext cx="1161288" cy="612648"/>
          </a:xfrm>
          <a:prstGeom prst="rect">
            <a:avLst/>
          </a:prstGeom>
          <a:noFill/>
        </p:spPr>
        <p:txBody>
          <a:bodyPr wrap="square" lIns="54864" tIns="54864" rIns="54864" bIns="54864" anchor="t">
            <a:spAutoFit/>
          </a:bodyPr>
          <a:lstStyle/>
          <a:p>
            <a:pPr algn="l">
              <a:spcAft>
                <a:spcPts val="0"/>
              </a:spcAft>
            </a:pPr>
            <a:endParaRPr/>
          </a:p>
        </p:txBody>
      </p:sp>
      <p:sp>
        <p:nvSpPr>
          <p:cNvPr id="33" name="Oval 32"/>
          <p:cNvSpPr/>
          <p:nvPr/>
        </p:nvSpPr>
        <p:spPr>
          <a:xfrm>
            <a:off x="6309359" y="1764792"/>
            <a:ext cx="310896" cy="310896"/>
          </a:xfrm>
          <a:prstGeom prst="ellipse">
            <a:avLst/>
          </a:prstGeom>
          <a:solidFill>
            <a:srgbClr val="1C9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373368" y="1773936"/>
            <a:ext cx="182880" cy="228600"/>
          </a:xfrm>
          <a:prstGeom prst="rect">
            <a:avLst/>
          </a:prstGeom>
          <a:noFill/>
        </p:spPr>
        <p:txBody>
          <a:bodyPr wrap="square" lIns="54864" tIns="54864" rIns="54864" bIns="54864" anchor="t">
            <a:spAutoFit/>
          </a:bodyPr>
          <a:lstStyle/>
          <a:p>
            <a:pPr algn="ctr">
              <a:spcAft>
                <a:spcPts val="0"/>
              </a:spcAft>
            </a:pPr>
            <a:r>
              <a:rPr sz="1000" b="1">
                <a:solidFill>
                  <a:srgbClr val="FFFFFF"/>
                </a:solidFill>
                <a:latin typeface="Aptos"/>
              </a:rPr>
              <a:t>4</a:t>
            </a:r>
          </a:p>
        </p:txBody>
      </p:sp>
      <p:cxnSp>
        <p:nvCxnSpPr>
          <p:cNvPr id="35" name="Connector 34"/>
          <p:cNvCxnSpPr/>
          <p:nvPr/>
        </p:nvCxnSpPr>
        <p:spPr>
          <a:xfrm>
            <a:off x="7799831" y="2587752"/>
            <a:ext cx="265177" cy="0"/>
          </a:xfrm>
          <a:prstGeom prst="line">
            <a:avLst/>
          </a:prstGeom>
          <a:ln w="16510">
            <a:solidFill>
              <a:srgbClr val="657384"/>
            </a:solidFill>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8138160" y="1965960"/>
            <a:ext cx="1508760" cy="1234440"/>
          </a:xfrm>
          <a:prstGeom prst="roundRect">
            <a:avLst/>
          </a:prstGeom>
          <a:solidFill>
            <a:srgbClr val="FFFFFF"/>
          </a:solidFill>
          <a:ln w="12700">
            <a:solidFill>
              <a:srgbClr val="DEE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8138160" y="1965960"/>
            <a:ext cx="73152" cy="1234440"/>
          </a:xfrm>
          <a:prstGeom prst="rect">
            <a:avLst/>
          </a:prstGeom>
          <a:solidFill>
            <a:srgbClr val="E69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8339328" y="2112264"/>
            <a:ext cx="1161288" cy="310896"/>
          </a:xfrm>
          <a:prstGeom prst="rect">
            <a:avLst/>
          </a:prstGeom>
          <a:noFill/>
        </p:spPr>
        <p:txBody>
          <a:bodyPr wrap="square" lIns="54864" tIns="54864" rIns="54864" bIns="54864" anchor="t">
            <a:spAutoFit/>
          </a:bodyPr>
          <a:lstStyle/>
          <a:p>
            <a:pPr algn="l">
              <a:spcAft>
                <a:spcPts val="0"/>
              </a:spcAft>
            </a:pPr>
            <a:r>
              <a:rPr sz="1300" b="1">
                <a:solidFill>
                  <a:srgbClr val="132645"/>
                </a:solidFill>
                <a:latin typeface="Aptos"/>
              </a:rPr>
              <a:t>Calculate
error</a:t>
            </a:r>
          </a:p>
        </p:txBody>
      </p:sp>
      <p:sp>
        <p:nvSpPr>
          <p:cNvPr id="39" name="TextBox 38"/>
          <p:cNvSpPr txBox="1"/>
          <p:nvPr/>
        </p:nvSpPr>
        <p:spPr>
          <a:xfrm>
            <a:off x="8339328" y="2496312"/>
            <a:ext cx="1161288" cy="612648"/>
          </a:xfrm>
          <a:prstGeom prst="rect">
            <a:avLst/>
          </a:prstGeom>
          <a:noFill/>
        </p:spPr>
        <p:txBody>
          <a:bodyPr wrap="square" lIns="54864" tIns="54864" rIns="54864" bIns="54864" anchor="t">
            <a:spAutoFit/>
          </a:bodyPr>
          <a:lstStyle/>
          <a:p>
            <a:pPr algn="l">
              <a:spcAft>
                <a:spcPts val="0"/>
              </a:spcAft>
            </a:pPr>
            <a:endParaRPr/>
          </a:p>
        </p:txBody>
      </p:sp>
      <p:sp>
        <p:nvSpPr>
          <p:cNvPr id="40" name="Oval 39"/>
          <p:cNvSpPr/>
          <p:nvPr/>
        </p:nvSpPr>
        <p:spPr>
          <a:xfrm>
            <a:off x="8183880" y="1764792"/>
            <a:ext cx="310896" cy="310896"/>
          </a:xfrm>
          <a:prstGeom prst="ellipse">
            <a:avLst/>
          </a:prstGeom>
          <a:solidFill>
            <a:srgbClr val="E69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8247888" y="1773936"/>
            <a:ext cx="182880" cy="228600"/>
          </a:xfrm>
          <a:prstGeom prst="rect">
            <a:avLst/>
          </a:prstGeom>
          <a:noFill/>
        </p:spPr>
        <p:txBody>
          <a:bodyPr wrap="square" lIns="54864" tIns="54864" rIns="54864" bIns="54864" anchor="t">
            <a:spAutoFit/>
          </a:bodyPr>
          <a:lstStyle/>
          <a:p>
            <a:pPr algn="ctr">
              <a:spcAft>
                <a:spcPts val="0"/>
              </a:spcAft>
            </a:pPr>
            <a:r>
              <a:rPr sz="1000" b="1">
                <a:solidFill>
                  <a:srgbClr val="FFFFFF"/>
                </a:solidFill>
                <a:latin typeface="Aptos"/>
              </a:rPr>
              <a:t>5</a:t>
            </a:r>
          </a:p>
        </p:txBody>
      </p:sp>
      <p:cxnSp>
        <p:nvCxnSpPr>
          <p:cNvPr id="42" name="Connector 41"/>
          <p:cNvCxnSpPr/>
          <p:nvPr/>
        </p:nvCxnSpPr>
        <p:spPr>
          <a:xfrm>
            <a:off x="9674352" y="2587752"/>
            <a:ext cx="265176" cy="0"/>
          </a:xfrm>
          <a:prstGeom prst="line">
            <a:avLst/>
          </a:prstGeom>
          <a:ln w="16510">
            <a:solidFill>
              <a:srgbClr val="657384"/>
            </a:solidFill>
          </a:ln>
        </p:spPr>
        <p:style>
          <a:lnRef idx="2">
            <a:schemeClr val="accent1"/>
          </a:lnRef>
          <a:fillRef idx="0">
            <a:schemeClr val="accent1"/>
          </a:fillRef>
          <a:effectRef idx="1">
            <a:schemeClr val="accent1"/>
          </a:effectRef>
          <a:fontRef idx="minor">
            <a:schemeClr val="tx1"/>
          </a:fontRef>
        </p:style>
      </p:cxnSp>
      <p:sp>
        <p:nvSpPr>
          <p:cNvPr id="43" name="Rounded Rectangle 42"/>
          <p:cNvSpPr/>
          <p:nvPr/>
        </p:nvSpPr>
        <p:spPr>
          <a:xfrm>
            <a:off x="10012680" y="1965960"/>
            <a:ext cx="1508760" cy="1234440"/>
          </a:xfrm>
          <a:prstGeom prst="roundRect">
            <a:avLst/>
          </a:prstGeom>
          <a:solidFill>
            <a:srgbClr val="FFFFFF"/>
          </a:solidFill>
          <a:ln w="12700">
            <a:solidFill>
              <a:srgbClr val="DEE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10012680" y="1965960"/>
            <a:ext cx="73152" cy="1234440"/>
          </a:xfrm>
          <a:prstGeom prst="rect">
            <a:avLst/>
          </a:prstGeom>
          <a:solidFill>
            <a:srgbClr val="1C9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10213848" y="2112264"/>
            <a:ext cx="1161288" cy="310896"/>
          </a:xfrm>
          <a:prstGeom prst="rect">
            <a:avLst/>
          </a:prstGeom>
          <a:noFill/>
        </p:spPr>
        <p:txBody>
          <a:bodyPr wrap="square" lIns="54864" tIns="54864" rIns="54864" bIns="54864" anchor="t">
            <a:spAutoFit/>
          </a:bodyPr>
          <a:lstStyle/>
          <a:p>
            <a:pPr algn="l">
              <a:spcAft>
                <a:spcPts val="0"/>
              </a:spcAft>
            </a:pPr>
            <a:r>
              <a:rPr sz="1300" b="1">
                <a:solidFill>
                  <a:srgbClr val="132645"/>
                </a:solidFill>
                <a:latin typeface="Aptos"/>
              </a:rPr>
              <a:t>Adjust
parameters</a:t>
            </a:r>
          </a:p>
        </p:txBody>
      </p:sp>
      <p:sp>
        <p:nvSpPr>
          <p:cNvPr id="46" name="TextBox 45"/>
          <p:cNvSpPr txBox="1"/>
          <p:nvPr/>
        </p:nvSpPr>
        <p:spPr>
          <a:xfrm>
            <a:off x="10213848" y="2496312"/>
            <a:ext cx="1161288" cy="612648"/>
          </a:xfrm>
          <a:prstGeom prst="rect">
            <a:avLst/>
          </a:prstGeom>
          <a:noFill/>
        </p:spPr>
        <p:txBody>
          <a:bodyPr wrap="square" lIns="54864" tIns="54864" rIns="54864" bIns="54864" anchor="t">
            <a:spAutoFit/>
          </a:bodyPr>
          <a:lstStyle/>
          <a:p>
            <a:pPr algn="l">
              <a:spcAft>
                <a:spcPts val="0"/>
              </a:spcAft>
            </a:pPr>
            <a:endParaRPr/>
          </a:p>
        </p:txBody>
      </p:sp>
      <p:sp>
        <p:nvSpPr>
          <p:cNvPr id="47" name="Oval 46"/>
          <p:cNvSpPr/>
          <p:nvPr/>
        </p:nvSpPr>
        <p:spPr>
          <a:xfrm>
            <a:off x="10058400" y="1764792"/>
            <a:ext cx="310896" cy="310896"/>
          </a:xfrm>
          <a:prstGeom prst="ellipse">
            <a:avLst/>
          </a:prstGeom>
          <a:solidFill>
            <a:srgbClr val="1C9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10122407" y="1773936"/>
            <a:ext cx="182880" cy="228600"/>
          </a:xfrm>
          <a:prstGeom prst="rect">
            <a:avLst/>
          </a:prstGeom>
          <a:noFill/>
        </p:spPr>
        <p:txBody>
          <a:bodyPr wrap="square" lIns="54864" tIns="54864" rIns="54864" bIns="54864" anchor="t">
            <a:spAutoFit/>
          </a:bodyPr>
          <a:lstStyle/>
          <a:p>
            <a:pPr algn="ctr">
              <a:spcAft>
                <a:spcPts val="0"/>
              </a:spcAft>
            </a:pPr>
            <a:r>
              <a:rPr sz="1000" b="1">
                <a:solidFill>
                  <a:srgbClr val="FFFFFF"/>
                </a:solidFill>
                <a:latin typeface="Aptos"/>
              </a:rPr>
              <a:t>6</a:t>
            </a:r>
          </a:p>
        </p:txBody>
      </p:sp>
      <p:sp>
        <p:nvSpPr>
          <p:cNvPr id="49" name="TextBox 48"/>
          <p:cNvSpPr txBox="1"/>
          <p:nvPr/>
        </p:nvSpPr>
        <p:spPr>
          <a:xfrm>
            <a:off x="914400" y="3794760"/>
            <a:ext cx="10149840" cy="457200"/>
          </a:xfrm>
          <a:prstGeom prst="rect">
            <a:avLst/>
          </a:prstGeom>
          <a:noFill/>
        </p:spPr>
        <p:txBody>
          <a:bodyPr wrap="square" lIns="54864" tIns="54864" rIns="54864" bIns="54864" anchor="t">
            <a:spAutoFit/>
          </a:bodyPr>
          <a:lstStyle/>
          <a:p>
            <a:pPr algn="ctr">
              <a:spcAft>
                <a:spcPts val="0"/>
              </a:spcAft>
            </a:pPr>
            <a:r>
              <a:rPr sz="1800" b="1">
                <a:solidFill>
                  <a:srgbClr val="132645"/>
                </a:solidFill>
                <a:latin typeface="Aptos"/>
              </a:rPr>
              <a:t>Training loop: predict → compare with actual values → update weights → repeat</a:t>
            </a:r>
          </a:p>
        </p:txBody>
      </p:sp>
      <p:sp>
        <p:nvSpPr>
          <p:cNvPr id="50" name="Rounded Rectangle 49"/>
          <p:cNvSpPr/>
          <p:nvPr/>
        </p:nvSpPr>
        <p:spPr>
          <a:xfrm>
            <a:off x="1828800" y="4709160"/>
            <a:ext cx="3657600" cy="960120"/>
          </a:xfrm>
          <a:prstGeom prst="roundRect">
            <a:avLst/>
          </a:prstGeom>
          <a:solidFill>
            <a:srgbClr val="E6EFFB"/>
          </a:solidFill>
          <a:ln w="12700">
            <a:solidFill>
              <a:srgbClr val="DEE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ectangle 50"/>
          <p:cNvSpPr/>
          <p:nvPr/>
        </p:nvSpPr>
        <p:spPr>
          <a:xfrm>
            <a:off x="1828800" y="4709160"/>
            <a:ext cx="73152" cy="960120"/>
          </a:xfrm>
          <a:prstGeom prst="rect">
            <a:avLst/>
          </a:prstGeom>
          <a:solidFill>
            <a:srgbClr val="2D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2029968" y="4855464"/>
            <a:ext cx="3310128" cy="310896"/>
          </a:xfrm>
          <a:prstGeom prst="rect">
            <a:avLst/>
          </a:prstGeom>
          <a:noFill/>
        </p:spPr>
        <p:txBody>
          <a:bodyPr wrap="square" lIns="54864" tIns="54864" rIns="54864" bIns="54864" anchor="t">
            <a:spAutoFit/>
          </a:bodyPr>
          <a:lstStyle/>
          <a:p>
            <a:pPr algn="l">
              <a:spcAft>
                <a:spcPts val="0"/>
              </a:spcAft>
            </a:pPr>
            <a:r>
              <a:rPr sz="1500" b="1">
                <a:solidFill>
                  <a:srgbClr val="132645"/>
                </a:solidFill>
                <a:latin typeface="Aptos"/>
              </a:rPr>
              <a:t>During training</a:t>
            </a:r>
          </a:p>
        </p:txBody>
      </p:sp>
      <p:sp>
        <p:nvSpPr>
          <p:cNvPr id="53" name="TextBox 52"/>
          <p:cNvSpPr txBox="1"/>
          <p:nvPr/>
        </p:nvSpPr>
        <p:spPr>
          <a:xfrm>
            <a:off x="2029968" y="5239512"/>
            <a:ext cx="3310128" cy="338328"/>
          </a:xfrm>
          <a:prstGeom prst="rect">
            <a:avLst/>
          </a:prstGeom>
          <a:noFill/>
        </p:spPr>
        <p:txBody>
          <a:bodyPr wrap="square" lIns="54864" tIns="54864" rIns="54864" bIns="54864" anchor="t">
            <a:spAutoFit/>
          </a:bodyPr>
          <a:lstStyle/>
          <a:p>
            <a:pPr algn="l">
              <a:spcAft>
                <a:spcPts val="0"/>
              </a:spcAft>
            </a:pPr>
            <a:r>
              <a:rPr sz="1200" b="0">
                <a:solidFill>
                  <a:srgbClr val="273343"/>
                </a:solidFill>
                <a:latin typeface="Aptos"/>
              </a:rPr>
              <a:t>Parameters are adjusted using training data.</a:t>
            </a:r>
          </a:p>
        </p:txBody>
      </p:sp>
      <p:sp>
        <p:nvSpPr>
          <p:cNvPr id="54" name="Rounded Rectangle 53"/>
          <p:cNvSpPr/>
          <p:nvPr/>
        </p:nvSpPr>
        <p:spPr>
          <a:xfrm>
            <a:off x="6400800" y="4709160"/>
            <a:ext cx="3657600" cy="960120"/>
          </a:xfrm>
          <a:prstGeom prst="roundRect">
            <a:avLst/>
          </a:prstGeom>
          <a:solidFill>
            <a:srgbClr val="E2F5F1"/>
          </a:solidFill>
          <a:ln w="12700">
            <a:solidFill>
              <a:srgbClr val="DEE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6400800" y="4709160"/>
            <a:ext cx="73152" cy="960120"/>
          </a:xfrm>
          <a:prstGeom prst="rect">
            <a:avLst/>
          </a:prstGeom>
          <a:solidFill>
            <a:srgbClr val="1C9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6601968" y="4855464"/>
            <a:ext cx="3310128" cy="310896"/>
          </a:xfrm>
          <a:prstGeom prst="rect">
            <a:avLst/>
          </a:prstGeom>
          <a:noFill/>
        </p:spPr>
        <p:txBody>
          <a:bodyPr wrap="square" lIns="54864" tIns="54864" rIns="54864" bIns="54864" anchor="t">
            <a:spAutoFit/>
          </a:bodyPr>
          <a:lstStyle/>
          <a:p>
            <a:pPr algn="l">
              <a:spcAft>
                <a:spcPts val="0"/>
              </a:spcAft>
            </a:pPr>
            <a:r>
              <a:rPr sz="1500" b="1">
                <a:solidFill>
                  <a:srgbClr val="132645"/>
                </a:solidFill>
                <a:latin typeface="Aptos"/>
              </a:rPr>
              <a:t>During prediction</a:t>
            </a:r>
          </a:p>
        </p:txBody>
      </p:sp>
      <p:sp>
        <p:nvSpPr>
          <p:cNvPr id="57" name="TextBox 56"/>
          <p:cNvSpPr txBox="1"/>
          <p:nvPr/>
        </p:nvSpPr>
        <p:spPr>
          <a:xfrm>
            <a:off x="6601968" y="5239512"/>
            <a:ext cx="3310128" cy="338328"/>
          </a:xfrm>
          <a:prstGeom prst="rect">
            <a:avLst/>
          </a:prstGeom>
          <a:noFill/>
        </p:spPr>
        <p:txBody>
          <a:bodyPr wrap="square" lIns="54864" tIns="54864" rIns="54864" bIns="54864" anchor="t">
            <a:spAutoFit/>
          </a:bodyPr>
          <a:lstStyle/>
          <a:p>
            <a:pPr algn="l">
              <a:spcAft>
                <a:spcPts val="0"/>
              </a:spcAft>
            </a:pPr>
            <a:r>
              <a:rPr sz="1200" b="0">
                <a:solidFill>
                  <a:srgbClr val="273343"/>
                </a:solidFill>
                <a:latin typeface="Aptos"/>
              </a:rPr>
              <a:t>A trained model applies learned parameters to new inputs.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256032"/>
            <a:ext cx="10972800" cy="502920"/>
          </a:xfrm>
          <a:prstGeom prst="rect">
            <a:avLst/>
          </a:prstGeom>
          <a:noFill/>
        </p:spPr>
        <p:txBody>
          <a:bodyPr wrap="square" lIns="54864" tIns="54864" rIns="54864" bIns="54864" anchor="t">
            <a:spAutoFit/>
          </a:bodyPr>
          <a:lstStyle/>
          <a:p>
            <a:pPr algn="l">
              <a:spcAft>
                <a:spcPts val="0"/>
              </a:spcAft>
            </a:pPr>
            <a:r>
              <a:rPr sz="2700" b="1">
                <a:solidFill>
                  <a:srgbClr val="132645"/>
                </a:solidFill>
                <a:latin typeface="Aptos"/>
              </a:rPr>
              <a:t>Understanding Our Student-Marks Dataset</a:t>
            </a:r>
          </a:p>
        </p:txBody>
      </p:sp>
      <p:sp>
        <p:nvSpPr>
          <p:cNvPr id="4" name="Rectangle 3"/>
          <p:cNvSpPr/>
          <p:nvPr/>
        </p:nvSpPr>
        <p:spPr>
          <a:xfrm>
            <a:off x="585216" y="832104"/>
            <a:ext cx="731520" cy="50292"/>
          </a:xfrm>
          <a:prstGeom prst="rect">
            <a:avLst/>
          </a:prstGeom>
          <a:solidFill>
            <a:srgbClr val="1C9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464040" y="292608"/>
            <a:ext cx="2103120" cy="274320"/>
          </a:xfrm>
          <a:prstGeom prst="rect">
            <a:avLst/>
          </a:prstGeom>
          <a:noFill/>
        </p:spPr>
        <p:txBody>
          <a:bodyPr wrap="square" lIns="54864" tIns="54864" rIns="54864" bIns="54864" anchor="t">
            <a:spAutoFit/>
          </a:bodyPr>
          <a:lstStyle/>
          <a:p>
            <a:pPr algn="r">
              <a:spcAft>
                <a:spcPts val="0"/>
              </a:spcAft>
            </a:pPr>
            <a:r>
              <a:rPr sz="900" b="1">
                <a:solidFill>
                  <a:srgbClr val="657384"/>
                </a:solidFill>
                <a:latin typeface="Aptos"/>
              </a:rPr>
              <a:t>RUNNING EXAMPLE</a:t>
            </a:r>
          </a:p>
        </p:txBody>
      </p:sp>
      <p:sp>
        <p:nvSpPr>
          <p:cNvPr id="6" name="TextBox 5"/>
          <p:cNvSpPr txBox="1"/>
          <p:nvPr/>
        </p:nvSpPr>
        <p:spPr>
          <a:xfrm>
            <a:off x="594360" y="6510528"/>
            <a:ext cx="8961120" cy="164592"/>
          </a:xfrm>
          <a:prstGeom prst="rect">
            <a:avLst/>
          </a:prstGeom>
          <a:noFill/>
        </p:spPr>
        <p:txBody>
          <a:bodyPr wrap="square" lIns="54864" tIns="54864" rIns="54864" bIns="54864" anchor="t">
            <a:spAutoFit/>
          </a:bodyPr>
          <a:lstStyle/>
          <a:p>
            <a:pPr algn="l">
              <a:spcAft>
                <a:spcPts val="0"/>
              </a:spcAft>
            </a:pPr>
            <a:r>
              <a:rPr sz="800" b="0">
                <a:solidFill>
                  <a:srgbClr val="657384"/>
                </a:solidFill>
                <a:latin typeface="Aptos"/>
              </a:rPr>
              <a:t>UNDERSTANDING MACHINE LEARNING  •  TECHNICAL SEMINAR</a:t>
            </a:r>
          </a:p>
        </p:txBody>
      </p:sp>
      <p:sp>
        <p:nvSpPr>
          <p:cNvPr id="7" name="TextBox 6"/>
          <p:cNvSpPr txBox="1"/>
          <p:nvPr/>
        </p:nvSpPr>
        <p:spPr>
          <a:xfrm>
            <a:off x="11064240" y="6473952"/>
            <a:ext cx="502920" cy="201168"/>
          </a:xfrm>
          <a:prstGeom prst="rect">
            <a:avLst/>
          </a:prstGeom>
          <a:noFill/>
        </p:spPr>
        <p:txBody>
          <a:bodyPr wrap="square" lIns="54864" tIns="54864" rIns="54864" bIns="54864" anchor="t">
            <a:spAutoFit/>
          </a:bodyPr>
          <a:lstStyle/>
          <a:p>
            <a:pPr algn="r">
              <a:spcAft>
                <a:spcPts val="0"/>
              </a:spcAft>
            </a:pPr>
            <a:r>
              <a:rPr sz="900" b="1">
                <a:solidFill>
                  <a:srgbClr val="657384"/>
                </a:solidFill>
                <a:latin typeface="Aptos"/>
              </a:rPr>
              <a:t>03</a:t>
            </a:r>
          </a:p>
        </p:txBody>
      </p:sp>
      <p:sp>
        <p:nvSpPr>
          <p:cNvPr id="8" name="TextBox 7"/>
          <p:cNvSpPr txBox="1"/>
          <p:nvPr/>
        </p:nvSpPr>
        <p:spPr>
          <a:xfrm>
            <a:off x="685800" y="1143000"/>
            <a:ext cx="10698480" cy="347472"/>
          </a:xfrm>
          <a:prstGeom prst="rect">
            <a:avLst/>
          </a:prstGeom>
          <a:noFill/>
        </p:spPr>
        <p:txBody>
          <a:bodyPr wrap="square" lIns="54864" tIns="54864" rIns="54864" bIns="54864" anchor="t">
            <a:spAutoFit/>
          </a:bodyPr>
          <a:lstStyle/>
          <a:p>
            <a:pPr algn="l">
              <a:spcAft>
                <a:spcPts val="0"/>
              </a:spcAft>
            </a:pPr>
            <a:r>
              <a:rPr sz="1600" b="1">
                <a:solidFill>
                  <a:srgbClr val="132645"/>
                </a:solidFill>
                <a:latin typeface="Aptos"/>
              </a:rPr>
              <a:t>Goal: predict a student's final examination score from available information.</a:t>
            </a:r>
          </a:p>
        </p:txBody>
      </p:sp>
      <p:graphicFrame>
        <p:nvGraphicFramePr>
          <p:cNvPr id="9" name="Table 8"/>
          <p:cNvGraphicFramePr>
            <a:graphicFrameLocks noGrp="1"/>
          </p:cNvGraphicFramePr>
          <p:nvPr/>
        </p:nvGraphicFramePr>
        <p:xfrm>
          <a:off x="685800" y="1828800"/>
          <a:ext cx="10835640" cy="2423160"/>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gridCol w="3108960">
                  <a:extLst>
                    <a:ext uri="{9D8B030D-6E8A-4147-A177-3AD203B41FA5}">
                      <a16:colId xmlns:a16="http://schemas.microsoft.com/office/drawing/2014/main" val="20004"/>
                    </a:ext>
                  </a:extLst>
                </a:gridCol>
              </a:tblGrid>
              <a:tr h="403860">
                <a:tc>
                  <a:txBody>
                    <a:bodyPr/>
                    <a:lstStyle/>
                    <a:p>
                      <a:pPr algn="ctr"/>
                      <a:r>
                        <a:rPr sz="1000" b="1">
                          <a:solidFill>
                            <a:srgbClr val="FFFFFF"/>
                          </a:solidFill>
                          <a:latin typeface="Aptos"/>
                        </a:rPr>
                        <a:t>Attendance</a:t>
                      </a:r>
                    </a:p>
                  </a:txBody>
                  <a:tcPr marL="73152" marR="36576">
                    <a:solidFill>
                      <a:srgbClr val="132645"/>
                    </a:solidFill>
                  </a:tcPr>
                </a:tc>
                <a:tc>
                  <a:txBody>
                    <a:bodyPr/>
                    <a:lstStyle/>
                    <a:p>
                      <a:pPr algn="ctr"/>
                      <a:r>
                        <a:rPr sz="1000" b="1">
                          <a:solidFill>
                            <a:srgbClr val="FFFFFF"/>
                          </a:solidFill>
                          <a:latin typeface="Aptos"/>
                        </a:rPr>
                        <a:t>Study hours</a:t>
                      </a:r>
                    </a:p>
                  </a:txBody>
                  <a:tcPr marL="73152" marR="36576">
                    <a:solidFill>
                      <a:srgbClr val="132645"/>
                    </a:solidFill>
                  </a:tcPr>
                </a:tc>
                <a:tc>
                  <a:txBody>
                    <a:bodyPr/>
                    <a:lstStyle/>
                    <a:p>
                      <a:pPr algn="ctr"/>
                      <a:r>
                        <a:rPr sz="1000" b="1">
                          <a:solidFill>
                            <a:srgbClr val="FFFFFF"/>
                          </a:solidFill>
                          <a:latin typeface="Aptos"/>
                        </a:rPr>
                        <a:t>Internal marks</a:t>
                      </a:r>
                    </a:p>
                  </a:txBody>
                  <a:tcPr marL="73152" marR="36576">
                    <a:solidFill>
                      <a:srgbClr val="132645"/>
                    </a:solidFill>
                  </a:tcPr>
                </a:tc>
                <a:tc>
                  <a:txBody>
                    <a:bodyPr/>
                    <a:lstStyle/>
                    <a:p>
                      <a:pPr algn="ctr"/>
                      <a:r>
                        <a:rPr sz="1000" b="1">
                          <a:solidFill>
                            <a:srgbClr val="FFFFFF"/>
                          </a:solidFill>
                          <a:latin typeface="Aptos"/>
                        </a:rPr>
                        <a:t>Assignments</a:t>
                      </a:r>
                    </a:p>
                  </a:txBody>
                  <a:tcPr marL="73152" marR="36576">
                    <a:solidFill>
                      <a:srgbClr val="132645"/>
                    </a:solidFill>
                  </a:tcPr>
                </a:tc>
                <a:tc>
                  <a:txBody>
                    <a:bodyPr/>
                    <a:lstStyle/>
                    <a:p>
                      <a:pPr algn="ctr"/>
                      <a:r>
                        <a:rPr sz="1000" b="1">
                          <a:solidFill>
                            <a:srgbClr val="FFFFFF"/>
                          </a:solidFill>
                          <a:latin typeface="Aptos"/>
                        </a:rPr>
                        <a:t>Actual final score</a:t>
                      </a:r>
                    </a:p>
                  </a:txBody>
                  <a:tcPr marL="73152" marR="36576">
                    <a:solidFill>
                      <a:srgbClr val="132645"/>
                    </a:solidFill>
                  </a:tcPr>
                </a:tc>
                <a:extLst>
                  <a:ext uri="{0D108BD9-81ED-4DB2-BD59-A6C34878D82A}">
                    <a16:rowId xmlns:a16="http://schemas.microsoft.com/office/drawing/2014/main" val="10000"/>
                  </a:ext>
                </a:extLst>
              </a:tr>
              <a:tr h="403860">
                <a:tc>
                  <a:txBody>
                    <a:bodyPr/>
                    <a:lstStyle/>
                    <a:p>
                      <a:pPr algn="ctr"/>
                      <a:r>
                        <a:rPr sz="1100" b="0">
                          <a:solidFill>
                            <a:srgbClr val="273343"/>
                          </a:solidFill>
                          <a:latin typeface="Aptos"/>
                        </a:rPr>
                        <a:t>90%</a:t>
                      </a:r>
                    </a:p>
                  </a:txBody>
                  <a:tcPr marL="73152" marR="36576">
                    <a:solidFill>
                      <a:srgbClr val="E6EFFB"/>
                    </a:solidFill>
                  </a:tcPr>
                </a:tc>
                <a:tc>
                  <a:txBody>
                    <a:bodyPr/>
                    <a:lstStyle/>
                    <a:p>
                      <a:pPr algn="ctr"/>
                      <a:r>
                        <a:rPr sz="1100" b="0">
                          <a:solidFill>
                            <a:srgbClr val="273343"/>
                          </a:solidFill>
                          <a:latin typeface="Aptos"/>
                        </a:rPr>
                        <a:t>2</a:t>
                      </a:r>
                    </a:p>
                  </a:txBody>
                  <a:tcPr marL="73152" marR="36576">
                    <a:solidFill>
                      <a:srgbClr val="E6EFFB"/>
                    </a:solidFill>
                  </a:tcPr>
                </a:tc>
                <a:tc>
                  <a:txBody>
                    <a:bodyPr/>
                    <a:lstStyle/>
                    <a:p>
                      <a:pPr algn="ctr"/>
                      <a:r>
                        <a:rPr sz="1100" b="0">
                          <a:solidFill>
                            <a:srgbClr val="273343"/>
                          </a:solidFill>
                          <a:latin typeface="Aptos"/>
                        </a:rPr>
                        <a:t>72</a:t>
                      </a:r>
                    </a:p>
                  </a:txBody>
                  <a:tcPr marL="73152" marR="36576">
                    <a:solidFill>
                      <a:srgbClr val="E6EFFB"/>
                    </a:solidFill>
                  </a:tcPr>
                </a:tc>
                <a:tc>
                  <a:txBody>
                    <a:bodyPr/>
                    <a:lstStyle/>
                    <a:p>
                      <a:pPr algn="ctr"/>
                      <a:r>
                        <a:rPr sz="1100" b="0">
                          <a:solidFill>
                            <a:srgbClr val="273343"/>
                          </a:solidFill>
                          <a:latin typeface="Aptos"/>
                        </a:rPr>
                        <a:t>8</a:t>
                      </a:r>
                    </a:p>
                  </a:txBody>
                  <a:tcPr marL="73152" marR="36576">
                    <a:solidFill>
                      <a:srgbClr val="E6EFFB"/>
                    </a:solidFill>
                  </a:tcPr>
                </a:tc>
                <a:tc>
                  <a:txBody>
                    <a:bodyPr/>
                    <a:lstStyle/>
                    <a:p>
                      <a:pPr algn="ctr"/>
                      <a:r>
                        <a:rPr sz="1100" b="0">
                          <a:solidFill>
                            <a:srgbClr val="273343"/>
                          </a:solidFill>
                          <a:latin typeface="Aptos"/>
                        </a:rPr>
                        <a:t>18</a:t>
                      </a:r>
                    </a:p>
                  </a:txBody>
                  <a:tcPr marL="73152" marR="36576">
                    <a:solidFill>
                      <a:srgbClr val="E2F5F1"/>
                    </a:solidFill>
                  </a:tcPr>
                </a:tc>
                <a:extLst>
                  <a:ext uri="{0D108BD9-81ED-4DB2-BD59-A6C34878D82A}">
                    <a16:rowId xmlns:a16="http://schemas.microsoft.com/office/drawing/2014/main" val="10001"/>
                  </a:ext>
                </a:extLst>
              </a:tr>
              <a:tr h="403860">
                <a:tc>
                  <a:txBody>
                    <a:bodyPr/>
                    <a:lstStyle/>
                    <a:p>
                      <a:pPr algn="ctr"/>
                      <a:r>
                        <a:rPr sz="1100" b="0">
                          <a:solidFill>
                            <a:srgbClr val="273343"/>
                          </a:solidFill>
                          <a:latin typeface="Aptos"/>
                        </a:rPr>
                        <a:t>80%</a:t>
                      </a:r>
                    </a:p>
                  </a:txBody>
                  <a:tcPr marL="73152" marR="36576">
                    <a:solidFill>
                      <a:srgbClr val="E6EFFB"/>
                    </a:solidFill>
                  </a:tcPr>
                </a:tc>
                <a:tc>
                  <a:txBody>
                    <a:bodyPr/>
                    <a:lstStyle/>
                    <a:p>
                      <a:pPr algn="ctr"/>
                      <a:r>
                        <a:rPr sz="1100" b="0">
                          <a:solidFill>
                            <a:srgbClr val="273343"/>
                          </a:solidFill>
                          <a:latin typeface="Aptos"/>
                        </a:rPr>
                        <a:t>4</a:t>
                      </a:r>
                    </a:p>
                  </a:txBody>
                  <a:tcPr marL="73152" marR="36576">
                    <a:solidFill>
                      <a:srgbClr val="E6EFFB"/>
                    </a:solidFill>
                  </a:tcPr>
                </a:tc>
                <a:tc>
                  <a:txBody>
                    <a:bodyPr/>
                    <a:lstStyle/>
                    <a:p>
                      <a:pPr algn="ctr"/>
                      <a:r>
                        <a:rPr sz="1100" b="0">
                          <a:solidFill>
                            <a:srgbClr val="273343"/>
                          </a:solidFill>
                          <a:latin typeface="Aptos"/>
                        </a:rPr>
                        <a:t>75</a:t>
                      </a:r>
                    </a:p>
                  </a:txBody>
                  <a:tcPr marL="73152" marR="36576">
                    <a:solidFill>
                      <a:srgbClr val="E6EFFB"/>
                    </a:solidFill>
                  </a:tcPr>
                </a:tc>
                <a:tc>
                  <a:txBody>
                    <a:bodyPr/>
                    <a:lstStyle/>
                    <a:p>
                      <a:pPr algn="ctr"/>
                      <a:r>
                        <a:rPr sz="1100" b="0">
                          <a:solidFill>
                            <a:srgbClr val="273343"/>
                          </a:solidFill>
                          <a:latin typeface="Aptos"/>
                        </a:rPr>
                        <a:t>9</a:t>
                      </a:r>
                    </a:p>
                  </a:txBody>
                  <a:tcPr marL="73152" marR="36576">
                    <a:solidFill>
                      <a:srgbClr val="E6EFFB"/>
                    </a:solidFill>
                  </a:tcPr>
                </a:tc>
                <a:tc>
                  <a:txBody>
                    <a:bodyPr/>
                    <a:lstStyle/>
                    <a:p>
                      <a:pPr algn="ctr"/>
                      <a:r>
                        <a:rPr sz="1100" b="0">
                          <a:solidFill>
                            <a:srgbClr val="273343"/>
                          </a:solidFill>
                          <a:latin typeface="Aptos"/>
                        </a:rPr>
                        <a:t>25</a:t>
                      </a:r>
                    </a:p>
                  </a:txBody>
                  <a:tcPr marL="73152" marR="36576">
                    <a:solidFill>
                      <a:srgbClr val="E2F5F1"/>
                    </a:solidFill>
                  </a:tcPr>
                </a:tc>
                <a:extLst>
                  <a:ext uri="{0D108BD9-81ED-4DB2-BD59-A6C34878D82A}">
                    <a16:rowId xmlns:a16="http://schemas.microsoft.com/office/drawing/2014/main" val="10002"/>
                  </a:ext>
                </a:extLst>
              </a:tr>
              <a:tr h="403860">
                <a:tc>
                  <a:txBody>
                    <a:bodyPr/>
                    <a:lstStyle/>
                    <a:p>
                      <a:pPr algn="ctr"/>
                      <a:r>
                        <a:rPr sz="1100" b="0">
                          <a:solidFill>
                            <a:srgbClr val="273343"/>
                          </a:solidFill>
                          <a:latin typeface="Aptos"/>
                        </a:rPr>
                        <a:t>95%</a:t>
                      </a:r>
                    </a:p>
                  </a:txBody>
                  <a:tcPr marL="73152" marR="36576">
                    <a:solidFill>
                      <a:srgbClr val="E6EFFB"/>
                    </a:solidFill>
                  </a:tcPr>
                </a:tc>
                <a:tc>
                  <a:txBody>
                    <a:bodyPr/>
                    <a:lstStyle/>
                    <a:p>
                      <a:pPr algn="ctr"/>
                      <a:r>
                        <a:rPr sz="1100" b="0">
                          <a:solidFill>
                            <a:srgbClr val="273343"/>
                          </a:solidFill>
                          <a:latin typeface="Aptos"/>
                        </a:rPr>
                        <a:t>5</a:t>
                      </a:r>
                    </a:p>
                  </a:txBody>
                  <a:tcPr marL="73152" marR="36576">
                    <a:solidFill>
                      <a:srgbClr val="E6EFFB"/>
                    </a:solidFill>
                  </a:tcPr>
                </a:tc>
                <a:tc>
                  <a:txBody>
                    <a:bodyPr/>
                    <a:lstStyle/>
                    <a:p>
                      <a:pPr algn="ctr"/>
                      <a:r>
                        <a:rPr sz="1100" b="0">
                          <a:solidFill>
                            <a:srgbClr val="273343"/>
                          </a:solidFill>
                          <a:latin typeface="Aptos"/>
                        </a:rPr>
                        <a:t>88</a:t>
                      </a:r>
                    </a:p>
                  </a:txBody>
                  <a:tcPr marL="73152" marR="36576">
                    <a:solidFill>
                      <a:srgbClr val="E6EFFB"/>
                    </a:solidFill>
                  </a:tcPr>
                </a:tc>
                <a:tc>
                  <a:txBody>
                    <a:bodyPr/>
                    <a:lstStyle/>
                    <a:p>
                      <a:pPr algn="ctr"/>
                      <a:r>
                        <a:rPr sz="1100" b="0">
                          <a:solidFill>
                            <a:srgbClr val="273343"/>
                          </a:solidFill>
                          <a:latin typeface="Aptos"/>
                        </a:rPr>
                        <a:t>10</a:t>
                      </a:r>
                    </a:p>
                  </a:txBody>
                  <a:tcPr marL="73152" marR="36576">
                    <a:solidFill>
                      <a:srgbClr val="E6EFFB"/>
                    </a:solidFill>
                  </a:tcPr>
                </a:tc>
                <a:tc>
                  <a:txBody>
                    <a:bodyPr/>
                    <a:lstStyle/>
                    <a:p>
                      <a:pPr algn="ctr"/>
                      <a:r>
                        <a:rPr sz="1100" b="0">
                          <a:solidFill>
                            <a:srgbClr val="273343"/>
                          </a:solidFill>
                          <a:latin typeface="Aptos"/>
                        </a:rPr>
                        <a:t>31</a:t>
                      </a:r>
                    </a:p>
                  </a:txBody>
                  <a:tcPr marL="73152" marR="36576">
                    <a:solidFill>
                      <a:srgbClr val="E2F5F1"/>
                    </a:solidFill>
                  </a:tcPr>
                </a:tc>
                <a:extLst>
                  <a:ext uri="{0D108BD9-81ED-4DB2-BD59-A6C34878D82A}">
                    <a16:rowId xmlns:a16="http://schemas.microsoft.com/office/drawing/2014/main" val="10003"/>
                  </a:ext>
                </a:extLst>
              </a:tr>
              <a:tr h="403860">
                <a:tc>
                  <a:txBody>
                    <a:bodyPr/>
                    <a:lstStyle/>
                    <a:p>
                      <a:pPr algn="ctr"/>
                      <a:r>
                        <a:rPr sz="1100" b="0">
                          <a:solidFill>
                            <a:srgbClr val="273343"/>
                          </a:solidFill>
                          <a:latin typeface="Aptos"/>
                        </a:rPr>
                        <a:t>70%</a:t>
                      </a:r>
                    </a:p>
                  </a:txBody>
                  <a:tcPr marL="73152" marR="36576">
                    <a:solidFill>
                      <a:srgbClr val="E6EFFB"/>
                    </a:solidFill>
                  </a:tcPr>
                </a:tc>
                <a:tc>
                  <a:txBody>
                    <a:bodyPr/>
                    <a:lstStyle/>
                    <a:p>
                      <a:pPr algn="ctr"/>
                      <a:r>
                        <a:rPr sz="1100" b="0">
                          <a:solidFill>
                            <a:srgbClr val="273343"/>
                          </a:solidFill>
                          <a:latin typeface="Aptos"/>
                        </a:rPr>
                        <a:t>3</a:t>
                      </a:r>
                    </a:p>
                  </a:txBody>
                  <a:tcPr marL="73152" marR="36576">
                    <a:solidFill>
                      <a:srgbClr val="E6EFFB"/>
                    </a:solidFill>
                  </a:tcPr>
                </a:tc>
                <a:tc>
                  <a:txBody>
                    <a:bodyPr/>
                    <a:lstStyle/>
                    <a:p>
                      <a:pPr algn="ctr"/>
                      <a:r>
                        <a:rPr sz="1100" b="0">
                          <a:solidFill>
                            <a:srgbClr val="273343"/>
                          </a:solidFill>
                          <a:latin typeface="Aptos"/>
                        </a:rPr>
                        <a:t>61</a:t>
                      </a:r>
                    </a:p>
                  </a:txBody>
                  <a:tcPr marL="73152" marR="36576">
                    <a:solidFill>
                      <a:srgbClr val="E6EFFB"/>
                    </a:solidFill>
                  </a:tcPr>
                </a:tc>
                <a:tc>
                  <a:txBody>
                    <a:bodyPr/>
                    <a:lstStyle/>
                    <a:p>
                      <a:pPr algn="ctr"/>
                      <a:r>
                        <a:rPr sz="1100" b="0">
                          <a:solidFill>
                            <a:srgbClr val="273343"/>
                          </a:solidFill>
                          <a:latin typeface="Aptos"/>
                        </a:rPr>
                        <a:t>6</a:t>
                      </a:r>
                    </a:p>
                  </a:txBody>
                  <a:tcPr marL="73152" marR="36576">
                    <a:solidFill>
                      <a:srgbClr val="E6EFFB"/>
                    </a:solidFill>
                  </a:tcPr>
                </a:tc>
                <a:tc>
                  <a:txBody>
                    <a:bodyPr/>
                    <a:lstStyle/>
                    <a:p>
                      <a:pPr algn="ctr"/>
                      <a:r>
                        <a:rPr sz="1100" b="0">
                          <a:solidFill>
                            <a:srgbClr val="273343"/>
                          </a:solidFill>
                          <a:latin typeface="Aptos"/>
                        </a:rPr>
                        <a:t>21</a:t>
                      </a:r>
                    </a:p>
                  </a:txBody>
                  <a:tcPr marL="73152" marR="36576">
                    <a:solidFill>
                      <a:srgbClr val="E2F5F1"/>
                    </a:solidFill>
                  </a:tcPr>
                </a:tc>
                <a:extLst>
                  <a:ext uri="{0D108BD9-81ED-4DB2-BD59-A6C34878D82A}">
                    <a16:rowId xmlns:a16="http://schemas.microsoft.com/office/drawing/2014/main" val="10004"/>
                  </a:ext>
                </a:extLst>
              </a:tr>
              <a:tr h="403860">
                <a:tc>
                  <a:txBody>
                    <a:bodyPr/>
                    <a:lstStyle/>
                    <a:p>
                      <a:pPr algn="ctr"/>
                      <a:r>
                        <a:rPr sz="1100" b="0">
                          <a:solidFill>
                            <a:srgbClr val="273343"/>
                          </a:solidFill>
                          <a:latin typeface="Aptos"/>
                        </a:rPr>
                        <a:t>85%</a:t>
                      </a:r>
                    </a:p>
                  </a:txBody>
                  <a:tcPr marL="73152" marR="36576">
                    <a:solidFill>
                      <a:srgbClr val="E6EFFB"/>
                    </a:solidFill>
                  </a:tcPr>
                </a:tc>
                <a:tc>
                  <a:txBody>
                    <a:bodyPr/>
                    <a:lstStyle/>
                    <a:p>
                      <a:pPr algn="ctr"/>
                      <a:r>
                        <a:rPr sz="1100" b="0">
                          <a:solidFill>
                            <a:srgbClr val="273343"/>
                          </a:solidFill>
                          <a:latin typeface="Aptos"/>
                        </a:rPr>
                        <a:t>6</a:t>
                      </a:r>
                    </a:p>
                  </a:txBody>
                  <a:tcPr marL="73152" marR="36576">
                    <a:solidFill>
                      <a:srgbClr val="E6EFFB"/>
                    </a:solidFill>
                  </a:tcPr>
                </a:tc>
                <a:tc>
                  <a:txBody>
                    <a:bodyPr/>
                    <a:lstStyle/>
                    <a:p>
                      <a:pPr algn="ctr"/>
                      <a:r>
                        <a:rPr sz="1100" b="0">
                          <a:solidFill>
                            <a:srgbClr val="273343"/>
                          </a:solidFill>
                          <a:latin typeface="Aptos"/>
                        </a:rPr>
                        <a:t>82</a:t>
                      </a:r>
                    </a:p>
                  </a:txBody>
                  <a:tcPr marL="73152" marR="36576">
                    <a:solidFill>
                      <a:srgbClr val="E6EFFB"/>
                    </a:solidFill>
                  </a:tcPr>
                </a:tc>
                <a:tc>
                  <a:txBody>
                    <a:bodyPr/>
                    <a:lstStyle/>
                    <a:p>
                      <a:pPr algn="ctr"/>
                      <a:r>
                        <a:rPr sz="1100" b="0">
                          <a:solidFill>
                            <a:srgbClr val="273343"/>
                          </a:solidFill>
                          <a:latin typeface="Aptos"/>
                        </a:rPr>
                        <a:t>9</a:t>
                      </a:r>
                    </a:p>
                  </a:txBody>
                  <a:tcPr marL="73152" marR="36576">
                    <a:solidFill>
                      <a:srgbClr val="E6EFFB"/>
                    </a:solidFill>
                  </a:tcPr>
                </a:tc>
                <a:tc>
                  <a:txBody>
                    <a:bodyPr/>
                    <a:lstStyle/>
                    <a:p>
                      <a:pPr algn="ctr"/>
                      <a:r>
                        <a:rPr sz="1100" b="0">
                          <a:solidFill>
                            <a:srgbClr val="273343"/>
                          </a:solidFill>
                          <a:latin typeface="Aptos"/>
                        </a:rPr>
                        <a:t>34</a:t>
                      </a:r>
                    </a:p>
                  </a:txBody>
                  <a:tcPr marL="73152" marR="36576">
                    <a:solidFill>
                      <a:srgbClr val="E2F5F1"/>
                    </a:solidFill>
                  </a:tcPr>
                </a:tc>
                <a:extLst>
                  <a:ext uri="{0D108BD9-81ED-4DB2-BD59-A6C34878D82A}">
                    <a16:rowId xmlns:a16="http://schemas.microsoft.com/office/drawing/2014/main" val="10005"/>
                  </a:ext>
                </a:extLst>
              </a:tr>
            </a:tbl>
          </a:graphicData>
        </a:graphic>
      </p:graphicFrame>
      <p:sp>
        <p:nvSpPr>
          <p:cNvPr id="10" name="TextBox 9"/>
          <p:cNvSpPr txBox="1"/>
          <p:nvPr/>
        </p:nvSpPr>
        <p:spPr>
          <a:xfrm>
            <a:off x="822960" y="4663440"/>
            <a:ext cx="4846320" cy="594360"/>
          </a:xfrm>
          <a:prstGeom prst="rect">
            <a:avLst/>
          </a:prstGeom>
          <a:noFill/>
        </p:spPr>
        <p:txBody>
          <a:bodyPr wrap="square" lIns="54864" tIns="54864" rIns="54864" bIns="54864" anchor="t">
            <a:spAutoFit/>
          </a:bodyPr>
          <a:lstStyle/>
          <a:p>
            <a:pPr algn="l">
              <a:spcAft>
                <a:spcPts val="0"/>
              </a:spcAft>
            </a:pPr>
            <a:r>
              <a:rPr sz="1300" b="1">
                <a:solidFill>
                  <a:srgbClr val="2D69BE"/>
                </a:solidFill>
                <a:latin typeface="Aptos"/>
              </a:rPr>
              <a:t>FEATURES  →  attendance, study hours,
internal marks, assignments</a:t>
            </a:r>
          </a:p>
        </p:txBody>
      </p:sp>
      <p:sp>
        <p:nvSpPr>
          <p:cNvPr id="11" name="TextBox 10"/>
          <p:cNvSpPr txBox="1"/>
          <p:nvPr/>
        </p:nvSpPr>
        <p:spPr>
          <a:xfrm>
            <a:off x="6400800" y="4663440"/>
            <a:ext cx="4389120" cy="594360"/>
          </a:xfrm>
          <a:prstGeom prst="rect">
            <a:avLst/>
          </a:prstGeom>
          <a:noFill/>
        </p:spPr>
        <p:txBody>
          <a:bodyPr wrap="square" lIns="54864" tIns="54864" rIns="54864" bIns="54864" anchor="t">
            <a:spAutoFit/>
          </a:bodyPr>
          <a:lstStyle/>
          <a:p>
            <a:pPr algn="l">
              <a:spcAft>
                <a:spcPts val="0"/>
              </a:spcAft>
            </a:pPr>
            <a:r>
              <a:rPr sz="1300" b="1">
                <a:solidFill>
                  <a:srgbClr val="1C968C"/>
                </a:solidFill>
                <a:latin typeface="Aptos"/>
              </a:rPr>
              <a:t>TARGET  →  actual final score</a:t>
            </a:r>
          </a:p>
        </p:txBody>
      </p:sp>
      <p:sp>
        <p:nvSpPr>
          <p:cNvPr id="12" name="TextBox 11"/>
          <p:cNvSpPr txBox="1"/>
          <p:nvPr/>
        </p:nvSpPr>
        <p:spPr>
          <a:xfrm>
            <a:off x="822960" y="5577840"/>
            <a:ext cx="10241280" cy="320040"/>
          </a:xfrm>
          <a:prstGeom prst="rect">
            <a:avLst/>
          </a:prstGeom>
          <a:noFill/>
        </p:spPr>
        <p:txBody>
          <a:bodyPr wrap="square" lIns="54864" tIns="54864" rIns="54864" bIns="54864" anchor="t">
            <a:spAutoFit/>
          </a:bodyPr>
          <a:lstStyle/>
          <a:p>
            <a:pPr algn="l">
              <a:spcAft>
                <a:spcPts val="0"/>
              </a:spcAft>
            </a:pPr>
            <a:r>
              <a:rPr sz="1000" b="1">
                <a:solidFill>
                  <a:srgbClr val="C34949"/>
                </a:solidFill>
                <a:latin typeface="Aptos"/>
              </a:rPr>
              <a:t>All rows and values are hypothetical illustrations—not results from a trained model.</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256032"/>
            <a:ext cx="10972800" cy="502920"/>
          </a:xfrm>
          <a:prstGeom prst="rect">
            <a:avLst/>
          </a:prstGeom>
          <a:noFill/>
        </p:spPr>
        <p:txBody>
          <a:bodyPr wrap="square" lIns="54864" tIns="54864" rIns="54864" bIns="54864" anchor="t">
            <a:spAutoFit/>
          </a:bodyPr>
          <a:lstStyle/>
          <a:p>
            <a:pPr algn="l">
              <a:spcAft>
                <a:spcPts val="0"/>
              </a:spcAft>
            </a:pPr>
            <a:r>
              <a:rPr sz="2700" b="1">
                <a:solidFill>
                  <a:srgbClr val="132645"/>
                </a:solidFill>
                <a:latin typeface="Aptos"/>
              </a:rPr>
              <a:t>What Are Model Parameters and Weights?</a:t>
            </a:r>
          </a:p>
        </p:txBody>
      </p:sp>
      <p:sp>
        <p:nvSpPr>
          <p:cNvPr id="4" name="Rectangle 3"/>
          <p:cNvSpPr/>
          <p:nvPr/>
        </p:nvSpPr>
        <p:spPr>
          <a:xfrm>
            <a:off x="585216" y="832104"/>
            <a:ext cx="731520" cy="50292"/>
          </a:xfrm>
          <a:prstGeom prst="rect">
            <a:avLst/>
          </a:prstGeom>
          <a:solidFill>
            <a:srgbClr val="1C9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464040" y="292608"/>
            <a:ext cx="2103120" cy="274320"/>
          </a:xfrm>
          <a:prstGeom prst="rect">
            <a:avLst/>
          </a:prstGeom>
          <a:noFill/>
        </p:spPr>
        <p:txBody>
          <a:bodyPr wrap="square" lIns="54864" tIns="54864" rIns="54864" bIns="54864" anchor="t">
            <a:spAutoFit/>
          </a:bodyPr>
          <a:lstStyle/>
          <a:p>
            <a:pPr algn="r">
              <a:spcAft>
                <a:spcPts val="0"/>
              </a:spcAft>
            </a:pPr>
            <a:r>
              <a:rPr sz="900" b="1">
                <a:solidFill>
                  <a:srgbClr val="657384"/>
                </a:solidFill>
                <a:latin typeface="Aptos"/>
              </a:rPr>
              <a:t>FOUNDATIONS</a:t>
            </a:r>
          </a:p>
        </p:txBody>
      </p:sp>
      <p:sp>
        <p:nvSpPr>
          <p:cNvPr id="6" name="TextBox 5"/>
          <p:cNvSpPr txBox="1"/>
          <p:nvPr/>
        </p:nvSpPr>
        <p:spPr>
          <a:xfrm>
            <a:off x="594360" y="6510528"/>
            <a:ext cx="8961120" cy="164592"/>
          </a:xfrm>
          <a:prstGeom prst="rect">
            <a:avLst/>
          </a:prstGeom>
          <a:noFill/>
        </p:spPr>
        <p:txBody>
          <a:bodyPr wrap="square" lIns="54864" tIns="54864" rIns="54864" bIns="54864" anchor="t">
            <a:spAutoFit/>
          </a:bodyPr>
          <a:lstStyle/>
          <a:p>
            <a:pPr algn="l">
              <a:spcAft>
                <a:spcPts val="0"/>
              </a:spcAft>
            </a:pPr>
            <a:r>
              <a:rPr sz="800" b="0">
                <a:solidFill>
                  <a:srgbClr val="657384"/>
                </a:solidFill>
                <a:latin typeface="Aptos"/>
              </a:rPr>
              <a:t>UNDERSTANDING MACHINE LEARNING  •  TECHNICAL SEMINAR</a:t>
            </a:r>
          </a:p>
        </p:txBody>
      </p:sp>
      <p:sp>
        <p:nvSpPr>
          <p:cNvPr id="7" name="TextBox 6"/>
          <p:cNvSpPr txBox="1"/>
          <p:nvPr/>
        </p:nvSpPr>
        <p:spPr>
          <a:xfrm>
            <a:off x="11064240" y="6473952"/>
            <a:ext cx="502920" cy="201168"/>
          </a:xfrm>
          <a:prstGeom prst="rect">
            <a:avLst/>
          </a:prstGeom>
          <a:noFill/>
        </p:spPr>
        <p:txBody>
          <a:bodyPr wrap="square" lIns="54864" tIns="54864" rIns="54864" bIns="54864" anchor="t">
            <a:spAutoFit/>
          </a:bodyPr>
          <a:lstStyle/>
          <a:p>
            <a:pPr algn="r">
              <a:spcAft>
                <a:spcPts val="0"/>
              </a:spcAft>
            </a:pPr>
            <a:r>
              <a:rPr sz="900" b="1">
                <a:solidFill>
                  <a:srgbClr val="657384"/>
                </a:solidFill>
                <a:latin typeface="Aptos"/>
              </a:rPr>
              <a:t>04</a:t>
            </a:r>
          </a:p>
        </p:txBody>
      </p:sp>
      <p:sp>
        <p:nvSpPr>
          <p:cNvPr id="8" name="TextBox 7"/>
          <p:cNvSpPr txBox="1"/>
          <p:nvPr/>
        </p:nvSpPr>
        <p:spPr>
          <a:xfrm>
            <a:off x="868680" y="1234440"/>
            <a:ext cx="10515600" cy="502920"/>
          </a:xfrm>
          <a:prstGeom prst="rect">
            <a:avLst/>
          </a:prstGeom>
          <a:noFill/>
        </p:spPr>
        <p:txBody>
          <a:bodyPr wrap="square" lIns="54864" tIns="54864" rIns="54864" bIns="54864" anchor="t">
            <a:spAutoFit/>
          </a:bodyPr>
          <a:lstStyle/>
          <a:p>
            <a:pPr algn="ctr">
              <a:spcAft>
                <a:spcPts val="0"/>
              </a:spcAft>
            </a:pPr>
            <a:r>
              <a:rPr sz="2400" b="1">
                <a:solidFill>
                  <a:srgbClr val="132645"/>
                </a:solidFill>
                <a:latin typeface="Aptos"/>
              </a:rPr>
              <a:t>Predicted Score = 10 + 2 × Study Hours</a:t>
            </a:r>
          </a:p>
        </p:txBody>
      </p:sp>
      <p:sp>
        <p:nvSpPr>
          <p:cNvPr id="9" name="Rounded Rectangle 8"/>
          <p:cNvSpPr/>
          <p:nvPr/>
        </p:nvSpPr>
        <p:spPr>
          <a:xfrm>
            <a:off x="822960" y="2331720"/>
            <a:ext cx="3200400" cy="1417320"/>
          </a:xfrm>
          <a:prstGeom prst="roundRect">
            <a:avLst/>
          </a:prstGeom>
          <a:solidFill>
            <a:srgbClr val="E6EFFB"/>
          </a:solidFill>
          <a:ln w="12700">
            <a:solidFill>
              <a:srgbClr val="DEE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822960" y="2331720"/>
            <a:ext cx="73152" cy="1417320"/>
          </a:xfrm>
          <a:prstGeom prst="rect">
            <a:avLst/>
          </a:prstGeom>
          <a:solidFill>
            <a:srgbClr val="2D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24128" y="2478024"/>
            <a:ext cx="2852928" cy="310896"/>
          </a:xfrm>
          <a:prstGeom prst="rect">
            <a:avLst/>
          </a:prstGeom>
          <a:noFill/>
        </p:spPr>
        <p:txBody>
          <a:bodyPr wrap="square" lIns="54864" tIns="54864" rIns="54864" bIns="54864" anchor="t">
            <a:spAutoFit/>
          </a:bodyPr>
          <a:lstStyle/>
          <a:p>
            <a:pPr algn="l">
              <a:spcAft>
                <a:spcPts val="0"/>
              </a:spcAft>
            </a:pPr>
            <a:r>
              <a:rPr sz="1600" b="1">
                <a:solidFill>
                  <a:srgbClr val="132645"/>
                </a:solidFill>
                <a:latin typeface="Aptos"/>
              </a:rPr>
              <a:t>Intercept = 10</a:t>
            </a:r>
          </a:p>
        </p:txBody>
      </p:sp>
      <p:sp>
        <p:nvSpPr>
          <p:cNvPr id="12" name="TextBox 11"/>
          <p:cNvSpPr txBox="1"/>
          <p:nvPr/>
        </p:nvSpPr>
        <p:spPr>
          <a:xfrm>
            <a:off x="1024128" y="2862072"/>
            <a:ext cx="2852928" cy="795528"/>
          </a:xfrm>
          <a:prstGeom prst="rect">
            <a:avLst/>
          </a:prstGeom>
          <a:noFill/>
        </p:spPr>
        <p:txBody>
          <a:bodyPr wrap="square" lIns="54864" tIns="54864" rIns="54864" bIns="54864" anchor="t">
            <a:spAutoFit/>
          </a:bodyPr>
          <a:lstStyle/>
          <a:p>
            <a:pPr algn="l">
              <a:spcAft>
                <a:spcPts val="0"/>
              </a:spcAft>
            </a:pPr>
            <a:r>
              <a:rPr sz="1300" b="0">
                <a:solidFill>
                  <a:srgbClr val="273343"/>
                </a:solidFill>
                <a:latin typeface="Aptos"/>
              </a:rPr>
              <a:t>The starting value when study hours are zero.</a:t>
            </a:r>
          </a:p>
        </p:txBody>
      </p:sp>
      <p:sp>
        <p:nvSpPr>
          <p:cNvPr id="13" name="Rounded Rectangle 12"/>
          <p:cNvSpPr/>
          <p:nvPr/>
        </p:nvSpPr>
        <p:spPr>
          <a:xfrm>
            <a:off x="4480560" y="2331720"/>
            <a:ext cx="3200400" cy="1417320"/>
          </a:xfrm>
          <a:prstGeom prst="roundRect">
            <a:avLst/>
          </a:prstGeom>
          <a:solidFill>
            <a:srgbClr val="E2F5F1"/>
          </a:solidFill>
          <a:ln w="12700">
            <a:solidFill>
              <a:srgbClr val="DEE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480560" y="2331720"/>
            <a:ext cx="73152" cy="1417320"/>
          </a:xfrm>
          <a:prstGeom prst="rect">
            <a:avLst/>
          </a:prstGeom>
          <a:solidFill>
            <a:srgbClr val="1C9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681728" y="2478024"/>
            <a:ext cx="2852928" cy="310896"/>
          </a:xfrm>
          <a:prstGeom prst="rect">
            <a:avLst/>
          </a:prstGeom>
          <a:noFill/>
        </p:spPr>
        <p:txBody>
          <a:bodyPr wrap="square" lIns="54864" tIns="54864" rIns="54864" bIns="54864" anchor="t">
            <a:spAutoFit/>
          </a:bodyPr>
          <a:lstStyle/>
          <a:p>
            <a:pPr algn="l">
              <a:spcAft>
                <a:spcPts val="0"/>
              </a:spcAft>
            </a:pPr>
            <a:r>
              <a:rPr sz="1600" b="1">
                <a:solidFill>
                  <a:srgbClr val="132645"/>
                </a:solidFill>
                <a:latin typeface="Aptos"/>
              </a:rPr>
              <a:t>Feature = Study Hours</a:t>
            </a:r>
          </a:p>
        </p:txBody>
      </p:sp>
      <p:sp>
        <p:nvSpPr>
          <p:cNvPr id="16" name="TextBox 15"/>
          <p:cNvSpPr txBox="1"/>
          <p:nvPr/>
        </p:nvSpPr>
        <p:spPr>
          <a:xfrm>
            <a:off x="4681728" y="2862072"/>
            <a:ext cx="2852928" cy="795528"/>
          </a:xfrm>
          <a:prstGeom prst="rect">
            <a:avLst/>
          </a:prstGeom>
          <a:noFill/>
        </p:spPr>
        <p:txBody>
          <a:bodyPr wrap="square" lIns="54864" tIns="54864" rIns="54864" bIns="54864" anchor="t">
            <a:spAutoFit/>
          </a:bodyPr>
          <a:lstStyle/>
          <a:p>
            <a:pPr algn="l">
              <a:spcAft>
                <a:spcPts val="0"/>
              </a:spcAft>
            </a:pPr>
            <a:r>
              <a:rPr sz="1300" b="0">
                <a:solidFill>
                  <a:srgbClr val="273343"/>
                </a:solidFill>
                <a:latin typeface="Aptos"/>
              </a:rPr>
              <a:t>The input information used by this simple model.</a:t>
            </a:r>
          </a:p>
        </p:txBody>
      </p:sp>
      <p:sp>
        <p:nvSpPr>
          <p:cNvPr id="17" name="Rounded Rectangle 16"/>
          <p:cNvSpPr/>
          <p:nvPr/>
        </p:nvSpPr>
        <p:spPr>
          <a:xfrm>
            <a:off x="8138160" y="2331720"/>
            <a:ext cx="3200400" cy="1417320"/>
          </a:xfrm>
          <a:prstGeom prst="roundRect">
            <a:avLst/>
          </a:prstGeom>
          <a:solidFill>
            <a:srgbClr val="FCF1E1"/>
          </a:solidFill>
          <a:ln w="12700">
            <a:solidFill>
              <a:srgbClr val="DEE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138160" y="2331720"/>
            <a:ext cx="73152" cy="1417320"/>
          </a:xfrm>
          <a:prstGeom prst="rect">
            <a:avLst/>
          </a:prstGeom>
          <a:solidFill>
            <a:srgbClr val="E69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339328" y="2478024"/>
            <a:ext cx="2852928" cy="310896"/>
          </a:xfrm>
          <a:prstGeom prst="rect">
            <a:avLst/>
          </a:prstGeom>
          <a:noFill/>
        </p:spPr>
        <p:txBody>
          <a:bodyPr wrap="square" lIns="54864" tIns="54864" rIns="54864" bIns="54864" anchor="t">
            <a:spAutoFit/>
          </a:bodyPr>
          <a:lstStyle/>
          <a:p>
            <a:pPr algn="l">
              <a:spcAft>
                <a:spcPts val="0"/>
              </a:spcAft>
            </a:pPr>
            <a:r>
              <a:rPr sz="1600" b="1">
                <a:solidFill>
                  <a:srgbClr val="132645"/>
                </a:solidFill>
                <a:latin typeface="Aptos"/>
              </a:rPr>
              <a:t>Weight = 2</a:t>
            </a:r>
          </a:p>
        </p:txBody>
      </p:sp>
      <p:sp>
        <p:nvSpPr>
          <p:cNvPr id="20" name="TextBox 19"/>
          <p:cNvSpPr txBox="1"/>
          <p:nvPr/>
        </p:nvSpPr>
        <p:spPr>
          <a:xfrm>
            <a:off x="8339328" y="2862072"/>
            <a:ext cx="2852928" cy="795528"/>
          </a:xfrm>
          <a:prstGeom prst="rect">
            <a:avLst/>
          </a:prstGeom>
          <a:noFill/>
        </p:spPr>
        <p:txBody>
          <a:bodyPr wrap="square" lIns="54864" tIns="54864" rIns="54864" bIns="54864" anchor="t">
            <a:spAutoFit/>
          </a:bodyPr>
          <a:lstStyle/>
          <a:p>
            <a:pPr algn="l">
              <a:spcAft>
                <a:spcPts val="0"/>
              </a:spcAft>
            </a:pPr>
            <a:r>
              <a:rPr sz="1200" b="0">
                <a:solidFill>
                  <a:srgbClr val="273343"/>
                </a:solidFill>
                <a:latin typeface="Aptos"/>
              </a:rPr>
              <a:t>For each extra study hour, the prediction rises by 2 points in this equation.</a:t>
            </a:r>
          </a:p>
        </p:txBody>
      </p:sp>
      <p:sp>
        <p:nvSpPr>
          <p:cNvPr id="21" name="TextBox 20"/>
          <p:cNvSpPr txBox="1"/>
          <p:nvPr/>
        </p:nvSpPr>
        <p:spPr>
          <a:xfrm>
            <a:off x="1005840" y="4389120"/>
            <a:ext cx="4754880" cy="731520"/>
          </a:xfrm>
          <a:prstGeom prst="rect">
            <a:avLst/>
          </a:prstGeom>
          <a:noFill/>
        </p:spPr>
        <p:txBody>
          <a:bodyPr wrap="square" lIns="54864" tIns="54864" rIns="54864" bIns="54864" anchor="t">
            <a:spAutoFit/>
          </a:bodyPr>
          <a:lstStyle/>
          <a:p>
            <a:pPr algn="l">
              <a:spcAft>
                <a:spcPts val="0"/>
              </a:spcAft>
            </a:pPr>
            <a:r>
              <a:rPr sz="1400" b="1">
                <a:solidFill>
                  <a:srgbClr val="1C968C"/>
                </a:solidFill>
                <a:latin typeface="Aptos"/>
              </a:rPr>
              <a:t>Positive weight: prediction increases
as the feature increases.</a:t>
            </a:r>
          </a:p>
        </p:txBody>
      </p:sp>
      <p:sp>
        <p:nvSpPr>
          <p:cNvPr id="22" name="TextBox 21"/>
          <p:cNvSpPr txBox="1"/>
          <p:nvPr/>
        </p:nvSpPr>
        <p:spPr>
          <a:xfrm>
            <a:off x="6400800" y="4389120"/>
            <a:ext cx="4754880" cy="731520"/>
          </a:xfrm>
          <a:prstGeom prst="rect">
            <a:avLst/>
          </a:prstGeom>
          <a:noFill/>
        </p:spPr>
        <p:txBody>
          <a:bodyPr wrap="square" lIns="54864" tIns="54864" rIns="54864" bIns="54864" anchor="t">
            <a:spAutoFit/>
          </a:bodyPr>
          <a:lstStyle/>
          <a:p>
            <a:pPr algn="l">
              <a:spcAft>
                <a:spcPts val="0"/>
              </a:spcAft>
            </a:pPr>
            <a:r>
              <a:rPr sz="1400" b="1">
                <a:solidFill>
                  <a:srgbClr val="C34949"/>
                </a:solidFill>
                <a:latin typeface="Aptos"/>
              </a:rPr>
              <a:t>Negative weight: prediction decreases
as the feature increases.</a:t>
            </a:r>
          </a:p>
        </p:txBody>
      </p:sp>
      <p:sp>
        <p:nvSpPr>
          <p:cNvPr id="23" name="TextBox 22"/>
          <p:cNvSpPr txBox="1"/>
          <p:nvPr/>
        </p:nvSpPr>
        <p:spPr>
          <a:xfrm>
            <a:off x="1005840" y="5486400"/>
            <a:ext cx="10058400" cy="365760"/>
          </a:xfrm>
          <a:prstGeom prst="rect">
            <a:avLst/>
          </a:prstGeom>
          <a:noFill/>
        </p:spPr>
        <p:txBody>
          <a:bodyPr wrap="square" lIns="54864" tIns="54864" rIns="54864" bIns="54864" anchor="t">
            <a:spAutoFit/>
          </a:bodyPr>
          <a:lstStyle/>
          <a:p>
            <a:pPr algn="l">
              <a:spcAft>
                <a:spcPts val="0"/>
              </a:spcAft>
            </a:pPr>
            <a:r>
              <a:rPr sz="1100" b="0">
                <a:solidFill>
                  <a:srgbClr val="657384"/>
                </a:solidFill>
                <a:latin typeface="Aptos"/>
              </a:rPr>
              <a:t>Weights depend on feature units and on the other features included in the model.</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256032"/>
            <a:ext cx="10972800" cy="502920"/>
          </a:xfrm>
          <a:prstGeom prst="rect">
            <a:avLst/>
          </a:prstGeom>
          <a:noFill/>
        </p:spPr>
        <p:txBody>
          <a:bodyPr wrap="square" lIns="54864" tIns="54864" rIns="54864" bIns="54864" anchor="t">
            <a:spAutoFit/>
          </a:bodyPr>
          <a:lstStyle/>
          <a:p>
            <a:pPr algn="l">
              <a:spcAft>
                <a:spcPts val="0"/>
              </a:spcAft>
            </a:pPr>
            <a:r>
              <a:rPr sz="2700" b="1">
                <a:solidFill>
                  <a:srgbClr val="132645"/>
                </a:solidFill>
                <a:latin typeface="Aptos"/>
              </a:rPr>
              <a:t>How Do Weights Affect Predictions?</a:t>
            </a:r>
          </a:p>
        </p:txBody>
      </p:sp>
      <p:sp>
        <p:nvSpPr>
          <p:cNvPr id="4" name="Rectangle 3"/>
          <p:cNvSpPr/>
          <p:nvPr/>
        </p:nvSpPr>
        <p:spPr>
          <a:xfrm>
            <a:off x="585216" y="832104"/>
            <a:ext cx="731520" cy="50292"/>
          </a:xfrm>
          <a:prstGeom prst="rect">
            <a:avLst/>
          </a:prstGeom>
          <a:solidFill>
            <a:srgbClr val="1C9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464040" y="292608"/>
            <a:ext cx="2103120" cy="274320"/>
          </a:xfrm>
          <a:prstGeom prst="rect">
            <a:avLst/>
          </a:prstGeom>
          <a:noFill/>
        </p:spPr>
        <p:txBody>
          <a:bodyPr wrap="square" lIns="54864" tIns="54864" rIns="54864" bIns="54864" anchor="t">
            <a:spAutoFit/>
          </a:bodyPr>
          <a:lstStyle/>
          <a:p>
            <a:pPr algn="r">
              <a:spcAft>
                <a:spcPts val="0"/>
              </a:spcAft>
            </a:pPr>
            <a:r>
              <a:rPr sz="900" b="1">
                <a:solidFill>
                  <a:srgbClr val="657384"/>
                </a:solidFill>
                <a:latin typeface="Aptos"/>
              </a:rPr>
              <a:t>FOUNDATIONS</a:t>
            </a:r>
          </a:p>
        </p:txBody>
      </p:sp>
      <p:sp>
        <p:nvSpPr>
          <p:cNvPr id="6" name="TextBox 5"/>
          <p:cNvSpPr txBox="1"/>
          <p:nvPr/>
        </p:nvSpPr>
        <p:spPr>
          <a:xfrm>
            <a:off x="594360" y="6510528"/>
            <a:ext cx="8961120" cy="164592"/>
          </a:xfrm>
          <a:prstGeom prst="rect">
            <a:avLst/>
          </a:prstGeom>
          <a:noFill/>
        </p:spPr>
        <p:txBody>
          <a:bodyPr wrap="square" lIns="54864" tIns="54864" rIns="54864" bIns="54864" anchor="t">
            <a:spAutoFit/>
          </a:bodyPr>
          <a:lstStyle/>
          <a:p>
            <a:pPr algn="l">
              <a:spcAft>
                <a:spcPts val="0"/>
              </a:spcAft>
            </a:pPr>
            <a:r>
              <a:rPr sz="800" b="0">
                <a:solidFill>
                  <a:srgbClr val="657384"/>
                </a:solidFill>
                <a:latin typeface="Aptos"/>
              </a:rPr>
              <a:t>UNDERSTANDING MACHINE LEARNING  •  TECHNICAL SEMINAR</a:t>
            </a:r>
          </a:p>
        </p:txBody>
      </p:sp>
      <p:sp>
        <p:nvSpPr>
          <p:cNvPr id="7" name="TextBox 6"/>
          <p:cNvSpPr txBox="1"/>
          <p:nvPr/>
        </p:nvSpPr>
        <p:spPr>
          <a:xfrm>
            <a:off x="11064240" y="6473952"/>
            <a:ext cx="502920" cy="201168"/>
          </a:xfrm>
          <a:prstGeom prst="rect">
            <a:avLst/>
          </a:prstGeom>
          <a:noFill/>
        </p:spPr>
        <p:txBody>
          <a:bodyPr wrap="square" lIns="54864" tIns="54864" rIns="54864" bIns="54864" anchor="t">
            <a:spAutoFit/>
          </a:bodyPr>
          <a:lstStyle/>
          <a:p>
            <a:pPr algn="r">
              <a:spcAft>
                <a:spcPts val="0"/>
              </a:spcAft>
            </a:pPr>
            <a:r>
              <a:rPr sz="900" b="1">
                <a:solidFill>
                  <a:srgbClr val="657384"/>
                </a:solidFill>
                <a:latin typeface="Aptos"/>
              </a:rPr>
              <a:t>05</a:t>
            </a:r>
          </a:p>
        </p:txBody>
      </p:sp>
      <p:sp>
        <p:nvSpPr>
          <p:cNvPr id="8" name="TextBox 7"/>
          <p:cNvSpPr txBox="1"/>
          <p:nvPr/>
        </p:nvSpPr>
        <p:spPr>
          <a:xfrm>
            <a:off x="731520" y="1143000"/>
            <a:ext cx="5303520" cy="365760"/>
          </a:xfrm>
          <a:prstGeom prst="rect">
            <a:avLst/>
          </a:prstGeom>
          <a:noFill/>
        </p:spPr>
        <p:txBody>
          <a:bodyPr wrap="square" lIns="54864" tIns="54864" rIns="54864" bIns="54864" anchor="t">
            <a:spAutoFit/>
          </a:bodyPr>
          <a:lstStyle/>
          <a:p>
            <a:pPr algn="l">
              <a:spcAft>
                <a:spcPts val="0"/>
              </a:spcAft>
            </a:pPr>
            <a:r>
              <a:rPr sz="1600" b="1">
                <a:solidFill>
                  <a:srgbClr val="132645"/>
                </a:solidFill>
                <a:latin typeface="Aptos"/>
              </a:rPr>
              <a:t>For a student who studies 5 hours:</a:t>
            </a:r>
          </a:p>
        </p:txBody>
      </p:sp>
      <p:sp>
        <p:nvSpPr>
          <p:cNvPr id="9" name="Rounded Rectangle 8"/>
          <p:cNvSpPr/>
          <p:nvPr/>
        </p:nvSpPr>
        <p:spPr>
          <a:xfrm>
            <a:off x="777240" y="1691640"/>
            <a:ext cx="3017520" cy="1051560"/>
          </a:xfrm>
          <a:prstGeom prst="roundRect">
            <a:avLst/>
          </a:prstGeom>
          <a:solidFill>
            <a:srgbClr val="E6EFFB"/>
          </a:solidFill>
          <a:ln w="12700">
            <a:solidFill>
              <a:srgbClr val="DEE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777240" y="1691640"/>
            <a:ext cx="73152" cy="1051560"/>
          </a:xfrm>
          <a:prstGeom prst="rect">
            <a:avLst/>
          </a:prstGeom>
          <a:solidFill>
            <a:srgbClr val="2D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78408" y="1837944"/>
            <a:ext cx="2670048" cy="310896"/>
          </a:xfrm>
          <a:prstGeom prst="rect">
            <a:avLst/>
          </a:prstGeom>
          <a:noFill/>
        </p:spPr>
        <p:txBody>
          <a:bodyPr wrap="square" lIns="54864" tIns="54864" rIns="54864" bIns="54864" anchor="t">
            <a:spAutoFit/>
          </a:bodyPr>
          <a:lstStyle/>
          <a:p>
            <a:pPr algn="l">
              <a:spcAft>
                <a:spcPts val="0"/>
              </a:spcAft>
            </a:pPr>
            <a:r>
              <a:rPr sz="1600" b="1">
                <a:solidFill>
                  <a:srgbClr val="132645"/>
                </a:solidFill>
                <a:latin typeface="Aptos"/>
              </a:rPr>
              <a:t>Model A</a:t>
            </a:r>
          </a:p>
        </p:txBody>
      </p:sp>
      <p:sp>
        <p:nvSpPr>
          <p:cNvPr id="12" name="TextBox 11"/>
          <p:cNvSpPr txBox="1"/>
          <p:nvPr/>
        </p:nvSpPr>
        <p:spPr>
          <a:xfrm>
            <a:off x="978408" y="2221992"/>
            <a:ext cx="2670048" cy="429767"/>
          </a:xfrm>
          <a:prstGeom prst="rect">
            <a:avLst/>
          </a:prstGeom>
          <a:noFill/>
        </p:spPr>
        <p:txBody>
          <a:bodyPr wrap="square" lIns="54864" tIns="54864" rIns="54864" bIns="54864" anchor="t">
            <a:spAutoFit/>
          </a:bodyPr>
          <a:lstStyle/>
          <a:p>
            <a:pPr algn="l">
              <a:spcAft>
                <a:spcPts val="0"/>
              </a:spcAft>
            </a:pPr>
            <a:r>
              <a:rPr sz="1600" b="0">
                <a:solidFill>
                  <a:srgbClr val="273343"/>
                </a:solidFill>
                <a:latin typeface="Aptos"/>
              </a:rPr>
              <a:t>10 + 2 × 5 = 20</a:t>
            </a:r>
          </a:p>
        </p:txBody>
      </p:sp>
      <p:sp>
        <p:nvSpPr>
          <p:cNvPr id="13" name="Rounded Rectangle 12"/>
          <p:cNvSpPr/>
          <p:nvPr/>
        </p:nvSpPr>
        <p:spPr>
          <a:xfrm>
            <a:off x="4069080" y="1691640"/>
            <a:ext cx="3017520" cy="1051560"/>
          </a:xfrm>
          <a:prstGeom prst="roundRect">
            <a:avLst/>
          </a:prstGeom>
          <a:solidFill>
            <a:srgbClr val="FCF1E1"/>
          </a:solidFill>
          <a:ln w="12700">
            <a:solidFill>
              <a:srgbClr val="DEE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069080" y="1691640"/>
            <a:ext cx="73152" cy="1051560"/>
          </a:xfrm>
          <a:prstGeom prst="rect">
            <a:avLst/>
          </a:prstGeom>
          <a:solidFill>
            <a:srgbClr val="E69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270248" y="1837944"/>
            <a:ext cx="2670048" cy="310896"/>
          </a:xfrm>
          <a:prstGeom prst="rect">
            <a:avLst/>
          </a:prstGeom>
          <a:noFill/>
        </p:spPr>
        <p:txBody>
          <a:bodyPr wrap="square" lIns="54864" tIns="54864" rIns="54864" bIns="54864" anchor="t">
            <a:spAutoFit/>
          </a:bodyPr>
          <a:lstStyle/>
          <a:p>
            <a:pPr algn="l">
              <a:spcAft>
                <a:spcPts val="0"/>
              </a:spcAft>
            </a:pPr>
            <a:r>
              <a:rPr sz="1600" b="1">
                <a:solidFill>
                  <a:srgbClr val="132645"/>
                </a:solidFill>
                <a:latin typeface="Aptos"/>
              </a:rPr>
              <a:t>Model B</a:t>
            </a:r>
          </a:p>
        </p:txBody>
      </p:sp>
      <p:sp>
        <p:nvSpPr>
          <p:cNvPr id="16" name="TextBox 15"/>
          <p:cNvSpPr txBox="1"/>
          <p:nvPr/>
        </p:nvSpPr>
        <p:spPr>
          <a:xfrm>
            <a:off x="4270248" y="2221992"/>
            <a:ext cx="2670048" cy="429767"/>
          </a:xfrm>
          <a:prstGeom prst="rect">
            <a:avLst/>
          </a:prstGeom>
          <a:noFill/>
        </p:spPr>
        <p:txBody>
          <a:bodyPr wrap="square" lIns="54864" tIns="54864" rIns="54864" bIns="54864" anchor="t">
            <a:spAutoFit/>
          </a:bodyPr>
          <a:lstStyle/>
          <a:p>
            <a:pPr algn="l">
              <a:spcAft>
                <a:spcPts val="0"/>
              </a:spcAft>
            </a:pPr>
            <a:r>
              <a:rPr sz="1600" b="0">
                <a:solidFill>
                  <a:srgbClr val="273343"/>
                </a:solidFill>
                <a:latin typeface="Aptos"/>
              </a:rPr>
              <a:t>10 + 5 × 5 = 35</a:t>
            </a:r>
          </a:p>
        </p:txBody>
      </p:sp>
      <p:cxnSp>
        <p:nvCxnSpPr>
          <p:cNvPr id="17" name="Connector 16"/>
          <p:cNvCxnSpPr/>
          <p:nvPr/>
        </p:nvCxnSpPr>
        <p:spPr>
          <a:xfrm>
            <a:off x="1005840" y="5349240"/>
            <a:ext cx="5852160" cy="0"/>
          </a:xfrm>
          <a:prstGeom prst="line">
            <a:avLst/>
          </a:prstGeom>
          <a:ln w="17780">
            <a:solidFill>
              <a:srgbClr val="132645"/>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1005840" y="3291840"/>
            <a:ext cx="0" cy="2057400"/>
          </a:xfrm>
          <a:prstGeom prst="line">
            <a:avLst/>
          </a:prstGeom>
          <a:ln w="17780">
            <a:solidFill>
              <a:srgbClr val="132645"/>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3200400" y="5422392"/>
            <a:ext cx="1645920" cy="228600"/>
          </a:xfrm>
          <a:prstGeom prst="rect">
            <a:avLst/>
          </a:prstGeom>
          <a:noFill/>
        </p:spPr>
        <p:txBody>
          <a:bodyPr wrap="square" lIns="54864" tIns="54864" rIns="54864" bIns="54864" anchor="t">
            <a:spAutoFit/>
          </a:bodyPr>
          <a:lstStyle/>
          <a:p>
            <a:pPr algn="ctr">
              <a:spcAft>
                <a:spcPts val="0"/>
              </a:spcAft>
            </a:pPr>
            <a:r>
              <a:rPr sz="1000" b="0">
                <a:solidFill>
                  <a:srgbClr val="657384"/>
                </a:solidFill>
                <a:latin typeface="Aptos"/>
              </a:rPr>
              <a:t>Study hours</a:t>
            </a:r>
          </a:p>
        </p:txBody>
      </p:sp>
      <p:sp>
        <p:nvSpPr>
          <p:cNvPr id="20" name="TextBox 19"/>
          <p:cNvSpPr txBox="1"/>
          <p:nvPr/>
        </p:nvSpPr>
        <p:spPr>
          <a:xfrm>
            <a:off x="502920" y="3954779"/>
            <a:ext cx="411480" cy="731520"/>
          </a:xfrm>
          <a:prstGeom prst="rect">
            <a:avLst/>
          </a:prstGeom>
          <a:noFill/>
        </p:spPr>
        <p:txBody>
          <a:bodyPr wrap="square" lIns="54864" tIns="54864" rIns="54864" bIns="54864" anchor="ctr">
            <a:spAutoFit/>
          </a:bodyPr>
          <a:lstStyle/>
          <a:p>
            <a:pPr algn="ctr">
              <a:spcAft>
                <a:spcPts val="0"/>
              </a:spcAft>
            </a:pPr>
            <a:r>
              <a:rPr sz="900" b="0">
                <a:solidFill>
                  <a:srgbClr val="657384"/>
                </a:solidFill>
                <a:latin typeface="Aptos"/>
              </a:rPr>
              <a:t>Score</a:t>
            </a:r>
          </a:p>
        </p:txBody>
      </p:sp>
      <p:sp>
        <p:nvSpPr>
          <p:cNvPr id="21" name="TextBox 20"/>
          <p:cNvSpPr txBox="1"/>
          <p:nvPr/>
        </p:nvSpPr>
        <p:spPr>
          <a:xfrm>
            <a:off x="6355080" y="5605272"/>
            <a:ext cx="548640" cy="182880"/>
          </a:xfrm>
          <a:prstGeom prst="rect">
            <a:avLst/>
          </a:prstGeom>
          <a:noFill/>
        </p:spPr>
        <p:txBody>
          <a:bodyPr wrap="square" lIns="54864" tIns="54864" rIns="54864" bIns="54864" anchor="t">
            <a:spAutoFit/>
          </a:bodyPr>
          <a:lstStyle/>
          <a:p>
            <a:pPr algn="r">
              <a:spcAft>
                <a:spcPts val="0"/>
              </a:spcAft>
            </a:pPr>
            <a:r>
              <a:rPr sz="800" b="0">
                <a:solidFill>
                  <a:srgbClr val="657384"/>
                </a:solidFill>
                <a:latin typeface="Aptos"/>
              </a:rPr>
              <a:t>6</a:t>
            </a:r>
          </a:p>
        </p:txBody>
      </p:sp>
      <p:sp>
        <p:nvSpPr>
          <p:cNvPr id="22" name="TextBox 21"/>
          <p:cNvSpPr txBox="1"/>
          <p:nvPr/>
        </p:nvSpPr>
        <p:spPr>
          <a:xfrm>
            <a:off x="914400" y="3108960"/>
            <a:ext cx="457200" cy="182880"/>
          </a:xfrm>
          <a:prstGeom prst="rect">
            <a:avLst/>
          </a:prstGeom>
          <a:noFill/>
        </p:spPr>
        <p:txBody>
          <a:bodyPr wrap="square" lIns="54864" tIns="54864" rIns="54864" bIns="54864" anchor="t">
            <a:spAutoFit/>
          </a:bodyPr>
          <a:lstStyle/>
          <a:p>
            <a:pPr algn="l">
              <a:spcAft>
                <a:spcPts val="0"/>
              </a:spcAft>
            </a:pPr>
            <a:r>
              <a:rPr sz="800" b="0">
                <a:solidFill>
                  <a:srgbClr val="657384"/>
                </a:solidFill>
                <a:latin typeface="Aptos"/>
              </a:rPr>
              <a:t>40</a:t>
            </a:r>
          </a:p>
        </p:txBody>
      </p:sp>
      <p:cxnSp>
        <p:nvCxnSpPr>
          <p:cNvPr id="23" name="Connector 22"/>
          <p:cNvCxnSpPr/>
          <p:nvPr/>
        </p:nvCxnSpPr>
        <p:spPr>
          <a:xfrm flipV="1">
            <a:off x="1005840" y="4809172"/>
            <a:ext cx="243840" cy="25718"/>
          </a:xfrm>
          <a:prstGeom prst="line">
            <a:avLst/>
          </a:prstGeom>
          <a:ln w="31750">
            <a:solidFill>
              <a:srgbClr val="2D69BE"/>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1249680" y="4783454"/>
            <a:ext cx="243840" cy="25718"/>
          </a:xfrm>
          <a:prstGeom prst="line">
            <a:avLst/>
          </a:prstGeom>
          <a:ln w="31750">
            <a:solidFill>
              <a:srgbClr val="2D69BE"/>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1493520" y="4757737"/>
            <a:ext cx="243840" cy="25717"/>
          </a:xfrm>
          <a:prstGeom prst="line">
            <a:avLst/>
          </a:prstGeom>
          <a:ln w="31750">
            <a:solidFill>
              <a:srgbClr val="2D69BE"/>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1737360" y="4732020"/>
            <a:ext cx="243840" cy="25717"/>
          </a:xfrm>
          <a:prstGeom prst="line">
            <a:avLst/>
          </a:prstGeom>
          <a:ln w="31750">
            <a:solidFill>
              <a:srgbClr val="2D69BE"/>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1981200" y="4706302"/>
            <a:ext cx="243840" cy="25718"/>
          </a:xfrm>
          <a:prstGeom prst="line">
            <a:avLst/>
          </a:prstGeom>
          <a:ln w="31750">
            <a:solidFill>
              <a:srgbClr val="2D69BE"/>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2225040" y="4680584"/>
            <a:ext cx="243840" cy="25718"/>
          </a:xfrm>
          <a:prstGeom prst="line">
            <a:avLst/>
          </a:prstGeom>
          <a:ln w="31750">
            <a:solidFill>
              <a:srgbClr val="2D69BE"/>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2468880" y="4654867"/>
            <a:ext cx="243840" cy="25717"/>
          </a:xfrm>
          <a:prstGeom prst="line">
            <a:avLst/>
          </a:prstGeom>
          <a:ln w="31750">
            <a:solidFill>
              <a:srgbClr val="2D69BE"/>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2712720" y="4629150"/>
            <a:ext cx="243840" cy="25717"/>
          </a:xfrm>
          <a:prstGeom prst="line">
            <a:avLst/>
          </a:prstGeom>
          <a:ln w="31750">
            <a:solidFill>
              <a:srgbClr val="2D69BE"/>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2956560" y="4603432"/>
            <a:ext cx="243840" cy="25718"/>
          </a:xfrm>
          <a:prstGeom prst="line">
            <a:avLst/>
          </a:prstGeom>
          <a:ln w="31750">
            <a:solidFill>
              <a:srgbClr val="2D69BE"/>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3200400" y="4577715"/>
            <a:ext cx="243840" cy="25717"/>
          </a:xfrm>
          <a:prstGeom prst="line">
            <a:avLst/>
          </a:prstGeom>
          <a:ln w="31750">
            <a:solidFill>
              <a:srgbClr val="2D69BE"/>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3444240" y="4551997"/>
            <a:ext cx="243840" cy="25718"/>
          </a:xfrm>
          <a:prstGeom prst="line">
            <a:avLst/>
          </a:prstGeom>
          <a:ln w="31750">
            <a:solidFill>
              <a:srgbClr val="2D69BE"/>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3688080" y="4526279"/>
            <a:ext cx="243840" cy="25718"/>
          </a:xfrm>
          <a:prstGeom prst="line">
            <a:avLst/>
          </a:prstGeom>
          <a:ln w="31750">
            <a:solidFill>
              <a:srgbClr val="2D69BE"/>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3931920" y="4500562"/>
            <a:ext cx="243840" cy="25717"/>
          </a:xfrm>
          <a:prstGeom prst="line">
            <a:avLst/>
          </a:prstGeom>
          <a:ln w="31750">
            <a:solidFill>
              <a:srgbClr val="2D69BE"/>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4175760" y="4474845"/>
            <a:ext cx="243840" cy="25717"/>
          </a:xfrm>
          <a:prstGeom prst="line">
            <a:avLst/>
          </a:prstGeom>
          <a:ln w="31750">
            <a:solidFill>
              <a:srgbClr val="2D69BE"/>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4419600" y="4449127"/>
            <a:ext cx="243840" cy="25718"/>
          </a:xfrm>
          <a:prstGeom prst="line">
            <a:avLst/>
          </a:prstGeom>
          <a:ln w="31750">
            <a:solidFill>
              <a:srgbClr val="2D69BE"/>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4663440" y="4423409"/>
            <a:ext cx="243840" cy="25718"/>
          </a:xfrm>
          <a:prstGeom prst="line">
            <a:avLst/>
          </a:prstGeom>
          <a:ln w="31750">
            <a:solidFill>
              <a:srgbClr val="2D69BE"/>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4907280" y="4397692"/>
            <a:ext cx="243840" cy="25717"/>
          </a:xfrm>
          <a:prstGeom prst="line">
            <a:avLst/>
          </a:prstGeom>
          <a:ln w="31750">
            <a:solidFill>
              <a:srgbClr val="2D69BE"/>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5151120" y="4371975"/>
            <a:ext cx="243840" cy="25717"/>
          </a:xfrm>
          <a:prstGeom prst="line">
            <a:avLst/>
          </a:prstGeom>
          <a:ln w="31750">
            <a:solidFill>
              <a:srgbClr val="2D69BE"/>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5394960" y="4346257"/>
            <a:ext cx="243839" cy="25718"/>
          </a:xfrm>
          <a:prstGeom prst="line">
            <a:avLst/>
          </a:prstGeom>
          <a:ln w="31750">
            <a:solidFill>
              <a:srgbClr val="2D69BE"/>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5638799" y="4320540"/>
            <a:ext cx="243841" cy="25717"/>
          </a:xfrm>
          <a:prstGeom prst="line">
            <a:avLst/>
          </a:prstGeom>
          <a:ln w="31750">
            <a:solidFill>
              <a:srgbClr val="2D69BE"/>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5882640" y="4294822"/>
            <a:ext cx="243840" cy="25718"/>
          </a:xfrm>
          <a:prstGeom prst="line">
            <a:avLst/>
          </a:prstGeom>
          <a:ln w="31750">
            <a:solidFill>
              <a:srgbClr val="2D69BE"/>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6126480" y="4269104"/>
            <a:ext cx="243840" cy="25718"/>
          </a:xfrm>
          <a:prstGeom prst="line">
            <a:avLst/>
          </a:prstGeom>
          <a:ln w="31750">
            <a:solidFill>
              <a:srgbClr val="2D69BE"/>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6370320" y="4243387"/>
            <a:ext cx="243840" cy="25717"/>
          </a:xfrm>
          <a:prstGeom prst="line">
            <a:avLst/>
          </a:prstGeom>
          <a:ln w="31750">
            <a:solidFill>
              <a:srgbClr val="2D69BE"/>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6614160" y="4217670"/>
            <a:ext cx="243840" cy="25717"/>
          </a:xfrm>
          <a:prstGeom prst="line">
            <a:avLst/>
          </a:prstGeom>
          <a:ln w="31750">
            <a:solidFill>
              <a:srgbClr val="2D69BE"/>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1005840" y="4770596"/>
            <a:ext cx="243840" cy="64294"/>
          </a:xfrm>
          <a:prstGeom prst="line">
            <a:avLst/>
          </a:prstGeom>
          <a:ln w="31750">
            <a:solidFill>
              <a:srgbClr val="E69132"/>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1249680" y="4706302"/>
            <a:ext cx="243840" cy="64294"/>
          </a:xfrm>
          <a:prstGeom prst="line">
            <a:avLst/>
          </a:prstGeom>
          <a:ln w="31750">
            <a:solidFill>
              <a:srgbClr val="E69132"/>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1493520" y="4642008"/>
            <a:ext cx="243840" cy="64294"/>
          </a:xfrm>
          <a:prstGeom prst="line">
            <a:avLst/>
          </a:prstGeom>
          <a:ln w="31750">
            <a:solidFill>
              <a:srgbClr val="E69132"/>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1737360" y="4577715"/>
            <a:ext cx="243840" cy="64293"/>
          </a:xfrm>
          <a:prstGeom prst="line">
            <a:avLst/>
          </a:prstGeom>
          <a:ln w="31750">
            <a:solidFill>
              <a:srgbClr val="E69132"/>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1981200" y="4513421"/>
            <a:ext cx="243840" cy="64294"/>
          </a:xfrm>
          <a:prstGeom prst="line">
            <a:avLst/>
          </a:prstGeom>
          <a:ln w="31750">
            <a:solidFill>
              <a:srgbClr val="E69132"/>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V="1">
            <a:off x="2225040" y="4449127"/>
            <a:ext cx="243840" cy="64294"/>
          </a:xfrm>
          <a:prstGeom prst="line">
            <a:avLst/>
          </a:prstGeom>
          <a:ln w="31750">
            <a:solidFill>
              <a:srgbClr val="E69132"/>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2468880" y="4384833"/>
            <a:ext cx="243840" cy="64294"/>
          </a:xfrm>
          <a:prstGeom prst="line">
            <a:avLst/>
          </a:prstGeom>
          <a:ln w="31750">
            <a:solidFill>
              <a:srgbClr val="E69132"/>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V="1">
            <a:off x="2712720" y="4320540"/>
            <a:ext cx="243840" cy="64293"/>
          </a:xfrm>
          <a:prstGeom prst="line">
            <a:avLst/>
          </a:prstGeom>
          <a:ln w="31750">
            <a:solidFill>
              <a:srgbClr val="E69132"/>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V="1">
            <a:off x="2956560" y="4256246"/>
            <a:ext cx="243840" cy="64294"/>
          </a:xfrm>
          <a:prstGeom prst="line">
            <a:avLst/>
          </a:prstGeom>
          <a:ln w="31750">
            <a:solidFill>
              <a:srgbClr val="E69132"/>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V="1">
            <a:off x="3200400" y="4191952"/>
            <a:ext cx="243840" cy="64294"/>
          </a:xfrm>
          <a:prstGeom prst="line">
            <a:avLst/>
          </a:prstGeom>
          <a:ln w="31750">
            <a:solidFill>
              <a:srgbClr val="E69132"/>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V="1">
            <a:off x="3444240" y="4127658"/>
            <a:ext cx="243840" cy="64294"/>
          </a:xfrm>
          <a:prstGeom prst="line">
            <a:avLst/>
          </a:prstGeom>
          <a:ln w="31750">
            <a:solidFill>
              <a:srgbClr val="E69132"/>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3688080" y="4063364"/>
            <a:ext cx="243840" cy="64294"/>
          </a:xfrm>
          <a:prstGeom prst="line">
            <a:avLst/>
          </a:prstGeom>
          <a:ln w="31750">
            <a:solidFill>
              <a:srgbClr val="E69132"/>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V="1">
            <a:off x="3931920" y="3999071"/>
            <a:ext cx="243840" cy="64293"/>
          </a:xfrm>
          <a:prstGeom prst="line">
            <a:avLst/>
          </a:prstGeom>
          <a:ln w="31750">
            <a:solidFill>
              <a:srgbClr val="E69132"/>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V="1">
            <a:off x="4175760" y="3934777"/>
            <a:ext cx="243840" cy="64294"/>
          </a:xfrm>
          <a:prstGeom prst="line">
            <a:avLst/>
          </a:prstGeom>
          <a:ln w="31750">
            <a:solidFill>
              <a:srgbClr val="E69132"/>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V="1">
            <a:off x="4419600" y="3870483"/>
            <a:ext cx="243840" cy="64294"/>
          </a:xfrm>
          <a:prstGeom prst="line">
            <a:avLst/>
          </a:prstGeom>
          <a:ln w="31750">
            <a:solidFill>
              <a:srgbClr val="E69132"/>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V="1">
            <a:off x="4663440" y="3806189"/>
            <a:ext cx="243840" cy="64294"/>
          </a:xfrm>
          <a:prstGeom prst="line">
            <a:avLst/>
          </a:prstGeom>
          <a:ln w="31750">
            <a:solidFill>
              <a:srgbClr val="E69132"/>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4907280" y="3741896"/>
            <a:ext cx="243840" cy="64293"/>
          </a:xfrm>
          <a:prstGeom prst="line">
            <a:avLst/>
          </a:prstGeom>
          <a:ln w="31750">
            <a:solidFill>
              <a:srgbClr val="E69132"/>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5151120" y="3677602"/>
            <a:ext cx="243840" cy="64294"/>
          </a:xfrm>
          <a:prstGeom prst="line">
            <a:avLst/>
          </a:prstGeom>
          <a:ln w="31750">
            <a:solidFill>
              <a:srgbClr val="E69132"/>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V="1">
            <a:off x="5394960" y="3613308"/>
            <a:ext cx="243839" cy="64294"/>
          </a:xfrm>
          <a:prstGeom prst="line">
            <a:avLst/>
          </a:prstGeom>
          <a:ln w="31750">
            <a:solidFill>
              <a:srgbClr val="E69132"/>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V="1">
            <a:off x="5638799" y="3549014"/>
            <a:ext cx="243841" cy="64294"/>
          </a:xfrm>
          <a:prstGeom prst="line">
            <a:avLst/>
          </a:prstGeom>
          <a:ln w="31750">
            <a:solidFill>
              <a:srgbClr val="E69132"/>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V="1">
            <a:off x="5882640" y="3484721"/>
            <a:ext cx="243840" cy="64293"/>
          </a:xfrm>
          <a:prstGeom prst="line">
            <a:avLst/>
          </a:prstGeom>
          <a:ln w="31750">
            <a:solidFill>
              <a:srgbClr val="E69132"/>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V="1">
            <a:off x="6126480" y="3420427"/>
            <a:ext cx="243840" cy="64294"/>
          </a:xfrm>
          <a:prstGeom prst="line">
            <a:avLst/>
          </a:prstGeom>
          <a:ln w="31750">
            <a:solidFill>
              <a:srgbClr val="E69132"/>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V="1">
            <a:off x="6370320" y="3356133"/>
            <a:ext cx="243840" cy="64294"/>
          </a:xfrm>
          <a:prstGeom prst="line">
            <a:avLst/>
          </a:prstGeom>
          <a:ln w="31750">
            <a:solidFill>
              <a:srgbClr val="E69132"/>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V="1">
            <a:off x="6614160" y="3291839"/>
            <a:ext cx="243840" cy="64294"/>
          </a:xfrm>
          <a:prstGeom prst="line">
            <a:avLst/>
          </a:prstGeom>
          <a:ln w="31750">
            <a:solidFill>
              <a:srgbClr val="E69132"/>
            </a:solidFill>
          </a:ln>
        </p:spPr>
        <p:style>
          <a:lnRef idx="2">
            <a:schemeClr val="accent1"/>
          </a:lnRef>
          <a:fillRef idx="0">
            <a:schemeClr val="accent1"/>
          </a:fillRef>
          <a:effectRef idx="1">
            <a:schemeClr val="accent1"/>
          </a:effectRef>
          <a:fontRef idx="minor">
            <a:schemeClr val="tx1"/>
          </a:fontRef>
        </p:style>
      </p:cxnSp>
      <p:sp>
        <p:nvSpPr>
          <p:cNvPr id="71" name="TextBox 70"/>
          <p:cNvSpPr txBox="1"/>
          <p:nvPr/>
        </p:nvSpPr>
        <p:spPr>
          <a:xfrm>
            <a:off x="7543800" y="3383280"/>
            <a:ext cx="3657600" cy="731520"/>
          </a:xfrm>
          <a:prstGeom prst="rect">
            <a:avLst/>
          </a:prstGeom>
          <a:noFill/>
        </p:spPr>
        <p:txBody>
          <a:bodyPr wrap="square" lIns="54864" tIns="54864" rIns="54864" bIns="54864" anchor="t">
            <a:spAutoFit/>
          </a:bodyPr>
          <a:lstStyle/>
          <a:p>
            <a:pPr algn="l">
              <a:spcAft>
                <a:spcPts val="0"/>
              </a:spcAft>
            </a:pPr>
            <a:r>
              <a:rPr sz="1500" b="1">
                <a:solidFill>
                  <a:srgbClr val="132645"/>
                </a:solidFill>
                <a:latin typeface="Aptos"/>
              </a:rPr>
              <a:t>A larger weight makes predictions more sensitive to study hours.</a:t>
            </a:r>
          </a:p>
        </p:txBody>
      </p:sp>
      <p:sp>
        <p:nvSpPr>
          <p:cNvPr id="72" name="TextBox 71"/>
          <p:cNvSpPr txBox="1"/>
          <p:nvPr/>
        </p:nvSpPr>
        <p:spPr>
          <a:xfrm>
            <a:off x="7543800" y="4434840"/>
            <a:ext cx="3657600" cy="822960"/>
          </a:xfrm>
          <a:prstGeom prst="rect">
            <a:avLst/>
          </a:prstGeom>
          <a:noFill/>
        </p:spPr>
        <p:txBody>
          <a:bodyPr wrap="square" lIns="54864" tIns="54864" rIns="54864" bIns="54864" anchor="t">
            <a:spAutoFit/>
          </a:bodyPr>
          <a:lstStyle/>
          <a:p>
            <a:pPr algn="l">
              <a:spcAft>
                <a:spcPts val="0"/>
              </a:spcAft>
            </a:pPr>
            <a:r>
              <a:rPr sz="1200" b="1">
                <a:solidFill>
                  <a:srgbClr val="C34949"/>
                </a:solidFill>
                <a:latin typeface="Aptos"/>
              </a:rPr>
              <a:t>Important: a larger weight alone does not prove overfitting. Generalization must be evaluated.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256032"/>
            <a:ext cx="10972800" cy="502920"/>
          </a:xfrm>
          <a:prstGeom prst="rect">
            <a:avLst/>
          </a:prstGeom>
          <a:noFill/>
        </p:spPr>
        <p:txBody>
          <a:bodyPr wrap="square" lIns="54864" tIns="54864" rIns="54864" bIns="54864" anchor="t">
            <a:spAutoFit/>
          </a:bodyPr>
          <a:lstStyle/>
          <a:p>
            <a:pPr algn="l">
              <a:spcAft>
                <a:spcPts val="0"/>
              </a:spcAft>
            </a:pPr>
            <a:r>
              <a:rPr sz="2700" b="1">
                <a:solidFill>
                  <a:srgbClr val="132645"/>
                </a:solidFill>
                <a:latin typeface="Aptos"/>
              </a:rPr>
              <a:t>Training, Validation, and Test Data</a:t>
            </a:r>
          </a:p>
        </p:txBody>
      </p:sp>
      <p:sp>
        <p:nvSpPr>
          <p:cNvPr id="4" name="Rectangle 3"/>
          <p:cNvSpPr/>
          <p:nvPr/>
        </p:nvSpPr>
        <p:spPr>
          <a:xfrm>
            <a:off x="585216" y="832104"/>
            <a:ext cx="731520" cy="50292"/>
          </a:xfrm>
          <a:prstGeom prst="rect">
            <a:avLst/>
          </a:prstGeom>
          <a:solidFill>
            <a:srgbClr val="1C9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464040" y="292608"/>
            <a:ext cx="2103120" cy="274320"/>
          </a:xfrm>
          <a:prstGeom prst="rect">
            <a:avLst/>
          </a:prstGeom>
          <a:noFill/>
        </p:spPr>
        <p:txBody>
          <a:bodyPr wrap="square" lIns="54864" tIns="54864" rIns="54864" bIns="54864" anchor="t">
            <a:spAutoFit/>
          </a:bodyPr>
          <a:lstStyle/>
          <a:p>
            <a:pPr algn="r">
              <a:spcAft>
                <a:spcPts val="0"/>
              </a:spcAft>
            </a:pPr>
            <a:r>
              <a:rPr sz="900" b="1">
                <a:solidFill>
                  <a:srgbClr val="657384"/>
                </a:solidFill>
                <a:latin typeface="Aptos"/>
              </a:rPr>
              <a:t>EVALUATION</a:t>
            </a:r>
          </a:p>
        </p:txBody>
      </p:sp>
      <p:sp>
        <p:nvSpPr>
          <p:cNvPr id="6" name="TextBox 5"/>
          <p:cNvSpPr txBox="1"/>
          <p:nvPr/>
        </p:nvSpPr>
        <p:spPr>
          <a:xfrm>
            <a:off x="594360" y="6510528"/>
            <a:ext cx="8961120" cy="164592"/>
          </a:xfrm>
          <a:prstGeom prst="rect">
            <a:avLst/>
          </a:prstGeom>
          <a:noFill/>
        </p:spPr>
        <p:txBody>
          <a:bodyPr wrap="square" lIns="54864" tIns="54864" rIns="54864" bIns="54864" anchor="t">
            <a:spAutoFit/>
          </a:bodyPr>
          <a:lstStyle/>
          <a:p>
            <a:pPr algn="l">
              <a:spcAft>
                <a:spcPts val="0"/>
              </a:spcAft>
            </a:pPr>
            <a:r>
              <a:rPr sz="800" b="0">
                <a:solidFill>
                  <a:srgbClr val="657384"/>
                </a:solidFill>
                <a:latin typeface="Aptos"/>
              </a:rPr>
              <a:t>UNDERSTANDING MACHINE LEARNING  •  TECHNICAL SEMINAR</a:t>
            </a:r>
          </a:p>
        </p:txBody>
      </p:sp>
      <p:sp>
        <p:nvSpPr>
          <p:cNvPr id="7" name="TextBox 6"/>
          <p:cNvSpPr txBox="1"/>
          <p:nvPr/>
        </p:nvSpPr>
        <p:spPr>
          <a:xfrm>
            <a:off x="11064240" y="6473952"/>
            <a:ext cx="502920" cy="201168"/>
          </a:xfrm>
          <a:prstGeom prst="rect">
            <a:avLst/>
          </a:prstGeom>
          <a:noFill/>
        </p:spPr>
        <p:txBody>
          <a:bodyPr wrap="square" lIns="54864" tIns="54864" rIns="54864" bIns="54864" anchor="t">
            <a:spAutoFit/>
          </a:bodyPr>
          <a:lstStyle/>
          <a:p>
            <a:pPr algn="r">
              <a:spcAft>
                <a:spcPts val="0"/>
              </a:spcAft>
            </a:pPr>
            <a:r>
              <a:rPr sz="900" b="1">
                <a:solidFill>
                  <a:srgbClr val="657384"/>
                </a:solidFill>
                <a:latin typeface="Aptos"/>
              </a:rPr>
              <a:t>06</a:t>
            </a:r>
          </a:p>
        </p:txBody>
      </p:sp>
      <p:sp>
        <p:nvSpPr>
          <p:cNvPr id="8" name="Rectangle 7"/>
          <p:cNvSpPr/>
          <p:nvPr/>
        </p:nvSpPr>
        <p:spPr>
          <a:xfrm>
            <a:off x="914400" y="1463040"/>
            <a:ext cx="6400800" cy="777240"/>
          </a:xfrm>
          <a:prstGeom prst="rect">
            <a:avLst/>
          </a:prstGeom>
          <a:solidFill>
            <a:srgbClr val="2D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60120" y="1627632"/>
            <a:ext cx="6309360" cy="384048"/>
          </a:xfrm>
          <a:prstGeom prst="rect">
            <a:avLst/>
          </a:prstGeom>
          <a:noFill/>
        </p:spPr>
        <p:txBody>
          <a:bodyPr wrap="square" lIns="54864" tIns="54864" rIns="54864" bIns="54864" anchor="ctr">
            <a:spAutoFit/>
          </a:bodyPr>
          <a:lstStyle/>
          <a:p>
            <a:pPr algn="ctr">
              <a:spcAft>
                <a:spcPts val="0"/>
              </a:spcAft>
            </a:pPr>
            <a:r>
              <a:rPr sz="1400" b="1">
                <a:solidFill>
                  <a:srgbClr val="FFFFFF"/>
                </a:solidFill>
                <a:latin typeface="Aptos"/>
              </a:rPr>
              <a:t>Training
70%</a:t>
            </a:r>
          </a:p>
        </p:txBody>
      </p:sp>
      <p:sp>
        <p:nvSpPr>
          <p:cNvPr id="10" name="Rectangle 9"/>
          <p:cNvSpPr/>
          <p:nvPr/>
        </p:nvSpPr>
        <p:spPr>
          <a:xfrm>
            <a:off x="7315200" y="1463040"/>
            <a:ext cx="1371600" cy="777240"/>
          </a:xfrm>
          <a:prstGeom prst="rect">
            <a:avLst/>
          </a:prstGeom>
          <a:solidFill>
            <a:srgbClr val="E69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360920" y="1627632"/>
            <a:ext cx="1280160" cy="384048"/>
          </a:xfrm>
          <a:prstGeom prst="rect">
            <a:avLst/>
          </a:prstGeom>
          <a:noFill/>
        </p:spPr>
        <p:txBody>
          <a:bodyPr wrap="square" lIns="54864" tIns="54864" rIns="54864" bIns="54864" anchor="ctr">
            <a:spAutoFit/>
          </a:bodyPr>
          <a:lstStyle/>
          <a:p>
            <a:pPr algn="ctr">
              <a:spcAft>
                <a:spcPts val="0"/>
              </a:spcAft>
            </a:pPr>
            <a:r>
              <a:rPr sz="1400" b="1">
                <a:solidFill>
                  <a:srgbClr val="FFFFFF"/>
                </a:solidFill>
                <a:latin typeface="Aptos"/>
              </a:rPr>
              <a:t>Validation
15%</a:t>
            </a:r>
          </a:p>
        </p:txBody>
      </p:sp>
      <p:sp>
        <p:nvSpPr>
          <p:cNvPr id="12" name="Rectangle 11"/>
          <p:cNvSpPr/>
          <p:nvPr/>
        </p:nvSpPr>
        <p:spPr>
          <a:xfrm>
            <a:off x="8686800" y="1463040"/>
            <a:ext cx="1371600" cy="777240"/>
          </a:xfrm>
          <a:prstGeom prst="rect">
            <a:avLst/>
          </a:prstGeom>
          <a:solidFill>
            <a:srgbClr val="1C9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732520" y="1627632"/>
            <a:ext cx="1280160" cy="384048"/>
          </a:xfrm>
          <a:prstGeom prst="rect">
            <a:avLst/>
          </a:prstGeom>
          <a:noFill/>
        </p:spPr>
        <p:txBody>
          <a:bodyPr wrap="square" lIns="54864" tIns="54864" rIns="54864" bIns="54864" anchor="ctr">
            <a:spAutoFit/>
          </a:bodyPr>
          <a:lstStyle/>
          <a:p>
            <a:pPr algn="ctr">
              <a:spcAft>
                <a:spcPts val="0"/>
              </a:spcAft>
            </a:pPr>
            <a:r>
              <a:rPr sz="1400" b="1">
                <a:solidFill>
                  <a:srgbClr val="FFFFFF"/>
                </a:solidFill>
                <a:latin typeface="Aptos"/>
              </a:rPr>
              <a:t>Test
15%</a:t>
            </a:r>
          </a:p>
        </p:txBody>
      </p:sp>
      <p:sp>
        <p:nvSpPr>
          <p:cNvPr id="14" name="Rounded Rectangle 13"/>
          <p:cNvSpPr/>
          <p:nvPr/>
        </p:nvSpPr>
        <p:spPr>
          <a:xfrm>
            <a:off x="822960" y="2743200"/>
            <a:ext cx="3429000" cy="1508760"/>
          </a:xfrm>
          <a:prstGeom prst="roundRect">
            <a:avLst/>
          </a:prstGeom>
          <a:solidFill>
            <a:srgbClr val="E6EFFB"/>
          </a:solidFill>
          <a:ln w="12700">
            <a:solidFill>
              <a:srgbClr val="DEE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22960" y="2743200"/>
            <a:ext cx="73152" cy="1508760"/>
          </a:xfrm>
          <a:prstGeom prst="rect">
            <a:avLst/>
          </a:prstGeom>
          <a:solidFill>
            <a:srgbClr val="2D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024128" y="2889504"/>
            <a:ext cx="3081528" cy="310896"/>
          </a:xfrm>
          <a:prstGeom prst="rect">
            <a:avLst/>
          </a:prstGeom>
          <a:noFill/>
        </p:spPr>
        <p:txBody>
          <a:bodyPr wrap="square" lIns="54864" tIns="54864" rIns="54864" bIns="54864" anchor="t">
            <a:spAutoFit/>
          </a:bodyPr>
          <a:lstStyle/>
          <a:p>
            <a:pPr algn="l">
              <a:spcAft>
                <a:spcPts val="0"/>
              </a:spcAft>
            </a:pPr>
            <a:r>
              <a:rPr sz="1600" b="1">
                <a:solidFill>
                  <a:srgbClr val="132645"/>
                </a:solidFill>
                <a:latin typeface="Aptos"/>
              </a:rPr>
              <a:t>Training data</a:t>
            </a:r>
          </a:p>
        </p:txBody>
      </p:sp>
      <p:sp>
        <p:nvSpPr>
          <p:cNvPr id="17" name="TextBox 16"/>
          <p:cNvSpPr txBox="1"/>
          <p:nvPr/>
        </p:nvSpPr>
        <p:spPr>
          <a:xfrm>
            <a:off x="1024128" y="3273552"/>
            <a:ext cx="3081528" cy="886967"/>
          </a:xfrm>
          <a:prstGeom prst="rect">
            <a:avLst/>
          </a:prstGeom>
          <a:noFill/>
        </p:spPr>
        <p:txBody>
          <a:bodyPr wrap="square" lIns="54864" tIns="54864" rIns="54864" bIns="54864" anchor="t">
            <a:spAutoFit/>
          </a:bodyPr>
          <a:lstStyle/>
          <a:p>
            <a:pPr algn="l">
              <a:spcAft>
                <a:spcPts val="0"/>
              </a:spcAft>
            </a:pPr>
            <a:r>
              <a:rPr sz="1400" b="0">
                <a:solidFill>
                  <a:srgbClr val="273343"/>
                </a:solidFill>
                <a:latin typeface="Aptos"/>
              </a:rPr>
              <a:t>Learn the model parameters (weights).</a:t>
            </a:r>
          </a:p>
        </p:txBody>
      </p:sp>
      <p:sp>
        <p:nvSpPr>
          <p:cNvPr id="18" name="Rounded Rectangle 17"/>
          <p:cNvSpPr/>
          <p:nvPr/>
        </p:nvSpPr>
        <p:spPr>
          <a:xfrm>
            <a:off x="4389120" y="2743200"/>
            <a:ext cx="3429000" cy="1508760"/>
          </a:xfrm>
          <a:prstGeom prst="roundRect">
            <a:avLst/>
          </a:prstGeom>
          <a:solidFill>
            <a:srgbClr val="FCF1E1"/>
          </a:solidFill>
          <a:ln w="12700">
            <a:solidFill>
              <a:srgbClr val="DEE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4389120" y="2743200"/>
            <a:ext cx="73152" cy="1508760"/>
          </a:xfrm>
          <a:prstGeom prst="rect">
            <a:avLst/>
          </a:prstGeom>
          <a:solidFill>
            <a:srgbClr val="E69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590288" y="2889504"/>
            <a:ext cx="3081528" cy="310896"/>
          </a:xfrm>
          <a:prstGeom prst="rect">
            <a:avLst/>
          </a:prstGeom>
          <a:noFill/>
        </p:spPr>
        <p:txBody>
          <a:bodyPr wrap="square" lIns="54864" tIns="54864" rIns="54864" bIns="54864" anchor="t">
            <a:spAutoFit/>
          </a:bodyPr>
          <a:lstStyle/>
          <a:p>
            <a:pPr algn="l">
              <a:spcAft>
                <a:spcPts val="0"/>
              </a:spcAft>
            </a:pPr>
            <a:r>
              <a:rPr sz="1600" b="1">
                <a:solidFill>
                  <a:srgbClr val="132645"/>
                </a:solidFill>
                <a:latin typeface="Aptos"/>
              </a:rPr>
              <a:t>Validation data</a:t>
            </a:r>
          </a:p>
        </p:txBody>
      </p:sp>
      <p:sp>
        <p:nvSpPr>
          <p:cNvPr id="21" name="TextBox 20"/>
          <p:cNvSpPr txBox="1"/>
          <p:nvPr/>
        </p:nvSpPr>
        <p:spPr>
          <a:xfrm>
            <a:off x="4590288" y="3273552"/>
            <a:ext cx="3081528" cy="886967"/>
          </a:xfrm>
          <a:prstGeom prst="rect">
            <a:avLst/>
          </a:prstGeom>
          <a:noFill/>
        </p:spPr>
        <p:txBody>
          <a:bodyPr wrap="square" lIns="54864" tIns="54864" rIns="54864" bIns="54864" anchor="t">
            <a:spAutoFit/>
          </a:bodyPr>
          <a:lstStyle/>
          <a:p>
            <a:pPr algn="l">
              <a:spcAft>
                <a:spcPts val="0"/>
              </a:spcAft>
            </a:pPr>
            <a:r>
              <a:rPr sz="1400" b="0">
                <a:solidFill>
                  <a:srgbClr val="273343"/>
                </a:solidFill>
                <a:latin typeface="Aptos"/>
              </a:rPr>
              <a:t>Tune settings and select a model or checkpoint.</a:t>
            </a:r>
          </a:p>
        </p:txBody>
      </p:sp>
      <p:sp>
        <p:nvSpPr>
          <p:cNvPr id="22" name="Rounded Rectangle 21"/>
          <p:cNvSpPr/>
          <p:nvPr/>
        </p:nvSpPr>
        <p:spPr>
          <a:xfrm>
            <a:off x="7955279" y="2743200"/>
            <a:ext cx="3429000" cy="1508760"/>
          </a:xfrm>
          <a:prstGeom prst="roundRect">
            <a:avLst/>
          </a:prstGeom>
          <a:solidFill>
            <a:srgbClr val="E2F5F1"/>
          </a:solidFill>
          <a:ln w="12700">
            <a:solidFill>
              <a:srgbClr val="DEE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7955279" y="2743200"/>
            <a:ext cx="73152" cy="1508760"/>
          </a:xfrm>
          <a:prstGeom prst="rect">
            <a:avLst/>
          </a:prstGeom>
          <a:solidFill>
            <a:srgbClr val="1C9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156448" y="2889504"/>
            <a:ext cx="3081528" cy="310896"/>
          </a:xfrm>
          <a:prstGeom prst="rect">
            <a:avLst/>
          </a:prstGeom>
          <a:noFill/>
        </p:spPr>
        <p:txBody>
          <a:bodyPr wrap="square" lIns="54864" tIns="54864" rIns="54864" bIns="54864" anchor="t">
            <a:spAutoFit/>
          </a:bodyPr>
          <a:lstStyle/>
          <a:p>
            <a:pPr algn="l">
              <a:spcAft>
                <a:spcPts val="0"/>
              </a:spcAft>
            </a:pPr>
            <a:r>
              <a:rPr sz="1600" b="1">
                <a:solidFill>
                  <a:srgbClr val="132645"/>
                </a:solidFill>
                <a:latin typeface="Aptos"/>
              </a:rPr>
              <a:t>Test data</a:t>
            </a:r>
          </a:p>
        </p:txBody>
      </p:sp>
      <p:sp>
        <p:nvSpPr>
          <p:cNvPr id="25" name="TextBox 24"/>
          <p:cNvSpPr txBox="1"/>
          <p:nvPr/>
        </p:nvSpPr>
        <p:spPr>
          <a:xfrm>
            <a:off x="8156448" y="3273552"/>
            <a:ext cx="3081528" cy="886967"/>
          </a:xfrm>
          <a:prstGeom prst="rect">
            <a:avLst/>
          </a:prstGeom>
          <a:noFill/>
        </p:spPr>
        <p:txBody>
          <a:bodyPr wrap="square" lIns="54864" tIns="54864" rIns="54864" bIns="54864" anchor="t">
            <a:spAutoFit/>
          </a:bodyPr>
          <a:lstStyle/>
          <a:p>
            <a:pPr algn="l">
              <a:spcAft>
                <a:spcPts val="0"/>
              </a:spcAft>
            </a:pPr>
            <a:r>
              <a:rPr sz="1400" b="0">
                <a:solidFill>
                  <a:srgbClr val="273343"/>
                </a:solidFill>
                <a:latin typeface="Aptos"/>
              </a:rPr>
              <a:t>Final evaluation after model selection. Keep untouched until then.</a:t>
            </a:r>
          </a:p>
        </p:txBody>
      </p:sp>
      <p:sp>
        <p:nvSpPr>
          <p:cNvPr id="26" name="TextBox 25"/>
          <p:cNvSpPr txBox="1"/>
          <p:nvPr/>
        </p:nvSpPr>
        <p:spPr>
          <a:xfrm>
            <a:off x="868680" y="4800600"/>
            <a:ext cx="10698480" cy="502920"/>
          </a:xfrm>
          <a:prstGeom prst="rect">
            <a:avLst/>
          </a:prstGeom>
          <a:noFill/>
        </p:spPr>
        <p:txBody>
          <a:bodyPr wrap="square" lIns="54864" tIns="54864" rIns="54864" bIns="54864" anchor="t">
            <a:spAutoFit/>
          </a:bodyPr>
          <a:lstStyle/>
          <a:p>
            <a:pPr algn="ctr">
              <a:spcAft>
                <a:spcPts val="0"/>
              </a:spcAft>
            </a:pPr>
            <a:r>
              <a:rPr sz="1600" b="1">
                <a:solidFill>
                  <a:srgbClr val="132645"/>
                </a:solidFill>
                <a:latin typeface="Aptos"/>
              </a:rPr>
              <a:t>Workflow: Split → Train → Validate and tune → Select model → Final test</a:t>
            </a:r>
          </a:p>
        </p:txBody>
      </p:sp>
      <p:sp>
        <p:nvSpPr>
          <p:cNvPr id="27" name="TextBox 26"/>
          <p:cNvSpPr txBox="1"/>
          <p:nvPr/>
        </p:nvSpPr>
        <p:spPr>
          <a:xfrm>
            <a:off x="868680" y="5532120"/>
            <a:ext cx="10515600" cy="411480"/>
          </a:xfrm>
          <a:prstGeom prst="rect">
            <a:avLst/>
          </a:prstGeom>
          <a:noFill/>
        </p:spPr>
        <p:txBody>
          <a:bodyPr wrap="square" lIns="54864" tIns="54864" rIns="54864" bIns="54864" anchor="t">
            <a:spAutoFit/>
          </a:bodyPr>
          <a:lstStyle/>
          <a:p>
            <a:pPr algn="l">
              <a:spcAft>
                <a:spcPts val="0"/>
              </a:spcAft>
            </a:pPr>
            <a:r>
              <a:rPr sz="1000" b="0">
                <a:solidFill>
                  <a:srgbClr val="657384"/>
                </a:solidFill>
                <a:latin typeface="Aptos"/>
              </a:rPr>
              <a:t>70 / 15 / 15 is one possible split—not a universal rule. Split before fitting preprocessing steps.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256032"/>
            <a:ext cx="10972800" cy="502920"/>
          </a:xfrm>
          <a:prstGeom prst="rect">
            <a:avLst/>
          </a:prstGeom>
          <a:noFill/>
        </p:spPr>
        <p:txBody>
          <a:bodyPr wrap="square" lIns="54864" tIns="54864" rIns="54864" bIns="54864" anchor="t">
            <a:spAutoFit/>
          </a:bodyPr>
          <a:lstStyle/>
          <a:p>
            <a:pPr algn="l">
              <a:spcAft>
                <a:spcPts val="0"/>
              </a:spcAft>
            </a:pPr>
            <a:r>
              <a:rPr sz="2700" b="1">
                <a:solidFill>
                  <a:srgbClr val="132645"/>
                </a:solidFill>
                <a:latin typeface="Aptos"/>
              </a:rPr>
              <a:t>What Are Bias and Variance?</a:t>
            </a:r>
          </a:p>
        </p:txBody>
      </p:sp>
      <p:sp>
        <p:nvSpPr>
          <p:cNvPr id="4" name="Rectangle 3"/>
          <p:cNvSpPr/>
          <p:nvPr/>
        </p:nvSpPr>
        <p:spPr>
          <a:xfrm>
            <a:off x="585216" y="832104"/>
            <a:ext cx="731520" cy="50292"/>
          </a:xfrm>
          <a:prstGeom prst="rect">
            <a:avLst/>
          </a:prstGeom>
          <a:solidFill>
            <a:srgbClr val="1C9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464040" y="292608"/>
            <a:ext cx="2103120" cy="274320"/>
          </a:xfrm>
          <a:prstGeom prst="rect">
            <a:avLst/>
          </a:prstGeom>
          <a:noFill/>
        </p:spPr>
        <p:txBody>
          <a:bodyPr wrap="square" lIns="54864" tIns="54864" rIns="54864" bIns="54864" anchor="t">
            <a:spAutoFit/>
          </a:bodyPr>
          <a:lstStyle/>
          <a:p>
            <a:pPr algn="r">
              <a:spcAft>
                <a:spcPts val="0"/>
              </a:spcAft>
            </a:pPr>
            <a:r>
              <a:rPr sz="900" b="1">
                <a:solidFill>
                  <a:srgbClr val="657384"/>
                </a:solidFill>
                <a:latin typeface="Aptos"/>
              </a:rPr>
              <a:t>MODEL BEHAVIOR</a:t>
            </a:r>
          </a:p>
        </p:txBody>
      </p:sp>
      <p:sp>
        <p:nvSpPr>
          <p:cNvPr id="6" name="TextBox 5"/>
          <p:cNvSpPr txBox="1"/>
          <p:nvPr/>
        </p:nvSpPr>
        <p:spPr>
          <a:xfrm>
            <a:off x="594360" y="6510528"/>
            <a:ext cx="8961120" cy="164592"/>
          </a:xfrm>
          <a:prstGeom prst="rect">
            <a:avLst/>
          </a:prstGeom>
          <a:noFill/>
        </p:spPr>
        <p:txBody>
          <a:bodyPr wrap="square" lIns="54864" tIns="54864" rIns="54864" bIns="54864" anchor="t">
            <a:spAutoFit/>
          </a:bodyPr>
          <a:lstStyle/>
          <a:p>
            <a:pPr algn="l">
              <a:spcAft>
                <a:spcPts val="0"/>
              </a:spcAft>
            </a:pPr>
            <a:r>
              <a:rPr sz="800" b="0">
                <a:solidFill>
                  <a:srgbClr val="657384"/>
                </a:solidFill>
                <a:latin typeface="Aptos"/>
              </a:rPr>
              <a:t>UNDERSTANDING MACHINE LEARNING  •  TECHNICAL SEMINAR</a:t>
            </a:r>
          </a:p>
        </p:txBody>
      </p:sp>
      <p:sp>
        <p:nvSpPr>
          <p:cNvPr id="7" name="TextBox 6"/>
          <p:cNvSpPr txBox="1"/>
          <p:nvPr/>
        </p:nvSpPr>
        <p:spPr>
          <a:xfrm>
            <a:off x="11064240" y="6473952"/>
            <a:ext cx="502920" cy="201168"/>
          </a:xfrm>
          <a:prstGeom prst="rect">
            <a:avLst/>
          </a:prstGeom>
          <a:noFill/>
        </p:spPr>
        <p:txBody>
          <a:bodyPr wrap="square" lIns="54864" tIns="54864" rIns="54864" bIns="54864" anchor="t">
            <a:spAutoFit/>
          </a:bodyPr>
          <a:lstStyle/>
          <a:p>
            <a:pPr algn="r">
              <a:spcAft>
                <a:spcPts val="0"/>
              </a:spcAft>
            </a:pPr>
            <a:r>
              <a:rPr sz="900" b="1">
                <a:solidFill>
                  <a:srgbClr val="657384"/>
                </a:solidFill>
                <a:latin typeface="Aptos"/>
              </a:rPr>
              <a:t>07</a:t>
            </a:r>
          </a:p>
        </p:txBody>
      </p:sp>
      <p:sp>
        <p:nvSpPr>
          <p:cNvPr id="8" name="Rounded Rectangle 7"/>
          <p:cNvSpPr/>
          <p:nvPr/>
        </p:nvSpPr>
        <p:spPr>
          <a:xfrm>
            <a:off x="822960" y="1508760"/>
            <a:ext cx="3246120" cy="1371600"/>
          </a:xfrm>
          <a:prstGeom prst="roundRect">
            <a:avLst/>
          </a:prstGeom>
          <a:solidFill>
            <a:srgbClr val="E6EFFB"/>
          </a:solidFill>
          <a:ln w="12700">
            <a:solidFill>
              <a:srgbClr val="DEE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822960" y="1508760"/>
            <a:ext cx="73152" cy="1371600"/>
          </a:xfrm>
          <a:prstGeom prst="rect">
            <a:avLst/>
          </a:prstGeom>
          <a:solidFill>
            <a:srgbClr val="2D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24128" y="1655063"/>
            <a:ext cx="2898648" cy="310896"/>
          </a:xfrm>
          <a:prstGeom prst="rect">
            <a:avLst/>
          </a:prstGeom>
          <a:noFill/>
        </p:spPr>
        <p:txBody>
          <a:bodyPr wrap="square" lIns="54864" tIns="54864" rIns="54864" bIns="54864" anchor="t">
            <a:spAutoFit/>
          </a:bodyPr>
          <a:lstStyle/>
          <a:p>
            <a:pPr algn="l">
              <a:spcAft>
                <a:spcPts val="0"/>
              </a:spcAft>
            </a:pPr>
            <a:r>
              <a:rPr sz="1600" b="1">
                <a:solidFill>
                  <a:srgbClr val="132645"/>
                </a:solidFill>
                <a:latin typeface="Aptos"/>
              </a:rPr>
              <a:t>High bias</a:t>
            </a:r>
          </a:p>
        </p:txBody>
      </p:sp>
      <p:sp>
        <p:nvSpPr>
          <p:cNvPr id="11" name="TextBox 10"/>
          <p:cNvSpPr txBox="1"/>
          <p:nvPr/>
        </p:nvSpPr>
        <p:spPr>
          <a:xfrm>
            <a:off x="1024128" y="2039112"/>
            <a:ext cx="2898648" cy="749808"/>
          </a:xfrm>
          <a:prstGeom prst="rect">
            <a:avLst/>
          </a:prstGeom>
          <a:noFill/>
        </p:spPr>
        <p:txBody>
          <a:bodyPr wrap="square" lIns="54864" tIns="54864" rIns="54864" bIns="54864" anchor="t">
            <a:spAutoFit/>
          </a:bodyPr>
          <a:lstStyle/>
          <a:p>
            <a:pPr algn="l">
              <a:spcAft>
                <a:spcPts val="0"/>
              </a:spcAft>
            </a:pPr>
            <a:r>
              <a:rPr sz="1300" b="0">
                <a:solidFill>
                  <a:srgbClr val="273343"/>
                </a:solidFill>
                <a:latin typeface="Aptos"/>
              </a:rPr>
              <a:t>Model assumptions are too simple; important patterns are missed.</a:t>
            </a:r>
          </a:p>
        </p:txBody>
      </p:sp>
      <p:sp>
        <p:nvSpPr>
          <p:cNvPr id="12" name="Rounded Rectangle 11"/>
          <p:cNvSpPr/>
          <p:nvPr/>
        </p:nvSpPr>
        <p:spPr>
          <a:xfrm>
            <a:off x="4480560" y="1508760"/>
            <a:ext cx="3246120" cy="1371600"/>
          </a:xfrm>
          <a:prstGeom prst="roundRect">
            <a:avLst/>
          </a:prstGeom>
          <a:solidFill>
            <a:srgbClr val="FCF1E1"/>
          </a:solidFill>
          <a:ln w="12700">
            <a:solidFill>
              <a:srgbClr val="DEE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480560" y="1508760"/>
            <a:ext cx="73152" cy="1371600"/>
          </a:xfrm>
          <a:prstGeom prst="rect">
            <a:avLst/>
          </a:prstGeom>
          <a:solidFill>
            <a:srgbClr val="E69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681728" y="1655063"/>
            <a:ext cx="2898648" cy="310896"/>
          </a:xfrm>
          <a:prstGeom prst="rect">
            <a:avLst/>
          </a:prstGeom>
          <a:noFill/>
        </p:spPr>
        <p:txBody>
          <a:bodyPr wrap="square" lIns="54864" tIns="54864" rIns="54864" bIns="54864" anchor="t">
            <a:spAutoFit/>
          </a:bodyPr>
          <a:lstStyle/>
          <a:p>
            <a:pPr algn="l">
              <a:spcAft>
                <a:spcPts val="0"/>
              </a:spcAft>
            </a:pPr>
            <a:r>
              <a:rPr sz="1600" b="1">
                <a:solidFill>
                  <a:srgbClr val="132645"/>
                </a:solidFill>
                <a:latin typeface="Aptos"/>
              </a:rPr>
              <a:t>High variance</a:t>
            </a:r>
          </a:p>
        </p:txBody>
      </p:sp>
      <p:sp>
        <p:nvSpPr>
          <p:cNvPr id="15" name="TextBox 14"/>
          <p:cNvSpPr txBox="1"/>
          <p:nvPr/>
        </p:nvSpPr>
        <p:spPr>
          <a:xfrm>
            <a:off x="4681728" y="2039112"/>
            <a:ext cx="2898648" cy="749808"/>
          </a:xfrm>
          <a:prstGeom prst="rect">
            <a:avLst/>
          </a:prstGeom>
          <a:noFill/>
        </p:spPr>
        <p:txBody>
          <a:bodyPr wrap="square" lIns="54864" tIns="54864" rIns="54864" bIns="54864" anchor="t">
            <a:spAutoFit/>
          </a:bodyPr>
          <a:lstStyle/>
          <a:p>
            <a:pPr algn="l">
              <a:spcAft>
                <a:spcPts val="0"/>
              </a:spcAft>
            </a:pPr>
            <a:r>
              <a:rPr sz="1300" b="0">
                <a:solidFill>
                  <a:srgbClr val="273343"/>
                </a:solidFill>
                <a:latin typeface="Aptos"/>
              </a:rPr>
              <a:t>Model changes substantially when the training sample changes.</a:t>
            </a:r>
          </a:p>
        </p:txBody>
      </p:sp>
      <p:sp>
        <p:nvSpPr>
          <p:cNvPr id="16" name="Rounded Rectangle 15"/>
          <p:cNvSpPr/>
          <p:nvPr/>
        </p:nvSpPr>
        <p:spPr>
          <a:xfrm>
            <a:off x="8138160" y="1508760"/>
            <a:ext cx="3246120" cy="1371600"/>
          </a:xfrm>
          <a:prstGeom prst="roundRect">
            <a:avLst/>
          </a:prstGeom>
          <a:solidFill>
            <a:srgbClr val="E2F5F1"/>
          </a:solidFill>
          <a:ln w="12700">
            <a:solidFill>
              <a:srgbClr val="DEE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138160" y="1508760"/>
            <a:ext cx="73152" cy="1371600"/>
          </a:xfrm>
          <a:prstGeom prst="rect">
            <a:avLst/>
          </a:prstGeom>
          <a:solidFill>
            <a:srgbClr val="1C9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339328" y="1655063"/>
            <a:ext cx="2898648" cy="310896"/>
          </a:xfrm>
          <a:prstGeom prst="rect">
            <a:avLst/>
          </a:prstGeom>
          <a:noFill/>
        </p:spPr>
        <p:txBody>
          <a:bodyPr wrap="square" lIns="54864" tIns="54864" rIns="54864" bIns="54864" anchor="t">
            <a:spAutoFit/>
          </a:bodyPr>
          <a:lstStyle/>
          <a:p>
            <a:pPr algn="l">
              <a:spcAft>
                <a:spcPts val="0"/>
              </a:spcAft>
            </a:pPr>
            <a:r>
              <a:rPr sz="1600" b="1">
                <a:solidFill>
                  <a:srgbClr val="132645"/>
                </a:solidFill>
                <a:latin typeface="Aptos"/>
              </a:rPr>
              <a:t>Goal</a:t>
            </a:r>
          </a:p>
        </p:txBody>
      </p:sp>
      <p:sp>
        <p:nvSpPr>
          <p:cNvPr id="19" name="TextBox 18"/>
          <p:cNvSpPr txBox="1"/>
          <p:nvPr/>
        </p:nvSpPr>
        <p:spPr>
          <a:xfrm>
            <a:off x="8339328" y="2039112"/>
            <a:ext cx="2898648" cy="749808"/>
          </a:xfrm>
          <a:prstGeom prst="rect">
            <a:avLst/>
          </a:prstGeom>
          <a:noFill/>
        </p:spPr>
        <p:txBody>
          <a:bodyPr wrap="square" lIns="54864" tIns="54864" rIns="54864" bIns="54864" anchor="t">
            <a:spAutoFit/>
          </a:bodyPr>
          <a:lstStyle/>
          <a:p>
            <a:pPr algn="l">
              <a:spcAft>
                <a:spcPts val="0"/>
              </a:spcAft>
            </a:pPr>
            <a:r>
              <a:rPr sz="1300" b="0">
                <a:solidFill>
                  <a:srgbClr val="273343"/>
                </a:solidFill>
                <a:latin typeface="Aptos"/>
              </a:rPr>
              <a:t>Capture useful patterns while remaining stable on new data.</a:t>
            </a:r>
          </a:p>
        </p:txBody>
      </p:sp>
      <p:sp>
        <p:nvSpPr>
          <p:cNvPr id="20" name="TextBox 19"/>
          <p:cNvSpPr txBox="1"/>
          <p:nvPr/>
        </p:nvSpPr>
        <p:spPr>
          <a:xfrm>
            <a:off x="1005840" y="3383280"/>
            <a:ext cx="2926080" cy="320040"/>
          </a:xfrm>
          <a:prstGeom prst="rect">
            <a:avLst/>
          </a:prstGeom>
          <a:noFill/>
        </p:spPr>
        <p:txBody>
          <a:bodyPr wrap="square" lIns="54864" tIns="54864" rIns="54864" bIns="54864" anchor="t">
            <a:spAutoFit/>
          </a:bodyPr>
          <a:lstStyle/>
          <a:p>
            <a:pPr algn="ctr">
              <a:spcAft>
                <a:spcPts val="0"/>
              </a:spcAft>
            </a:pPr>
            <a:r>
              <a:rPr sz="1100" b="1">
                <a:solidFill>
                  <a:srgbClr val="132645"/>
                </a:solidFill>
                <a:latin typeface="Aptos"/>
              </a:rPr>
              <a:t>High bias • consistent but off-target</a:t>
            </a:r>
          </a:p>
        </p:txBody>
      </p:sp>
      <p:sp>
        <p:nvSpPr>
          <p:cNvPr id="21" name="Oval 20"/>
          <p:cNvSpPr/>
          <p:nvPr/>
        </p:nvSpPr>
        <p:spPr>
          <a:xfrm>
            <a:off x="1828800" y="3931920"/>
            <a:ext cx="1280160" cy="1280160"/>
          </a:xfrm>
          <a:prstGeom prst="ellipse">
            <a:avLst/>
          </a:prstGeom>
          <a:solidFill>
            <a:srgbClr val="DEE6E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2033625" y="4136745"/>
            <a:ext cx="870508" cy="870508"/>
          </a:xfrm>
          <a:prstGeom prst="ellipse">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2225649" y="4328769"/>
            <a:ext cx="486460" cy="486460"/>
          </a:xfrm>
          <a:prstGeom prst="ellipse">
            <a:avLst/>
          </a:prstGeom>
          <a:solidFill>
            <a:srgbClr val="FAE8E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2379268" y="4482388"/>
            <a:ext cx="179222" cy="179222"/>
          </a:xfrm>
          <a:prstGeom prst="ellipse">
            <a:avLst/>
          </a:prstGeom>
          <a:solidFill>
            <a:srgbClr val="C3494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2217420" y="4338828"/>
            <a:ext cx="100584" cy="100584"/>
          </a:xfrm>
          <a:prstGeom prst="ellipse">
            <a:avLst/>
          </a:prstGeom>
          <a:solidFill>
            <a:srgbClr val="2D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2601468" y="4384548"/>
            <a:ext cx="100584" cy="100584"/>
          </a:xfrm>
          <a:prstGeom prst="ellipse">
            <a:avLst/>
          </a:prstGeom>
          <a:solidFill>
            <a:srgbClr val="2D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2327148" y="4686300"/>
            <a:ext cx="100584" cy="100584"/>
          </a:xfrm>
          <a:prstGeom prst="ellipse">
            <a:avLst/>
          </a:prstGeom>
          <a:solidFill>
            <a:srgbClr val="2D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2619756" y="4658868"/>
            <a:ext cx="100584" cy="100584"/>
          </a:xfrm>
          <a:prstGeom prst="ellipse">
            <a:avLst/>
          </a:prstGeom>
          <a:solidFill>
            <a:srgbClr val="2D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572000" y="3383280"/>
            <a:ext cx="3017520" cy="320040"/>
          </a:xfrm>
          <a:prstGeom prst="rect">
            <a:avLst/>
          </a:prstGeom>
          <a:noFill/>
        </p:spPr>
        <p:txBody>
          <a:bodyPr wrap="square" lIns="54864" tIns="54864" rIns="54864" bIns="54864" anchor="t">
            <a:spAutoFit/>
          </a:bodyPr>
          <a:lstStyle/>
          <a:p>
            <a:pPr algn="ctr">
              <a:spcAft>
                <a:spcPts val="0"/>
              </a:spcAft>
            </a:pPr>
            <a:r>
              <a:rPr sz="1100" b="1">
                <a:solidFill>
                  <a:srgbClr val="132645"/>
                </a:solidFill>
                <a:latin typeface="Aptos"/>
              </a:rPr>
              <a:t>High variance • scattered results</a:t>
            </a:r>
          </a:p>
        </p:txBody>
      </p:sp>
      <p:sp>
        <p:nvSpPr>
          <p:cNvPr id="30" name="Oval 29"/>
          <p:cNvSpPr/>
          <p:nvPr/>
        </p:nvSpPr>
        <p:spPr>
          <a:xfrm>
            <a:off x="5486400" y="3931920"/>
            <a:ext cx="1280160" cy="1280160"/>
          </a:xfrm>
          <a:prstGeom prst="ellipse">
            <a:avLst/>
          </a:prstGeom>
          <a:solidFill>
            <a:srgbClr val="DEE6E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5691225" y="4136745"/>
            <a:ext cx="870508" cy="870508"/>
          </a:xfrm>
          <a:prstGeom prst="ellipse">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5883249" y="4328769"/>
            <a:ext cx="486460" cy="486460"/>
          </a:xfrm>
          <a:prstGeom prst="ellipse">
            <a:avLst/>
          </a:prstGeom>
          <a:solidFill>
            <a:srgbClr val="FAE8E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6036868" y="4482388"/>
            <a:ext cx="179222" cy="179222"/>
          </a:xfrm>
          <a:prstGeom prst="ellipse">
            <a:avLst/>
          </a:prstGeom>
          <a:solidFill>
            <a:srgbClr val="C3494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5573268" y="4704588"/>
            <a:ext cx="100584" cy="100584"/>
          </a:xfrm>
          <a:prstGeom prst="ellipse">
            <a:avLst/>
          </a:prstGeom>
          <a:solidFill>
            <a:srgbClr val="E69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6304788" y="4064508"/>
            <a:ext cx="100584" cy="100584"/>
          </a:xfrm>
          <a:prstGeom prst="ellipse">
            <a:avLst/>
          </a:prstGeom>
          <a:solidFill>
            <a:srgbClr val="E69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6515100" y="4796028"/>
            <a:ext cx="100584" cy="100584"/>
          </a:xfrm>
          <a:prstGeom prst="ellipse">
            <a:avLst/>
          </a:prstGeom>
          <a:solidFill>
            <a:srgbClr val="E69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5984748" y="5024628"/>
            <a:ext cx="100584" cy="100584"/>
          </a:xfrm>
          <a:prstGeom prst="ellipse">
            <a:avLst/>
          </a:prstGeom>
          <a:solidFill>
            <a:srgbClr val="E69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6121908" y="4384548"/>
            <a:ext cx="100584" cy="100584"/>
          </a:xfrm>
          <a:prstGeom prst="ellipse">
            <a:avLst/>
          </a:prstGeom>
          <a:solidFill>
            <a:srgbClr val="E69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8229600" y="3383280"/>
            <a:ext cx="3017520" cy="320040"/>
          </a:xfrm>
          <a:prstGeom prst="rect">
            <a:avLst/>
          </a:prstGeom>
          <a:noFill/>
        </p:spPr>
        <p:txBody>
          <a:bodyPr wrap="square" lIns="54864" tIns="54864" rIns="54864" bIns="54864" anchor="t">
            <a:spAutoFit/>
          </a:bodyPr>
          <a:lstStyle/>
          <a:p>
            <a:pPr algn="ctr">
              <a:spcAft>
                <a:spcPts val="0"/>
              </a:spcAft>
            </a:pPr>
            <a:r>
              <a:rPr sz="1100" b="1">
                <a:solidFill>
                  <a:srgbClr val="132645"/>
                </a:solidFill>
                <a:latin typeface="Aptos"/>
              </a:rPr>
              <a:t>Low bias, low variance • ideal</a:t>
            </a:r>
          </a:p>
        </p:txBody>
      </p:sp>
      <p:sp>
        <p:nvSpPr>
          <p:cNvPr id="40" name="Oval 39"/>
          <p:cNvSpPr/>
          <p:nvPr/>
        </p:nvSpPr>
        <p:spPr>
          <a:xfrm>
            <a:off x="9144000" y="3931920"/>
            <a:ext cx="1280160" cy="1280160"/>
          </a:xfrm>
          <a:prstGeom prst="ellipse">
            <a:avLst/>
          </a:prstGeom>
          <a:solidFill>
            <a:srgbClr val="DEE6E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9348825" y="4136745"/>
            <a:ext cx="870508" cy="870508"/>
          </a:xfrm>
          <a:prstGeom prst="ellipse">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9540849" y="4328769"/>
            <a:ext cx="486460" cy="486460"/>
          </a:xfrm>
          <a:prstGeom prst="ellipse">
            <a:avLst/>
          </a:prstGeom>
          <a:solidFill>
            <a:srgbClr val="FAE8E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p:cNvSpPr/>
          <p:nvPr/>
        </p:nvSpPr>
        <p:spPr>
          <a:xfrm>
            <a:off x="9694468" y="4482388"/>
            <a:ext cx="179222" cy="179222"/>
          </a:xfrm>
          <a:prstGeom prst="ellipse">
            <a:avLst/>
          </a:prstGeom>
          <a:solidFill>
            <a:srgbClr val="C3494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a:off x="9669780" y="4539996"/>
            <a:ext cx="100584" cy="100584"/>
          </a:xfrm>
          <a:prstGeom prst="ellipse">
            <a:avLst/>
          </a:prstGeom>
          <a:solidFill>
            <a:srgbClr val="1C9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val 44"/>
          <p:cNvSpPr/>
          <p:nvPr/>
        </p:nvSpPr>
        <p:spPr>
          <a:xfrm>
            <a:off x="9788652" y="4485132"/>
            <a:ext cx="100584" cy="100584"/>
          </a:xfrm>
          <a:prstGeom prst="ellipse">
            <a:avLst/>
          </a:prstGeom>
          <a:solidFill>
            <a:srgbClr val="1C9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val 45"/>
          <p:cNvSpPr/>
          <p:nvPr/>
        </p:nvSpPr>
        <p:spPr>
          <a:xfrm>
            <a:off x="9825228" y="4567428"/>
            <a:ext cx="100584" cy="100584"/>
          </a:xfrm>
          <a:prstGeom prst="ellipse">
            <a:avLst/>
          </a:prstGeom>
          <a:solidFill>
            <a:srgbClr val="1C9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p:cNvSpPr/>
          <p:nvPr/>
        </p:nvSpPr>
        <p:spPr>
          <a:xfrm>
            <a:off x="9715500" y="4439412"/>
            <a:ext cx="100584" cy="100584"/>
          </a:xfrm>
          <a:prstGeom prst="ellipse">
            <a:avLst/>
          </a:prstGeom>
          <a:solidFill>
            <a:srgbClr val="1C9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256032"/>
            <a:ext cx="10972800" cy="502920"/>
          </a:xfrm>
          <a:prstGeom prst="rect">
            <a:avLst/>
          </a:prstGeom>
          <a:noFill/>
        </p:spPr>
        <p:txBody>
          <a:bodyPr wrap="square" lIns="54864" tIns="54864" rIns="54864" bIns="54864" anchor="t">
            <a:spAutoFit/>
          </a:bodyPr>
          <a:lstStyle/>
          <a:p>
            <a:pPr algn="l">
              <a:spcAft>
                <a:spcPts val="0"/>
              </a:spcAft>
            </a:pPr>
            <a:r>
              <a:rPr sz="2700" b="1">
                <a:solidFill>
                  <a:srgbClr val="132645"/>
                </a:solidFill>
                <a:latin typeface="Aptos"/>
              </a:rPr>
              <a:t>Underfitting, Good Fit, and Overfitting</a:t>
            </a:r>
          </a:p>
        </p:txBody>
      </p:sp>
      <p:sp>
        <p:nvSpPr>
          <p:cNvPr id="4" name="Rectangle 3"/>
          <p:cNvSpPr/>
          <p:nvPr/>
        </p:nvSpPr>
        <p:spPr>
          <a:xfrm>
            <a:off x="585216" y="832104"/>
            <a:ext cx="731520" cy="50292"/>
          </a:xfrm>
          <a:prstGeom prst="rect">
            <a:avLst/>
          </a:prstGeom>
          <a:solidFill>
            <a:srgbClr val="1C9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464040" y="292608"/>
            <a:ext cx="2103120" cy="274320"/>
          </a:xfrm>
          <a:prstGeom prst="rect">
            <a:avLst/>
          </a:prstGeom>
          <a:noFill/>
        </p:spPr>
        <p:txBody>
          <a:bodyPr wrap="square" lIns="54864" tIns="54864" rIns="54864" bIns="54864" anchor="t">
            <a:spAutoFit/>
          </a:bodyPr>
          <a:lstStyle/>
          <a:p>
            <a:pPr algn="r">
              <a:spcAft>
                <a:spcPts val="0"/>
              </a:spcAft>
            </a:pPr>
            <a:r>
              <a:rPr sz="900" b="1">
                <a:solidFill>
                  <a:srgbClr val="657384"/>
                </a:solidFill>
                <a:latin typeface="Aptos"/>
              </a:rPr>
              <a:t>MODEL BEHAVIOR</a:t>
            </a:r>
          </a:p>
        </p:txBody>
      </p:sp>
      <p:sp>
        <p:nvSpPr>
          <p:cNvPr id="6" name="TextBox 5"/>
          <p:cNvSpPr txBox="1"/>
          <p:nvPr/>
        </p:nvSpPr>
        <p:spPr>
          <a:xfrm>
            <a:off x="594360" y="6510528"/>
            <a:ext cx="8961120" cy="164592"/>
          </a:xfrm>
          <a:prstGeom prst="rect">
            <a:avLst/>
          </a:prstGeom>
          <a:noFill/>
        </p:spPr>
        <p:txBody>
          <a:bodyPr wrap="square" lIns="54864" tIns="54864" rIns="54864" bIns="54864" anchor="t">
            <a:spAutoFit/>
          </a:bodyPr>
          <a:lstStyle/>
          <a:p>
            <a:pPr algn="l">
              <a:spcAft>
                <a:spcPts val="0"/>
              </a:spcAft>
            </a:pPr>
            <a:r>
              <a:rPr sz="800" b="0">
                <a:solidFill>
                  <a:srgbClr val="657384"/>
                </a:solidFill>
                <a:latin typeface="Aptos"/>
              </a:rPr>
              <a:t>UNDERSTANDING MACHINE LEARNING  •  TECHNICAL SEMINAR</a:t>
            </a:r>
          </a:p>
        </p:txBody>
      </p:sp>
      <p:sp>
        <p:nvSpPr>
          <p:cNvPr id="7" name="TextBox 6"/>
          <p:cNvSpPr txBox="1"/>
          <p:nvPr/>
        </p:nvSpPr>
        <p:spPr>
          <a:xfrm>
            <a:off x="11064240" y="6473952"/>
            <a:ext cx="502920" cy="201168"/>
          </a:xfrm>
          <a:prstGeom prst="rect">
            <a:avLst/>
          </a:prstGeom>
          <a:noFill/>
        </p:spPr>
        <p:txBody>
          <a:bodyPr wrap="square" lIns="54864" tIns="54864" rIns="54864" bIns="54864" anchor="t">
            <a:spAutoFit/>
          </a:bodyPr>
          <a:lstStyle/>
          <a:p>
            <a:pPr algn="r">
              <a:spcAft>
                <a:spcPts val="0"/>
              </a:spcAft>
            </a:pPr>
            <a:r>
              <a:rPr sz="900" b="1">
                <a:solidFill>
                  <a:srgbClr val="657384"/>
                </a:solidFill>
                <a:latin typeface="Aptos"/>
              </a:rPr>
              <a:t>08</a:t>
            </a:r>
          </a:p>
        </p:txBody>
      </p:sp>
      <p:sp>
        <p:nvSpPr>
          <p:cNvPr id="8" name="Rounded Rectangle 7"/>
          <p:cNvSpPr/>
          <p:nvPr/>
        </p:nvSpPr>
        <p:spPr>
          <a:xfrm>
            <a:off x="594360" y="1325880"/>
            <a:ext cx="3383280" cy="4434840"/>
          </a:xfrm>
          <a:prstGeom prst="roundRect">
            <a:avLst/>
          </a:prstGeom>
          <a:solidFill>
            <a:srgbClr val="FFFFFF"/>
          </a:solidFill>
          <a:ln>
            <a:solidFill>
              <a:srgbClr val="DEE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777240" y="1554480"/>
            <a:ext cx="2971800" cy="329184"/>
          </a:xfrm>
          <a:prstGeom prst="roundRect">
            <a:avLst/>
          </a:prstGeom>
          <a:solidFill>
            <a:srgbClr val="E6EF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13816" y="1581912"/>
            <a:ext cx="2898648" cy="228600"/>
          </a:xfrm>
          <a:prstGeom prst="rect">
            <a:avLst/>
          </a:prstGeom>
          <a:noFill/>
        </p:spPr>
        <p:txBody>
          <a:bodyPr wrap="square" lIns="9144" tIns="9144" rIns="9144" bIns="9144" anchor="ctr">
            <a:spAutoFit/>
          </a:bodyPr>
          <a:lstStyle/>
          <a:p>
            <a:pPr algn="ctr">
              <a:spcAft>
                <a:spcPts val="0"/>
              </a:spcAft>
            </a:pPr>
            <a:r>
              <a:rPr sz="1000" b="1">
                <a:solidFill>
                  <a:srgbClr val="2D69BE"/>
                </a:solidFill>
                <a:latin typeface="Aptos"/>
              </a:rPr>
              <a:t>UNDERFITTING</a:t>
            </a:r>
          </a:p>
        </p:txBody>
      </p:sp>
      <p:cxnSp>
        <p:nvCxnSpPr>
          <p:cNvPr id="11" name="Connector 10"/>
          <p:cNvCxnSpPr/>
          <p:nvPr/>
        </p:nvCxnSpPr>
        <p:spPr>
          <a:xfrm>
            <a:off x="1051560" y="4160520"/>
            <a:ext cx="2514600" cy="0"/>
          </a:xfrm>
          <a:prstGeom prst="line">
            <a:avLst/>
          </a:prstGeom>
          <a:ln w="17780">
            <a:solidFill>
              <a:srgbClr val="132645"/>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1051560" y="2240280"/>
            <a:ext cx="0" cy="1920240"/>
          </a:xfrm>
          <a:prstGeom prst="line">
            <a:avLst/>
          </a:prstGeom>
          <a:ln w="17780">
            <a:solidFill>
              <a:srgbClr val="132645"/>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1577339" y="4233672"/>
            <a:ext cx="1645920" cy="228600"/>
          </a:xfrm>
          <a:prstGeom prst="rect">
            <a:avLst/>
          </a:prstGeom>
          <a:noFill/>
        </p:spPr>
        <p:txBody>
          <a:bodyPr wrap="square" lIns="54864" tIns="54864" rIns="54864" bIns="54864" anchor="t">
            <a:spAutoFit/>
          </a:bodyPr>
          <a:lstStyle/>
          <a:p>
            <a:pPr algn="ctr">
              <a:spcAft>
                <a:spcPts val="0"/>
              </a:spcAft>
            </a:pPr>
            <a:r>
              <a:rPr sz="1000" b="0">
                <a:solidFill>
                  <a:srgbClr val="657384"/>
                </a:solidFill>
                <a:latin typeface="Aptos"/>
              </a:rPr>
              <a:t>Feature</a:t>
            </a:r>
          </a:p>
        </p:txBody>
      </p:sp>
      <p:sp>
        <p:nvSpPr>
          <p:cNvPr id="14" name="TextBox 13"/>
          <p:cNvSpPr txBox="1"/>
          <p:nvPr/>
        </p:nvSpPr>
        <p:spPr>
          <a:xfrm>
            <a:off x="548639" y="2834640"/>
            <a:ext cx="411480" cy="731520"/>
          </a:xfrm>
          <a:prstGeom prst="rect">
            <a:avLst/>
          </a:prstGeom>
          <a:noFill/>
        </p:spPr>
        <p:txBody>
          <a:bodyPr wrap="square" lIns="54864" tIns="54864" rIns="54864" bIns="54864" anchor="ctr">
            <a:spAutoFit/>
          </a:bodyPr>
          <a:lstStyle/>
          <a:p>
            <a:pPr algn="ctr">
              <a:spcAft>
                <a:spcPts val="0"/>
              </a:spcAft>
            </a:pPr>
            <a:r>
              <a:rPr sz="900" b="0">
                <a:solidFill>
                  <a:srgbClr val="657384"/>
                </a:solidFill>
                <a:latin typeface="Aptos"/>
              </a:rPr>
              <a:t>Target</a:t>
            </a:r>
          </a:p>
        </p:txBody>
      </p:sp>
      <p:sp>
        <p:nvSpPr>
          <p:cNvPr id="15" name="Oval 14"/>
          <p:cNvSpPr/>
          <p:nvPr/>
        </p:nvSpPr>
        <p:spPr>
          <a:xfrm>
            <a:off x="1362455" y="3465576"/>
            <a:ext cx="109728" cy="109728"/>
          </a:xfrm>
          <a:prstGeom prst="ellipse">
            <a:avLst/>
          </a:prstGeom>
          <a:solidFill>
            <a:srgbClr val="2D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1728216" y="3145536"/>
            <a:ext cx="109728" cy="109728"/>
          </a:xfrm>
          <a:prstGeom prst="ellipse">
            <a:avLst/>
          </a:prstGeom>
          <a:solidFill>
            <a:srgbClr val="2D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2093975" y="3099816"/>
            <a:ext cx="109728" cy="109728"/>
          </a:xfrm>
          <a:prstGeom prst="ellipse">
            <a:avLst/>
          </a:prstGeom>
          <a:solidFill>
            <a:srgbClr val="2D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2551175" y="2779776"/>
            <a:ext cx="109728" cy="109728"/>
          </a:xfrm>
          <a:prstGeom prst="ellipse">
            <a:avLst/>
          </a:prstGeom>
          <a:solidFill>
            <a:srgbClr val="2D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2916936" y="2688336"/>
            <a:ext cx="109728" cy="109728"/>
          </a:xfrm>
          <a:prstGeom prst="ellipse">
            <a:avLst/>
          </a:prstGeom>
          <a:solidFill>
            <a:srgbClr val="2D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3236976" y="2459736"/>
            <a:ext cx="109728" cy="109728"/>
          </a:xfrm>
          <a:prstGeom prst="ellipse">
            <a:avLst/>
          </a:prstGeom>
          <a:solidFill>
            <a:srgbClr val="2D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1" name="Connector 20"/>
          <p:cNvCxnSpPr/>
          <p:nvPr/>
        </p:nvCxnSpPr>
        <p:spPr>
          <a:xfrm>
            <a:off x="1143000" y="3154680"/>
            <a:ext cx="2331720" cy="0"/>
          </a:xfrm>
          <a:prstGeom prst="line">
            <a:avLst/>
          </a:prstGeom>
          <a:ln w="31750">
            <a:solidFill>
              <a:srgbClr val="2D69BE"/>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822960" y="4526280"/>
            <a:ext cx="2926080" cy="320040"/>
          </a:xfrm>
          <a:prstGeom prst="rect">
            <a:avLst/>
          </a:prstGeom>
          <a:noFill/>
        </p:spPr>
        <p:txBody>
          <a:bodyPr wrap="square" lIns="54864" tIns="54864" rIns="54864" bIns="54864" anchor="t">
            <a:spAutoFit/>
          </a:bodyPr>
          <a:lstStyle/>
          <a:p>
            <a:pPr algn="ctr">
              <a:spcAft>
                <a:spcPts val="0"/>
              </a:spcAft>
            </a:pPr>
            <a:r>
              <a:rPr sz="1500" b="1">
                <a:solidFill>
                  <a:srgbClr val="132645"/>
                </a:solidFill>
                <a:latin typeface="Aptos"/>
              </a:rPr>
              <a:t>Too simple</a:t>
            </a:r>
          </a:p>
        </p:txBody>
      </p:sp>
      <p:sp>
        <p:nvSpPr>
          <p:cNvPr id="23" name="TextBox 22"/>
          <p:cNvSpPr txBox="1"/>
          <p:nvPr/>
        </p:nvSpPr>
        <p:spPr>
          <a:xfrm>
            <a:off x="850392" y="4919472"/>
            <a:ext cx="2834640" cy="640080"/>
          </a:xfrm>
          <a:prstGeom prst="rect">
            <a:avLst/>
          </a:prstGeom>
          <a:noFill/>
        </p:spPr>
        <p:txBody>
          <a:bodyPr wrap="square" lIns="54864" tIns="54864" rIns="54864" bIns="54864" anchor="t">
            <a:spAutoFit/>
          </a:bodyPr>
          <a:lstStyle/>
          <a:p>
            <a:pPr algn="ctr">
              <a:spcAft>
                <a:spcPts val="0"/>
              </a:spcAft>
            </a:pPr>
            <a:r>
              <a:rPr sz="1100" b="0">
                <a:solidFill>
                  <a:srgbClr val="273343"/>
                </a:solidFill>
                <a:latin typeface="Aptos"/>
              </a:rPr>
              <a:t>High training error; validation error is usually high.</a:t>
            </a:r>
          </a:p>
        </p:txBody>
      </p:sp>
      <p:sp>
        <p:nvSpPr>
          <p:cNvPr id="24" name="Rounded Rectangle 23"/>
          <p:cNvSpPr/>
          <p:nvPr/>
        </p:nvSpPr>
        <p:spPr>
          <a:xfrm>
            <a:off x="4160520" y="1325880"/>
            <a:ext cx="3383280" cy="4434840"/>
          </a:xfrm>
          <a:prstGeom prst="roundRect">
            <a:avLst/>
          </a:prstGeom>
          <a:solidFill>
            <a:srgbClr val="FFFFFF"/>
          </a:solidFill>
          <a:ln>
            <a:solidFill>
              <a:srgbClr val="DEE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4343400" y="1554480"/>
            <a:ext cx="2971800" cy="329184"/>
          </a:xfrm>
          <a:prstGeom prst="roundRect">
            <a:avLst/>
          </a:prstGeom>
          <a:solidFill>
            <a:srgbClr val="E2F5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379976" y="1581912"/>
            <a:ext cx="2898648" cy="228600"/>
          </a:xfrm>
          <a:prstGeom prst="rect">
            <a:avLst/>
          </a:prstGeom>
          <a:noFill/>
        </p:spPr>
        <p:txBody>
          <a:bodyPr wrap="square" lIns="9144" tIns="9144" rIns="9144" bIns="9144" anchor="ctr">
            <a:spAutoFit/>
          </a:bodyPr>
          <a:lstStyle/>
          <a:p>
            <a:pPr algn="ctr">
              <a:spcAft>
                <a:spcPts val="0"/>
              </a:spcAft>
            </a:pPr>
            <a:r>
              <a:rPr sz="1000" b="1">
                <a:solidFill>
                  <a:srgbClr val="1C968C"/>
                </a:solidFill>
                <a:latin typeface="Aptos"/>
              </a:rPr>
              <a:t>GOOD FIT</a:t>
            </a:r>
          </a:p>
        </p:txBody>
      </p:sp>
      <p:cxnSp>
        <p:nvCxnSpPr>
          <p:cNvPr id="27" name="Connector 26"/>
          <p:cNvCxnSpPr/>
          <p:nvPr/>
        </p:nvCxnSpPr>
        <p:spPr>
          <a:xfrm>
            <a:off x="4617720" y="4160520"/>
            <a:ext cx="2514600" cy="0"/>
          </a:xfrm>
          <a:prstGeom prst="line">
            <a:avLst/>
          </a:prstGeom>
          <a:ln w="17780">
            <a:solidFill>
              <a:srgbClr val="132645"/>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4617720" y="2240280"/>
            <a:ext cx="0" cy="1920240"/>
          </a:xfrm>
          <a:prstGeom prst="line">
            <a:avLst/>
          </a:prstGeom>
          <a:ln w="17780">
            <a:solidFill>
              <a:srgbClr val="132645"/>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143500" y="4233672"/>
            <a:ext cx="1645920" cy="228600"/>
          </a:xfrm>
          <a:prstGeom prst="rect">
            <a:avLst/>
          </a:prstGeom>
          <a:noFill/>
        </p:spPr>
        <p:txBody>
          <a:bodyPr wrap="square" lIns="54864" tIns="54864" rIns="54864" bIns="54864" anchor="t">
            <a:spAutoFit/>
          </a:bodyPr>
          <a:lstStyle/>
          <a:p>
            <a:pPr algn="ctr">
              <a:spcAft>
                <a:spcPts val="0"/>
              </a:spcAft>
            </a:pPr>
            <a:r>
              <a:rPr sz="1000" b="0">
                <a:solidFill>
                  <a:srgbClr val="657384"/>
                </a:solidFill>
                <a:latin typeface="Aptos"/>
              </a:rPr>
              <a:t>Feature</a:t>
            </a:r>
          </a:p>
        </p:txBody>
      </p:sp>
      <p:sp>
        <p:nvSpPr>
          <p:cNvPr id="30" name="TextBox 29"/>
          <p:cNvSpPr txBox="1"/>
          <p:nvPr/>
        </p:nvSpPr>
        <p:spPr>
          <a:xfrm>
            <a:off x="4114800" y="2834640"/>
            <a:ext cx="411480" cy="731520"/>
          </a:xfrm>
          <a:prstGeom prst="rect">
            <a:avLst/>
          </a:prstGeom>
          <a:noFill/>
        </p:spPr>
        <p:txBody>
          <a:bodyPr wrap="square" lIns="54864" tIns="54864" rIns="54864" bIns="54864" anchor="ctr">
            <a:spAutoFit/>
          </a:bodyPr>
          <a:lstStyle/>
          <a:p>
            <a:pPr algn="ctr">
              <a:spcAft>
                <a:spcPts val="0"/>
              </a:spcAft>
            </a:pPr>
            <a:r>
              <a:rPr sz="900" b="0">
                <a:solidFill>
                  <a:srgbClr val="657384"/>
                </a:solidFill>
                <a:latin typeface="Aptos"/>
              </a:rPr>
              <a:t>Target</a:t>
            </a:r>
          </a:p>
        </p:txBody>
      </p:sp>
      <p:sp>
        <p:nvSpPr>
          <p:cNvPr id="31" name="Oval 30"/>
          <p:cNvSpPr/>
          <p:nvPr/>
        </p:nvSpPr>
        <p:spPr>
          <a:xfrm>
            <a:off x="4928616" y="3465576"/>
            <a:ext cx="109728" cy="109728"/>
          </a:xfrm>
          <a:prstGeom prst="ellipse">
            <a:avLst/>
          </a:prstGeom>
          <a:solidFill>
            <a:srgbClr val="2D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5294376" y="3145536"/>
            <a:ext cx="109728" cy="109728"/>
          </a:xfrm>
          <a:prstGeom prst="ellipse">
            <a:avLst/>
          </a:prstGeom>
          <a:solidFill>
            <a:srgbClr val="2D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5660136" y="3099816"/>
            <a:ext cx="109728" cy="109728"/>
          </a:xfrm>
          <a:prstGeom prst="ellipse">
            <a:avLst/>
          </a:prstGeom>
          <a:solidFill>
            <a:srgbClr val="2D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6117336" y="2779776"/>
            <a:ext cx="109728" cy="109728"/>
          </a:xfrm>
          <a:prstGeom prst="ellipse">
            <a:avLst/>
          </a:prstGeom>
          <a:solidFill>
            <a:srgbClr val="2D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6483096" y="2688336"/>
            <a:ext cx="109728" cy="109728"/>
          </a:xfrm>
          <a:prstGeom prst="ellipse">
            <a:avLst/>
          </a:prstGeom>
          <a:solidFill>
            <a:srgbClr val="2D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6803136" y="2459736"/>
            <a:ext cx="109728" cy="109728"/>
          </a:xfrm>
          <a:prstGeom prst="ellipse">
            <a:avLst/>
          </a:prstGeom>
          <a:solidFill>
            <a:srgbClr val="2D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7" name="Connector 36"/>
          <p:cNvCxnSpPr/>
          <p:nvPr/>
        </p:nvCxnSpPr>
        <p:spPr>
          <a:xfrm flipV="1">
            <a:off x="4709159" y="3474720"/>
            <a:ext cx="365761" cy="182880"/>
          </a:xfrm>
          <a:prstGeom prst="line">
            <a:avLst/>
          </a:prstGeom>
          <a:ln w="31750">
            <a:solidFill>
              <a:srgbClr val="1C968C"/>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5074920" y="3246120"/>
            <a:ext cx="457200" cy="228600"/>
          </a:xfrm>
          <a:prstGeom prst="line">
            <a:avLst/>
          </a:prstGeom>
          <a:ln w="31750">
            <a:solidFill>
              <a:srgbClr val="1C968C"/>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5532120" y="3017520"/>
            <a:ext cx="457200" cy="228600"/>
          </a:xfrm>
          <a:prstGeom prst="line">
            <a:avLst/>
          </a:prstGeom>
          <a:ln w="31750">
            <a:solidFill>
              <a:srgbClr val="1C968C"/>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5989320" y="2788920"/>
            <a:ext cx="457200" cy="228600"/>
          </a:xfrm>
          <a:prstGeom prst="line">
            <a:avLst/>
          </a:prstGeom>
          <a:ln w="31750">
            <a:solidFill>
              <a:srgbClr val="1C968C"/>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6446520" y="2514600"/>
            <a:ext cx="548640" cy="274320"/>
          </a:xfrm>
          <a:prstGeom prst="line">
            <a:avLst/>
          </a:prstGeom>
          <a:ln w="31750">
            <a:solidFill>
              <a:srgbClr val="1C968C"/>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4389120" y="4526280"/>
            <a:ext cx="2926080" cy="320040"/>
          </a:xfrm>
          <a:prstGeom prst="rect">
            <a:avLst/>
          </a:prstGeom>
          <a:noFill/>
        </p:spPr>
        <p:txBody>
          <a:bodyPr wrap="square" lIns="54864" tIns="54864" rIns="54864" bIns="54864" anchor="t">
            <a:spAutoFit/>
          </a:bodyPr>
          <a:lstStyle/>
          <a:p>
            <a:pPr algn="ctr">
              <a:spcAft>
                <a:spcPts val="0"/>
              </a:spcAft>
            </a:pPr>
            <a:r>
              <a:rPr sz="1500" b="1">
                <a:solidFill>
                  <a:srgbClr val="132645"/>
                </a:solidFill>
                <a:latin typeface="Aptos"/>
              </a:rPr>
              <a:t>Useful pattern</a:t>
            </a:r>
          </a:p>
        </p:txBody>
      </p:sp>
      <p:sp>
        <p:nvSpPr>
          <p:cNvPr id="43" name="TextBox 42"/>
          <p:cNvSpPr txBox="1"/>
          <p:nvPr/>
        </p:nvSpPr>
        <p:spPr>
          <a:xfrm>
            <a:off x="4416552" y="4919472"/>
            <a:ext cx="2834640" cy="640080"/>
          </a:xfrm>
          <a:prstGeom prst="rect">
            <a:avLst/>
          </a:prstGeom>
          <a:noFill/>
        </p:spPr>
        <p:txBody>
          <a:bodyPr wrap="square" lIns="54864" tIns="54864" rIns="54864" bIns="54864" anchor="t">
            <a:spAutoFit/>
          </a:bodyPr>
          <a:lstStyle/>
          <a:p>
            <a:pPr algn="ctr">
              <a:spcAft>
                <a:spcPts val="0"/>
              </a:spcAft>
            </a:pPr>
            <a:r>
              <a:rPr sz="1100" b="0">
                <a:solidFill>
                  <a:srgbClr val="273343"/>
                </a:solidFill>
                <a:latin typeface="Aptos"/>
              </a:rPr>
              <a:t>Training and validation performance are both satisfactory.</a:t>
            </a:r>
          </a:p>
        </p:txBody>
      </p:sp>
      <p:sp>
        <p:nvSpPr>
          <p:cNvPr id="44" name="Rounded Rectangle 43"/>
          <p:cNvSpPr/>
          <p:nvPr/>
        </p:nvSpPr>
        <p:spPr>
          <a:xfrm>
            <a:off x="7726679" y="1325880"/>
            <a:ext cx="3383280" cy="4434840"/>
          </a:xfrm>
          <a:prstGeom prst="roundRect">
            <a:avLst/>
          </a:prstGeom>
          <a:solidFill>
            <a:srgbClr val="FFFFFF"/>
          </a:solidFill>
          <a:ln>
            <a:solidFill>
              <a:srgbClr val="DEE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ounded Rectangle 44"/>
          <p:cNvSpPr/>
          <p:nvPr/>
        </p:nvSpPr>
        <p:spPr>
          <a:xfrm>
            <a:off x="7909559" y="1554480"/>
            <a:ext cx="2971800" cy="329184"/>
          </a:xfrm>
          <a:prstGeom prst="roundRect">
            <a:avLst/>
          </a:prstGeom>
          <a:solidFill>
            <a:srgbClr val="FA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7946135" y="1581912"/>
            <a:ext cx="2898648" cy="228600"/>
          </a:xfrm>
          <a:prstGeom prst="rect">
            <a:avLst/>
          </a:prstGeom>
          <a:noFill/>
        </p:spPr>
        <p:txBody>
          <a:bodyPr wrap="square" lIns="9144" tIns="9144" rIns="9144" bIns="9144" anchor="ctr">
            <a:spAutoFit/>
          </a:bodyPr>
          <a:lstStyle/>
          <a:p>
            <a:pPr algn="ctr">
              <a:spcAft>
                <a:spcPts val="0"/>
              </a:spcAft>
            </a:pPr>
            <a:r>
              <a:rPr sz="1000" b="1">
                <a:solidFill>
                  <a:srgbClr val="C34949"/>
                </a:solidFill>
                <a:latin typeface="Aptos"/>
              </a:rPr>
              <a:t>OVERFITTING</a:t>
            </a:r>
          </a:p>
        </p:txBody>
      </p:sp>
      <p:cxnSp>
        <p:nvCxnSpPr>
          <p:cNvPr id="47" name="Connector 46"/>
          <p:cNvCxnSpPr/>
          <p:nvPr/>
        </p:nvCxnSpPr>
        <p:spPr>
          <a:xfrm>
            <a:off x="8183879" y="4160520"/>
            <a:ext cx="2514601" cy="0"/>
          </a:xfrm>
          <a:prstGeom prst="line">
            <a:avLst/>
          </a:prstGeom>
          <a:ln w="17780">
            <a:solidFill>
              <a:srgbClr val="132645"/>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8183879" y="2240280"/>
            <a:ext cx="0" cy="1920240"/>
          </a:xfrm>
          <a:prstGeom prst="line">
            <a:avLst/>
          </a:prstGeom>
          <a:ln w="17780">
            <a:solidFill>
              <a:srgbClr val="132645"/>
            </a:solidFill>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8709659" y="4233672"/>
            <a:ext cx="1645920" cy="228600"/>
          </a:xfrm>
          <a:prstGeom prst="rect">
            <a:avLst/>
          </a:prstGeom>
          <a:noFill/>
        </p:spPr>
        <p:txBody>
          <a:bodyPr wrap="square" lIns="54864" tIns="54864" rIns="54864" bIns="54864" anchor="t">
            <a:spAutoFit/>
          </a:bodyPr>
          <a:lstStyle/>
          <a:p>
            <a:pPr algn="ctr">
              <a:spcAft>
                <a:spcPts val="0"/>
              </a:spcAft>
            </a:pPr>
            <a:r>
              <a:rPr sz="1000" b="0">
                <a:solidFill>
                  <a:srgbClr val="657384"/>
                </a:solidFill>
                <a:latin typeface="Aptos"/>
              </a:rPr>
              <a:t>Feature</a:t>
            </a:r>
          </a:p>
        </p:txBody>
      </p:sp>
      <p:sp>
        <p:nvSpPr>
          <p:cNvPr id="50" name="TextBox 49"/>
          <p:cNvSpPr txBox="1"/>
          <p:nvPr/>
        </p:nvSpPr>
        <p:spPr>
          <a:xfrm>
            <a:off x="7680959" y="2834640"/>
            <a:ext cx="411480" cy="731520"/>
          </a:xfrm>
          <a:prstGeom prst="rect">
            <a:avLst/>
          </a:prstGeom>
          <a:noFill/>
        </p:spPr>
        <p:txBody>
          <a:bodyPr wrap="square" lIns="54864" tIns="54864" rIns="54864" bIns="54864" anchor="ctr">
            <a:spAutoFit/>
          </a:bodyPr>
          <a:lstStyle/>
          <a:p>
            <a:pPr algn="ctr">
              <a:spcAft>
                <a:spcPts val="0"/>
              </a:spcAft>
            </a:pPr>
            <a:r>
              <a:rPr sz="900" b="0">
                <a:solidFill>
                  <a:srgbClr val="657384"/>
                </a:solidFill>
                <a:latin typeface="Aptos"/>
              </a:rPr>
              <a:t>Target</a:t>
            </a:r>
          </a:p>
        </p:txBody>
      </p:sp>
      <p:sp>
        <p:nvSpPr>
          <p:cNvPr id="51" name="Oval 50"/>
          <p:cNvSpPr/>
          <p:nvPr/>
        </p:nvSpPr>
        <p:spPr>
          <a:xfrm>
            <a:off x="8494776" y="3465576"/>
            <a:ext cx="109728" cy="109728"/>
          </a:xfrm>
          <a:prstGeom prst="ellipse">
            <a:avLst/>
          </a:prstGeom>
          <a:solidFill>
            <a:srgbClr val="2D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val 51"/>
          <p:cNvSpPr/>
          <p:nvPr/>
        </p:nvSpPr>
        <p:spPr>
          <a:xfrm>
            <a:off x="8860536" y="3145536"/>
            <a:ext cx="109728" cy="109728"/>
          </a:xfrm>
          <a:prstGeom prst="ellipse">
            <a:avLst/>
          </a:prstGeom>
          <a:solidFill>
            <a:srgbClr val="2D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Oval 52"/>
          <p:cNvSpPr/>
          <p:nvPr/>
        </p:nvSpPr>
        <p:spPr>
          <a:xfrm>
            <a:off x="9226295" y="3099816"/>
            <a:ext cx="109728" cy="109728"/>
          </a:xfrm>
          <a:prstGeom prst="ellipse">
            <a:avLst/>
          </a:prstGeom>
          <a:solidFill>
            <a:srgbClr val="2D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val 53"/>
          <p:cNvSpPr/>
          <p:nvPr/>
        </p:nvSpPr>
        <p:spPr>
          <a:xfrm>
            <a:off x="9683495" y="2779776"/>
            <a:ext cx="109728" cy="109728"/>
          </a:xfrm>
          <a:prstGeom prst="ellipse">
            <a:avLst/>
          </a:prstGeom>
          <a:solidFill>
            <a:srgbClr val="2D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Oval 54"/>
          <p:cNvSpPr/>
          <p:nvPr/>
        </p:nvSpPr>
        <p:spPr>
          <a:xfrm>
            <a:off x="10049255" y="2688336"/>
            <a:ext cx="109728" cy="109728"/>
          </a:xfrm>
          <a:prstGeom prst="ellipse">
            <a:avLst/>
          </a:prstGeom>
          <a:solidFill>
            <a:srgbClr val="2D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val 55"/>
          <p:cNvSpPr/>
          <p:nvPr/>
        </p:nvSpPr>
        <p:spPr>
          <a:xfrm>
            <a:off x="10369295" y="2459736"/>
            <a:ext cx="109728" cy="109728"/>
          </a:xfrm>
          <a:prstGeom prst="ellipse">
            <a:avLst/>
          </a:prstGeom>
          <a:solidFill>
            <a:srgbClr val="2D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7" name="Connector 56"/>
          <p:cNvCxnSpPr/>
          <p:nvPr/>
        </p:nvCxnSpPr>
        <p:spPr>
          <a:xfrm flipV="1">
            <a:off x="8275319" y="3291840"/>
            <a:ext cx="320040" cy="548640"/>
          </a:xfrm>
          <a:prstGeom prst="line">
            <a:avLst/>
          </a:prstGeom>
          <a:ln w="31750">
            <a:solidFill>
              <a:srgbClr val="C34949"/>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8595359" y="3291840"/>
            <a:ext cx="320041" cy="274320"/>
          </a:xfrm>
          <a:prstGeom prst="line">
            <a:avLst/>
          </a:prstGeom>
          <a:ln w="31750">
            <a:solidFill>
              <a:srgbClr val="C34949"/>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V="1">
            <a:off x="8915400" y="2926080"/>
            <a:ext cx="320040" cy="640080"/>
          </a:xfrm>
          <a:prstGeom prst="line">
            <a:avLst/>
          </a:prstGeom>
          <a:ln w="31750">
            <a:solidFill>
              <a:srgbClr val="C34949"/>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9235440" y="2926080"/>
            <a:ext cx="320040" cy="228600"/>
          </a:xfrm>
          <a:prstGeom prst="line">
            <a:avLst/>
          </a:prstGeom>
          <a:ln w="31750">
            <a:solidFill>
              <a:srgbClr val="C34949"/>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V="1">
            <a:off x="9555480" y="2560320"/>
            <a:ext cx="320039" cy="594360"/>
          </a:xfrm>
          <a:prstGeom prst="line">
            <a:avLst/>
          </a:prstGeom>
          <a:ln w="31750">
            <a:solidFill>
              <a:srgbClr val="C34949"/>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9875519" y="2560320"/>
            <a:ext cx="320040" cy="365760"/>
          </a:xfrm>
          <a:prstGeom prst="line">
            <a:avLst/>
          </a:prstGeom>
          <a:ln w="31750">
            <a:solidFill>
              <a:srgbClr val="C34949"/>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10195559" y="2377440"/>
            <a:ext cx="365760" cy="548640"/>
          </a:xfrm>
          <a:prstGeom prst="line">
            <a:avLst/>
          </a:prstGeom>
          <a:ln w="31750">
            <a:solidFill>
              <a:srgbClr val="C34949"/>
            </a:solidFill>
          </a:ln>
        </p:spPr>
        <p:style>
          <a:lnRef idx="2">
            <a:schemeClr val="accent1"/>
          </a:lnRef>
          <a:fillRef idx="0">
            <a:schemeClr val="accent1"/>
          </a:fillRef>
          <a:effectRef idx="1">
            <a:schemeClr val="accent1"/>
          </a:effectRef>
          <a:fontRef idx="minor">
            <a:schemeClr val="tx1"/>
          </a:fontRef>
        </p:style>
      </p:cxnSp>
      <p:sp>
        <p:nvSpPr>
          <p:cNvPr id="64" name="TextBox 63"/>
          <p:cNvSpPr txBox="1"/>
          <p:nvPr/>
        </p:nvSpPr>
        <p:spPr>
          <a:xfrm>
            <a:off x="7955279" y="4526280"/>
            <a:ext cx="2926080" cy="320040"/>
          </a:xfrm>
          <a:prstGeom prst="rect">
            <a:avLst/>
          </a:prstGeom>
          <a:noFill/>
        </p:spPr>
        <p:txBody>
          <a:bodyPr wrap="square" lIns="54864" tIns="54864" rIns="54864" bIns="54864" anchor="t">
            <a:spAutoFit/>
          </a:bodyPr>
          <a:lstStyle/>
          <a:p>
            <a:pPr algn="ctr">
              <a:spcAft>
                <a:spcPts val="0"/>
              </a:spcAft>
            </a:pPr>
            <a:r>
              <a:rPr sz="1500" b="1">
                <a:solidFill>
                  <a:srgbClr val="132645"/>
                </a:solidFill>
                <a:latin typeface="Aptos"/>
              </a:rPr>
              <a:t>Too complex</a:t>
            </a:r>
          </a:p>
        </p:txBody>
      </p:sp>
      <p:sp>
        <p:nvSpPr>
          <p:cNvPr id="65" name="TextBox 64"/>
          <p:cNvSpPr txBox="1"/>
          <p:nvPr/>
        </p:nvSpPr>
        <p:spPr>
          <a:xfrm>
            <a:off x="7982711" y="4919472"/>
            <a:ext cx="2834640" cy="640080"/>
          </a:xfrm>
          <a:prstGeom prst="rect">
            <a:avLst/>
          </a:prstGeom>
          <a:noFill/>
        </p:spPr>
        <p:txBody>
          <a:bodyPr wrap="square" lIns="54864" tIns="54864" rIns="54864" bIns="54864" anchor="t">
            <a:spAutoFit/>
          </a:bodyPr>
          <a:lstStyle/>
          <a:p>
            <a:pPr algn="ctr">
              <a:spcAft>
                <a:spcPts val="0"/>
              </a:spcAft>
            </a:pPr>
            <a:r>
              <a:rPr sz="1100" b="0">
                <a:solidFill>
                  <a:srgbClr val="273343"/>
                </a:solidFill>
                <a:latin typeface="Aptos"/>
              </a:rPr>
              <a:t>Very low training error, but validation performance is worse.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256032"/>
            <a:ext cx="10972800" cy="502920"/>
          </a:xfrm>
          <a:prstGeom prst="rect">
            <a:avLst/>
          </a:prstGeom>
          <a:noFill/>
        </p:spPr>
        <p:txBody>
          <a:bodyPr wrap="square" lIns="54864" tIns="54864" rIns="54864" bIns="54864" anchor="t">
            <a:spAutoFit/>
          </a:bodyPr>
          <a:lstStyle/>
          <a:p>
            <a:pPr algn="l">
              <a:spcAft>
                <a:spcPts val="0"/>
              </a:spcAft>
            </a:pPr>
            <a:r>
              <a:rPr sz="2700" b="1">
                <a:solidFill>
                  <a:srgbClr val="132645"/>
                </a:solidFill>
                <a:latin typeface="Aptos"/>
              </a:rPr>
              <a:t>How Can We Detect Overfitting?</a:t>
            </a:r>
          </a:p>
        </p:txBody>
      </p:sp>
      <p:sp>
        <p:nvSpPr>
          <p:cNvPr id="4" name="Rectangle 3"/>
          <p:cNvSpPr/>
          <p:nvPr/>
        </p:nvSpPr>
        <p:spPr>
          <a:xfrm>
            <a:off x="585216" y="832104"/>
            <a:ext cx="731520" cy="50292"/>
          </a:xfrm>
          <a:prstGeom prst="rect">
            <a:avLst/>
          </a:prstGeom>
          <a:solidFill>
            <a:srgbClr val="1C9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464040" y="292608"/>
            <a:ext cx="2103120" cy="274320"/>
          </a:xfrm>
          <a:prstGeom prst="rect">
            <a:avLst/>
          </a:prstGeom>
          <a:noFill/>
        </p:spPr>
        <p:txBody>
          <a:bodyPr wrap="square" lIns="54864" tIns="54864" rIns="54864" bIns="54864" anchor="t">
            <a:spAutoFit/>
          </a:bodyPr>
          <a:lstStyle/>
          <a:p>
            <a:pPr algn="r">
              <a:spcAft>
                <a:spcPts val="0"/>
              </a:spcAft>
            </a:pPr>
            <a:r>
              <a:rPr sz="900" b="1">
                <a:solidFill>
                  <a:srgbClr val="657384"/>
                </a:solidFill>
                <a:latin typeface="Aptos"/>
              </a:rPr>
              <a:t>MODEL BEHAVIOR</a:t>
            </a:r>
          </a:p>
        </p:txBody>
      </p:sp>
      <p:sp>
        <p:nvSpPr>
          <p:cNvPr id="6" name="TextBox 5"/>
          <p:cNvSpPr txBox="1"/>
          <p:nvPr/>
        </p:nvSpPr>
        <p:spPr>
          <a:xfrm>
            <a:off x="594360" y="6510528"/>
            <a:ext cx="8961120" cy="164592"/>
          </a:xfrm>
          <a:prstGeom prst="rect">
            <a:avLst/>
          </a:prstGeom>
          <a:noFill/>
        </p:spPr>
        <p:txBody>
          <a:bodyPr wrap="square" lIns="54864" tIns="54864" rIns="54864" bIns="54864" anchor="t">
            <a:spAutoFit/>
          </a:bodyPr>
          <a:lstStyle/>
          <a:p>
            <a:pPr algn="l">
              <a:spcAft>
                <a:spcPts val="0"/>
              </a:spcAft>
            </a:pPr>
            <a:r>
              <a:rPr sz="800" b="0">
                <a:solidFill>
                  <a:srgbClr val="657384"/>
                </a:solidFill>
                <a:latin typeface="Aptos"/>
              </a:rPr>
              <a:t>UNDERSTANDING MACHINE LEARNING  •  TECHNICAL SEMINAR</a:t>
            </a:r>
          </a:p>
        </p:txBody>
      </p:sp>
      <p:sp>
        <p:nvSpPr>
          <p:cNvPr id="7" name="TextBox 6"/>
          <p:cNvSpPr txBox="1"/>
          <p:nvPr/>
        </p:nvSpPr>
        <p:spPr>
          <a:xfrm>
            <a:off x="11064240" y="6473952"/>
            <a:ext cx="502920" cy="201168"/>
          </a:xfrm>
          <a:prstGeom prst="rect">
            <a:avLst/>
          </a:prstGeom>
          <a:noFill/>
        </p:spPr>
        <p:txBody>
          <a:bodyPr wrap="square" lIns="54864" tIns="54864" rIns="54864" bIns="54864" anchor="t">
            <a:spAutoFit/>
          </a:bodyPr>
          <a:lstStyle/>
          <a:p>
            <a:pPr algn="r">
              <a:spcAft>
                <a:spcPts val="0"/>
              </a:spcAft>
            </a:pPr>
            <a:r>
              <a:rPr sz="900" b="1">
                <a:solidFill>
                  <a:srgbClr val="657384"/>
                </a:solidFill>
                <a:latin typeface="Aptos"/>
              </a:rPr>
              <a:t>09</a:t>
            </a:r>
          </a:p>
        </p:txBody>
      </p:sp>
      <p:cxnSp>
        <p:nvCxnSpPr>
          <p:cNvPr id="8" name="Connector 7"/>
          <p:cNvCxnSpPr/>
          <p:nvPr/>
        </p:nvCxnSpPr>
        <p:spPr>
          <a:xfrm>
            <a:off x="1143000" y="5394960"/>
            <a:ext cx="6400800" cy="0"/>
          </a:xfrm>
          <a:prstGeom prst="line">
            <a:avLst/>
          </a:prstGeom>
          <a:ln w="17780">
            <a:solidFill>
              <a:srgbClr val="132645"/>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1143000" y="1463040"/>
            <a:ext cx="0" cy="3931920"/>
          </a:xfrm>
          <a:prstGeom prst="line">
            <a:avLst/>
          </a:prstGeom>
          <a:ln w="17780">
            <a:solidFill>
              <a:srgbClr val="132645"/>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3611880" y="5468112"/>
            <a:ext cx="1645920" cy="228600"/>
          </a:xfrm>
          <a:prstGeom prst="rect">
            <a:avLst/>
          </a:prstGeom>
          <a:noFill/>
        </p:spPr>
        <p:txBody>
          <a:bodyPr wrap="square" lIns="54864" tIns="54864" rIns="54864" bIns="54864" anchor="t">
            <a:spAutoFit/>
          </a:bodyPr>
          <a:lstStyle/>
          <a:p>
            <a:pPr algn="ctr">
              <a:spcAft>
                <a:spcPts val="0"/>
              </a:spcAft>
            </a:pPr>
            <a:r>
              <a:rPr sz="1000" b="0">
                <a:solidFill>
                  <a:srgbClr val="657384"/>
                </a:solidFill>
                <a:latin typeface="Aptos"/>
              </a:rPr>
              <a:t>Training epochs</a:t>
            </a:r>
          </a:p>
        </p:txBody>
      </p:sp>
      <p:sp>
        <p:nvSpPr>
          <p:cNvPr id="11" name="TextBox 10"/>
          <p:cNvSpPr txBox="1"/>
          <p:nvPr/>
        </p:nvSpPr>
        <p:spPr>
          <a:xfrm>
            <a:off x="640080" y="3063240"/>
            <a:ext cx="411480" cy="731520"/>
          </a:xfrm>
          <a:prstGeom prst="rect">
            <a:avLst/>
          </a:prstGeom>
          <a:noFill/>
        </p:spPr>
        <p:txBody>
          <a:bodyPr wrap="square" lIns="54864" tIns="54864" rIns="54864" bIns="54864" anchor="ctr">
            <a:spAutoFit/>
          </a:bodyPr>
          <a:lstStyle/>
          <a:p>
            <a:pPr algn="ctr">
              <a:spcAft>
                <a:spcPts val="0"/>
              </a:spcAft>
            </a:pPr>
            <a:r>
              <a:rPr sz="900" b="0">
                <a:solidFill>
                  <a:srgbClr val="657384"/>
                </a:solidFill>
                <a:latin typeface="Aptos"/>
              </a:rPr>
              <a:t>Error</a:t>
            </a:r>
          </a:p>
        </p:txBody>
      </p:sp>
      <p:sp>
        <p:nvSpPr>
          <p:cNvPr id="12" name="TextBox 11"/>
          <p:cNvSpPr txBox="1"/>
          <p:nvPr/>
        </p:nvSpPr>
        <p:spPr>
          <a:xfrm>
            <a:off x="7040880" y="5650992"/>
            <a:ext cx="548640" cy="182880"/>
          </a:xfrm>
          <a:prstGeom prst="rect">
            <a:avLst/>
          </a:prstGeom>
          <a:noFill/>
        </p:spPr>
        <p:txBody>
          <a:bodyPr wrap="square" lIns="54864" tIns="54864" rIns="54864" bIns="54864" anchor="t">
            <a:spAutoFit/>
          </a:bodyPr>
          <a:lstStyle/>
          <a:p>
            <a:pPr algn="r">
              <a:spcAft>
                <a:spcPts val="0"/>
              </a:spcAft>
            </a:pPr>
            <a:r>
              <a:rPr sz="800" b="0">
                <a:solidFill>
                  <a:srgbClr val="657384"/>
                </a:solidFill>
                <a:latin typeface="Aptos"/>
              </a:rPr>
              <a:t>many</a:t>
            </a:r>
          </a:p>
        </p:txBody>
      </p:sp>
      <p:sp>
        <p:nvSpPr>
          <p:cNvPr id="13" name="TextBox 12"/>
          <p:cNvSpPr txBox="1"/>
          <p:nvPr/>
        </p:nvSpPr>
        <p:spPr>
          <a:xfrm>
            <a:off x="1051560" y="1280160"/>
            <a:ext cx="457200" cy="182880"/>
          </a:xfrm>
          <a:prstGeom prst="rect">
            <a:avLst/>
          </a:prstGeom>
          <a:noFill/>
        </p:spPr>
        <p:txBody>
          <a:bodyPr wrap="square" lIns="54864" tIns="54864" rIns="54864" bIns="54864" anchor="t">
            <a:spAutoFit/>
          </a:bodyPr>
          <a:lstStyle/>
          <a:p>
            <a:pPr algn="l">
              <a:spcAft>
                <a:spcPts val="0"/>
              </a:spcAft>
            </a:pPr>
            <a:r>
              <a:rPr sz="800" b="0">
                <a:solidFill>
                  <a:srgbClr val="657384"/>
                </a:solidFill>
                <a:latin typeface="Aptos"/>
              </a:rPr>
              <a:t>high</a:t>
            </a:r>
          </a:p>
        </p:txBody>
      </p:sp>
      <p:cxnSp>
        <p:nvCxnSpPr>
          <p:cNvPr id="14" name="Connector 13"/>
          <p:cNvCxnSpPr/>
          <p:nvPr/>
        </p:nvCxnSpPr>
        <p:spPr>
          <a:xfrm>
            <a:off x="1143000" y="2052828"/>
            <a:ext cx="640080" cy="668426"/>
          </a:xfrm>
          <a:prstGeom prst="line">
            <a:avLst/>
          </a:prstGeom>
          <a:ln w="33020">
            <a:solidFill>
              <a:srgbClr val="2D69BE"/>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783080" y="2721254"/>
            <a:ext cx="640080" cy="589788"/>
          </a:xfrm>
          <a:prstGeom prst="line">
            <a:avLst/>
          </a:prstGeom>
          <a:ln w="33020">
            <a:solidFill>
              <a:srgbClr val="2D69BE"/>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2423160" y="3311042"/>
            <a:ext cx="640080" cy="432511"/>
          </a:xfrm>
          <a:prstGeom prst="line">
            <a:avLst/>
          </a:prstGeom>
          <a:ln w="33020">
            <a:solidFill>
              <a:srgbClr val="2D69BE"/>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3063240" y="3743553"/>
            <a:ext cx="640080" cy="353873"/>
          </a:xfrm>
          <a:prstGeom prst="line">
            <a:avLst/>
          </a:prstGeom>
          <a:ln w="33020">
            <a:solidFill>
              <a:srgbClr val="2D69BE"/>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3703320" y="4097426"/>
            <a:ext cx="640080" cy="235915"/>
          </a:xfrm>
          <a:prstGeom prst="line">
            <a:avLst/>
          </a:prstGeom>
          <a:ln w="33020">
            <a:solidFill>
              <a:srgbClr val="2D69BE"/>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4343400" y="4333341"/>
            <a:ext cx="640080" cy="196596"/>
          </a:xfrm>
          <a:prstGeom prst="line">
            <a:avLst/>
          </a:prstGeom>
          <a:ln w="33020">
            <a:solidFill>
              <a:srgbClr val="2D69BE"/>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4983480" y="4529937"/>
            <a:ext cx="640080" cy="157277"/>
          </a:xfrm>
          <a:prstGeom prst="line">
            <a:avLst/>
          </a:prstGeom>
          <a:ln w="33020">
            <a:solidFill>
              <a:srgbClr val="2D69BE"/>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5623560" y="4687214"/>
            <a:ext cx="640080" cy="117958"/>
          </a:xfrm>
          <a:prstGeom prst="line">
            <a:avLst/>
          </a:prstGeom>
          <a:ln w="33020">
            <a:solidFill>
              <a:srgbClr val="2D69BE"/>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263640" y="4805172"/>
            <a:ext cx="640080" cy="78638"/>
          </a:xfrm>
          <a:prstGeom prst="line">
            <a:avLst/>
          </a:prstGeom>
          <a:ln w="33020">
            <a:solidFill>
              <a:srgbClr val="2D69BE"/>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6903720" y="4883810"/>
            <a:ext cx="640080" cy="78638"/>
          </a:xfrm>
          <a:prstGeom prst="line">
            <a:avLst/>
          </a:prstGeom>
          <a:ln w="33020">
            <a:solidFill>
              <a:srgbClr val="2D69BE"/>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143000" y="1856232"/>
            <a:ext cx="640080" cy="707745"/>
          </a:xfrm>
          <a:prstGeom prst="line">
            <a:avLst/>
          </a:prstGeom>
          <a:ln w="33020">
            <a:solidFill>
              <a:srgbClr val="C34949"/>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1783080" y="2563977"/>
            <a:ext cx="640080" cy="589788"/>
          </a:xfrm>
          <a:prstGeom prst="line">
            <a:avLst/>
          </a:prstGeom>
          <a:ln w="33020">
            <a:solidFill>
              <a:srgbClr val="C34949"/>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2423160" y="3153765"/>
            <a:ext cx="640080" cy="471831"/>
          </a:xfrm>
          <a:prstGeom prst="line">
            <a:avLst/>
          </a:prstGeom>
          <a:ln w="33020">
            <a:solidFill>
              <a:srgbClr val="C34949"/>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3063240" y="3625596"/>
            <a:ext cx="640080" cy="314553"/>
          </a:xfrm>
          <a:prstGeom prst="line">
            <a:avLst/>
          </a:prstGeom>
          <a:ln w="33020">
            <a:solidFill>
              <a:srgbClr val="C34949"/>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3703320" y="3940149"/>
            <a:ext cx="640080" cy="157277"/>
          </a:xfrm>
          <a:prstGeom prst="line">
            <a:avLst/>
          </a:prstGeom>
          <a:ln w="33020">
            <a:solidFill>
              <a:srgbClr val="C34949"/>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4343400" y="4097426"/>
            <a:ext cx="640080" cy="39319"/>
          </a:xfrm>
          <a:prstGeom prst="line">
            <a:avLst/>
          </a:prstGeom>
          <a:ln w="33020">
            <a:solidFill>
              <a:srgbClr val="C34949"/>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4983480" y="4077766"/>
            <a:ext cx="640080" cy="58979"/>
          </a:xfrm>
          <a:prstGeom prst="line">
            <a:avLst/>
          </a:prstGeom>
          <a:ln w="33020">
            <a:solidFill>
              <a:srgbClr val="C34949"/>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5623560" y="3900830"/>
            <a:ext cx="640080" cy="176936"/>
          </a:xfrm>
          <a:prstGeom prst="line">
            <a:avLst/>
          </a:prstGeom>
          <a:ln w="33020">
            <a:solidFill>
              <a:srgbClr val="C34949"/>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6263640" y="3625596"/>
            <a:ext cx="640080" cy="275234"/>
          </a:xfrm>
          <a:prstGeom prst="line">
            <a:avLst/>
          </a:prstGeom>
          <a:ln w="33020">
            <a:solidFill>
              <a:srgbClr val="C34949"/>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6903720" y="3271723"/>
            <a:ext cx="640080" cy="353873"/>
          </a:xfrm>
          <a:prstGeom prst="line">
            <a:avLst/>
          </a:prstGeom>
          <a:ln w="33020">
            <a:solidFill>
              <a:srgbClr val="C34949"/>
            </a:solidFill>
          </a:ln>
        </p:spPr>
        <p:style>
          <a:lnRef idx="2">
            <a:schemeClr val="accent1"/>
          </a:lnRef>
          <a:fillRef idx="0">
            <a:schemeClr val="accent1"/>
          </a:fillRef>
          <a:effectRef idx="1">
            <a:schemeClr val="accent1"/>
          </a:effectRef>
          <a:fontRef idx="minor">
            <a:schemeClr val="tx1"/>
          </a:fontRef>
        </p:style>
      </p:cxnSp>
      <p:sp>
        <p:nvSpPr>
          <p:cNvPr id="34" name="Oval 33"/>
          <p:cNvSpPr/>
          <p:nvPr/>
        </p:nvSpPr>
        <p:spPr>
          <a:xfrm>
            <a:off x="4901184" y="4054449"/>
            <a:ext cx="164592" cy="164592"/>
          </a:xfrm>
          <a:prstGeom prst="ellipse">
            <a:avLst/>
          </a:prstGeom>
          <a:solidFill>
            <a:srgbClr val="1C9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8001000" y="1645920"/>
            <a:ext cx="3200400" cy="320040"/>
          </a:xfrm>
          <a:prstGeom prst="rect">
            <a:avLst/>
          </a:prstGeom>
          <a:noFill/>
        </p:spPr>
        <p:txBody>
          <a:bodyPr wrap="square" lIns="54864" tIns="54864" rIns="54864" bIns="54864" anchor="t">
            <a:spAutoFit/>
          </a:bodyPr>
          <a:lstStyle/>
          <a:p>
            <a:pPr algn="l">
              <a:spcAft>
                <a:spcPts val="0"/>
              </a:spcAft>
            </a:pPr>
            <a:r>
              <a:rPr sz="1600" b="1">
                <a:solidFill>
                  <a:srgbClr val="132645"/>
                </a:solidFill>
                <a:latin typeface="Aptos"/>
              </a:rPr>
              <a:t>What to look for</a:t>
            </a:r>
          </a:p>
        </p:txBody>
      </p:sp>
      <p:sp>
        <p:nvSpPr>
          <p:cNvPr id="36" name="Rounded Rectangle 35"/>
          <p:cNvSpPr/>
          <p:nvPr/>
        </p:nvSpPr>
        <p:spPr>
          <a:xfrm>
            <a:off x="7955279" y="2103120"/>
            <a:ext cx="3383280" cy="914400"/>
          </a:xfrm>
          <a:prstGeom prst="roundRect">
            <a:avLst/>
          </a:prstGeom>
          <a:solidFill>
            <a:srgbClr val="E6EFFB"/>
          </a:solidFill>
          <a:ln w="12700">
            <a:solidFill>
              <a:srgbClr val="DEE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7955279" y="2103120"/>
            <a:ext cx="73152" cy="914400"/>
          </a:xfrm>
          <a:prstGeom prst="rect">
            <a:avLst/>
          </a:prstGeom>
          <a:solidFill>
            <a:srgbClr val="2D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8156448" y="2249424"/>
            <a:ext cx="3035808" cy="310896"/>
          </a:xfrm>
          <a:prstGeom prst="rect">
            <a:avLst/>
          </a:prstGeom>
          <a:noFill/>
        </p:spPr>
        <p:txBody>
          <a:bodyPr wrap="square" lIns="54864" tIns="54864" rIns="54864" bIns="54864" anchor="t">
            <a:spAutoFit/>
          </a:bodyPr>
          <a:lstStyle/>
          <a:p>
            <a:pPr algn="l">
              <a:spcAft>
                <a:spcPts val="0"/>
              </a:spcAft>
            </a:pPr>
            <a:r>
              <a:rPr sz="1400" b="1">
                <a:solidFill>
                  <a:srgbClr val="132645"/>
                </a:solidFill>
                <a:latin typeface="Aptos"/>
              </a:rPr>
              <a:t>Training error</a:t>
            </a:r>
          </a:p>
        </p:txBody>
      </p:sp>
      <p:sp>
        <p:nvSpPr>
          <p:cNvPr id="39" name="TextBox 38"/>
          <p:cNvSpPr txBox="1"/>
          <p:nvPr/>
        </p:nvSpPr>
        <p:spPr>
          <a:xfrm>
            <a:off x="8156448" y="2633472"/>
            <a:ext cx="3035808" cy="292607"/>
          </a:xfrm>
          <a:prstGeom prst="rect">
            <a:avLst/>
          </a:prstGeom>
          <a:noFill/>
        </p:spPr>
        <p:txBody>
          <a:bodyPr wrap="square" lIns="54864" tIns="54864" rIns="54864" bIns="54864" anchor="t">
            <a:spAutoFit/>
          </a:bodyPr>
          <a:lstStyle/>
          <a:p>
            <a:pPr algn="l">
              <a:spcAft>
                <a:spcPts val="0"/>
              </a:spcAft>
            </a:pPr>
            <a:r>
              <a:rPr sz="1200" b="0">
                <a:solidFill>
                  <a:srgbClr val="273343"/>
                </a:solidFill>
                <a:latin typeface="Aptos"/>
              </a:rPr>
              <a:t>Generally decreases over epochs.</a:t>
            </a:r>
          </a:p>
        </p:txBody>
      </p:sp>
      <p:sp>
        <p:nvSpPr>
          <p:cNvPr id="40" name="Rounded Rectangle 39"/>
          <p:cNvSpPr/>
          <p:nvPr/>
        </p:nvSpPr>
        <p:spPr>
          <a:xfrm>
            <a:off x="7955279" y="3200400"/>
            <a:ext cx="3383280" cy="914400"/>
          </a:xfrm>
          <a:prstGeom prst="roundRect">
            <a:avLst/>
          </a:prstGeom>
          <a:solidFill>
            <a:srgbClr val="FAE8E8"/>
          </a:solidFill>
          <a:ln w="12700">
            <a:solidFill>
              <a:srgbClr val="DEE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7955279" y="3200400"/>
            <a:ext cx="73152" cy="914400"/>
          </a:xfrm>
          <a:prstGeom prst="rect">
            <a:avLst/>
          </a:prstGeom>
          <a:solidFill>
            <a:srgbClr val="C349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8156448" y="3346704"/>
            <a:ext cx="3035808" cy="310896"/>
          </a:xfrm>
          <a:prstGeom prst="rect">
            <a:avLst/>
          </a:prstGeom>
          <a:noFill/>
        </p:spPr>
        <p:txBody>
          <a:bodyPr wrap="square" lIns="54864" tIns="54864" rIns="54864" bIns="54864" anchor="t">
            <a:spAutoFit/>
          </a:bodyPr>
          <a:lstStyle/>
          <a:p>
            <a:pPr algn="l">
              <a:spcAft>
                <a:spcPts val="0"/>
              </a:spcAft>
            </a:pPr>
            <a:r>
              <a:rPr sz="1400" b="1">
                <a:solidFill>
                  <a:srgbClr val="132645"/>
                </a:solidFill>
                <a:latin typeface="Aptos"/>
              </a:rPr>
              <a:t>Validation error</a:t>
            </a:r>
          </a:p>
        </p:txBody>
      </p:sp>
      <p:sp>
        <p:nvSpPr>
          <p:cNvPr id="43" name="TextBox 42"/>
          <p:cNvSpPr txBox="1"/>
          <p:nvPr/>
        </p:nvSpPr>
        <p:spPr>
          <a:xfrm>
            <a:off x="8156448" y="3730752"/>
            <a:ext cx="3035808" cy="292607"/>
          </a:xfrm>
          <a:prstGeom prst="rect">
            <a:avLst/>
          </a:prstGeom>
          <a:noFill/>
        </p:spPr>
        <p:txBody>
          <a:bodyPr wrap="square" lIns="54864" tIns="54864" rIns="54864" bIns="54864" anchor="t">
            <a:spAutoFit/>
          </a:bodyPr>
          <a:lstStyle/>
          <a:p>
            <a:pPr algn="l">
              <a:spcAft>
                <a:spcPts val="0"/>
              </a:spcAft>
            </a:pPr>
            <a:r>
              <a:rPr sz="1200" b="0">
                <a:solidFill>
                  <a:srgbClr val="273343"/>
                </a:solidFill>
                <a:latin typeface="Aptos"/>
              </a:rPr>
              <a:t>May fall first, then rise as overfitting begins.</a:t>
            </a:r>
          </a:p>
        </p:txBody>
      </p:sp>
      <p:sp>
        <p:nvSpPr>
          <p:cNvPr id="44" name="Rounded Rectangle 43"/>
          <p:cNvSpPr/>
          <p:nvPr/>
        </p:nvSpPr>
        <p:spPr>
          <a:xfrm>
            <a:off x="7955279" y="4297680"/>
            <a:ext cx="3383280" cy="914400"/>
          </a:xfrm>
          <a:prstGeom prst="roundRect">
            <a:avLst/>
          </a:prstGeom>
          <a:solidFill>
            <a:srgbClr val="E2F5F1"/>
          </a:solidFill>
          <a:ln w="12700">
            <a:solidFill>
              <a:srgbClr val="DEE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7955279" y="4297680"/>
            <a:ext cx="73152" cy="914400"/>
          </a:xfrm>
          <a:prstGeom prst="rect">
            <a:avLst/>
          </a:prstGeom>
          <a:solidFill>
            <a:srgbClr val="1C9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8156448" y="4443984"/>
            <a:ext cx="3035808" cy="310896"/>
          </a:xfrm>
          <a:prstGeom prst="rect">
            <a:avLst/>
          </a:prstGeom>
          <a:noFill/>
        </p:spPr>
        <p:txBody>
          <a:bodyPr wrap="square" lIns="54864" tIns="54864" rIns="54864" bIns="54864" anchor="t">
            <a:spAutoFit/>
          </a:bodyPr>
          <a:lstStyle/>
          <a:p>
            <a:pPr algn="l">
              <a:spcAft>
                <a:spcPts val="0"/>
              </a:spcAft>
            </a:pPr>
            <a:r>
              <a:rPr sz="1400" b="1">
                <a:solidFill>
                  <a:srgbClr val="132645"/>
                </a:solidFill>
                <a:latin typeface="Aptos"/>
              </a:rPr>
              <a:t>Candidate stopping point</a:t>
            </a:r>
          </a:p>
        </p:txBody>
      </p:sp>
      <p:sp>
        <p:nvSpPr>
          <p:cNvPr id="47" name="TextBox 46"/>
          <p:cNvSpPr txBox="1"/>
          <p:nvPr/>
        </p:nvSpPr>
        <p:spPr>
          <a:xfrm>
            <a:off x="8156448" y="4828032"/>
            <a:ext cx="3035808" cy="292607"/>
          </a:xfrm>
          <a:prstGeom prst="rect">
            <a:avLst/>
          </a:prstGeom>
          <a:noFill/>
        </p:spPr>
        <p:txBody>
          <a:bodyPr wrap="square" lIns="54864" tIns="54864" rIns="54864" bIns="54864" anchor="t">
            <a:spAutoFit/>
          </a:bodyPr>
          <a:lstStyle/>
          <a:p>
            <a:pPr algn="l">
              <a:spcAft>
                <a:spcPts val="0"/>
              </a:spcAft>
            </a:pPr>
            <a:r>
              <a:rPr sz="1100" b="0">
                <a:solidFill>
                  <a:srgbClr val="273343"/>
                </a:solidFill>
                <a:latin typeface="Aptos"/>
              </a:rPr>
              <a:t>Near the minimum validation error—not after every tiny fluctuation.</a:t>
            </a:r>
          </a:p>
        </p:txBody>
      </p:sp>
      <p:sp>
        <p:nvSpPr>
          <p:cNvPr id="48" name="TextBox 47"/>
          <p:cNvSpPr txBox="1"/>
          <p:nvPr/>
        </p:nvSpPr>
        <p:spPr>
          <a:xfrm>
            <a:off x="1097280" y="5715000"/>
            <a:ext cx="10241280" cy="274320"/>
          </a:xfrm>
          <a:prstGeom prst="rect">
            <a:avLst/>
          </a:prstGeom>
          <a:noFill/>
        </p:spPr>
        <p:txBody>
          <a:bodyPr wrap="square" lIns="54864" tIns="54864" rIns="54864" bIns="54864" anchor="t">
            <a:spAutoFit/>
          </a:bodyPr>
          <a:lstStyle/>
          <a:p>
            <a:pPr algn="l">
              <a:spcAft>
                <a:spcPts val="0"/>
              </a:spcAft>
            </a:pPr>
            <a:r>
              <a:rPr sz="1000" b="0">
                <a:solidFill>
                  <a:srgbClr val="657384"/>
                </a:solidFill>
                <a:latin typeface="Aptos"/>
              </a:rPr>
              <a:t>Illustrative curves only. One increase does not prove overfitting; look for a sustained trend or use patience.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256032"/>
            <a:ext cx="10972800" cy="502920"/>
          </a:xfrm>
          <a:prstGeom prst="rect">
            <a:avLst/>
          </a:prstGeom>
          <a:noFill/>
        </p:spPr>
        <p:txBody>
          <a:bodyPr wrap="square" lIns="54864" tIns="54864" rIns="54864" bIns="54864" anchor="t">
            <a:spAutoFit/>
          </a:bodyPr>
          <a:lstStyle/>
          <a:p>
            <a:pPr algn="l">
              <a:spcAft>
                <a:spcPts val="0"/>
              </a:spcAft>
            </a:pPr>
            <a:r>
              <a:rPr sz="2700" b="1">
                <a:solidFill>
                  <a:srgbClr val="132645"/>
                </a:solidFill>
                <a:latin typeface="Aptos"/>
              </a:rPr>
              <a:t>What Is Regularization?</a:t>
            </a:r>
          </a:p>
        </p:txBody>
      </p:sp>
      <p:sp>
        <p:nvSpPr>
          <p:cNvPr id="4" name="Rectangle 3"/>
          <p:cNvSpPr/>
          <p:nvPr/>
        </p:nvSpPr>
        <p:spPr>
          <a:xfrm>
            <a:off x="585216" y="832104"/>
            <a:ext cx="731520" cy="50292"/>
          </a:xfrm>
          <a:prstGeom prst="rect">
            <a:avLst/>
          </a:prstGeom>
          <a:solidFill>
            <a:srgbClr val="1C9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464040" y="292608"/>
            <a:ext cx="2103120" cy="274320"/>
          </a:xfrm>
          <a:prstGeom prst="rect">
            <a:avLst/>
          </a:prstGeom>
          <a:noFill/>
        </p:spPr>
        <p:txBody>
          <a:bodyPr wrap="square" lIns="54864" tIns="54864" rIns="54864" bIns="54864" anchor="t">
            <a:spAutoFit/>
          </a:bodyPr>
          <a:lstStyle/>
          <a:p>
            <a:pPr algn="r">
              <a:spcAft>
                <a:spcPts val="0"/>
              </a:spcAft>
            </a:pPr>
            <a:r>
              <a:rPr sz="900" b="1">
                <a:solidFill>
                  <a:srgbClr val="657384"/>
                </a:solidFill>
                <a:latin typeface="Aptos"/>
              </a:rPr>
              <a:t>REGULARIZATION</a:t>
            </a:r>
          </a:p>
        </p:txBody>
      </p:sp>
      <p:sp>
        <p:nvSpPr>
          <p:cNvPr id="6" name="TextBox 5"/>
          <p:cNvSpPr txBox="1"/>
          <p:nvPr/>
        </p:nvSpPr>
        <p:spPr>
          <a:xfrm>
            <a:off x="594360" y="6510528"/>
            <a:ext cx="8961120" cy="164592"/>
          </a:xfrm>
          <a:prstGeom prst="rect">
            <a:avLst/>
          </a:prstGeom>
          <a:noFill/>
        </p:spPr>
        <p:txBody>
          <a:bodyPr wrap="square" lIns="54864" tIns="54864" rIns="54864" bIns="54864" anchor="t">
            <a:spAutoFit/>
          </a:bodyPr>
          <a:lstStyle/>
          <a:p>
            <a:pPr algn="l">
              <a:spcAft>
                <a:spcPts val="0"/>
              </a:spcAft>
            </a:pPr>
            <a:r>
              <a:rPr sz="800" b="0">
                <a:solidFill>
                  <a:srgbClr val="657384"/>
                </a:solidFill>
                <a:latin typeface="Aptos"/>
              </a:rPr>
              <a:t>UNDERSTANDING MACHINE LEARNING  •  TECHNICAL SEMINAR</a:t>
            </a:r>
          </a:p>
        </p:txBody>
      </p:sp>
      <p:sp>
        <p:nvSpPr>
          <p:cNvPr id="7" name="TextBox 6"/>
          <p:cNvSpPr txBox="1"/>
          <p:nvPr/>
        </p:nvSpPr>
        <p:spPr>
          <a:xfrm>
            <a:off x="11064240" y="6473952"/>
            <a:ext cx="502920" cy="201168"/>
          </a:xfrm>
          <a:prstGeom prst="rect">
            <a:avLst/>
          </a:prstGeom>
          <a:noFill/>
        </p:spPr>
        <p:txBody>
          <a:bodyPr wrap="square" lIns="54864" tIns="54864" rIns="54864" bIns="54864" anchor="t">
            <a:spAutoFit/>
          </a:bodyPr>
          <a:lstStyle/>
          <a:p>
            <a:pPr algn="r">
              <a:spcAft>
                <a:spcPts val="0"/>
              </a:spcAft>
            </a:pPr>
            <a:r>
              <a:rPr sz="900" b="1">
                <a:solidFill>
                  <a:srgbClr val="657384"/>
                </a:solidFill>
                <a:latin typeface="Aptos"/>
              </a:rPr>
              <a:t>10</a:t>
            </a:r>
          </a:p>
        </p:txBody>
      </p:sp>
      <p:sp>
        <p:nvSpPr>
          <p:cNvPr id="8" name="TextBox 7"/>
          <p:cNvSpPr txBox="1"/>
          <p:nvPr/>
        </p:nvSpPr>
        <p:spPr>
          <a:xfrm>
            <a:off x="914400" y="1188720"/>
            <a:ext cx="10332720" cy="548640"/>
          </a:xfrm>
          <a:prstGeom prst="rect">
            <a:avLst/>
          </a:prstGeom>
          <a:noFill/>
        </p:spPr>
        <p:txBody>
          <a:bodyPr wrap="square" lIns="54864" tIns="54864" rIns="54864" bIns="54864" anchor="t">
            <a:spAutoFit/>
          </a:bodyPr>
          <a:lstStyle/>
          <a:p>
            <a:pPr algn="ctr">
              <a:spcAft>
                <a:spcPts val="0"/>
              </a:spcAft>
            </a:pPr>
            <a:r>
              <a:rPr sz="2200" b="1">
                <a:solidFill>
                  <a:srgbClr val="132645"/>
                </a:solidFill>
                <a:latin typeface="Aptos"/>
              </a:rPr>
              <a:t>Total Objective = Prediction Error + Regularization Penalty</a:t>
            </a:r>
          </a:p>
        </p:txBody>
      </p:sp>
      <p:sp>
        <p:nvSpPr>
          <p:cNvPr id="9" name="Rounded Rectangle 8"/>
          <p:cNvSpPr/>
          <p:nvPr/>
        </p:nvSpPr>
        <p:spPr>
          <a:xfrm>
            <a:off x="868680" y="2240280"/>
            <a:ext cx="3154680" cy="1463040"/>
          </a:xfrm>
          <a:prstGeom prst="roundRect">
            <a:avLst/>
          </a:prstGeom>
          <a:solidFill>
            <a:srgbClr val="E6EFFB"/>
          </a:solidFill>
          <a:ln w="12700">
            <a:solidFill>
              <a:srgbClr val="DEE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868680" y="2240280"/>
            <a:ext cx="73152" cy="1463040"/>
          </a:xfrm>
          <a:prstGeom prst="rect">
            <a:avLst/>
          </a:prstGeom>
          <a:solidFill>
            <a:srgbClr val="2D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69848" y="2386584"/>
            <a:ext cx="2807208" cy="310896"/>
          </a:xfrm>
          <a:prstGeom prst="rect">
            <a:avLst/>
          </a:prstGeom>
          <a:noFill/>
        </p:spPr>
        <p:txBody>
          <a:bodyPr wrap="square" lIns="54864" tIns="54864" rIns="54864" bIns="54864" anchor="t">
            <a:spAutoFit/>
          </a:bodyPr>
          <a:lstStyle/>
          <a:p>
            <a:pPr algn="l">
              <a:spcAft>
                <a:spcPts val="0"/>
              </a:spcAft>
            </a:pPr>
            <a:r>
              <a:rPr sz="1600" b="1">
                <a:solidFill>
                  <a:srgbClr val="132645"/>
                </a:solidFill>
                <a:latin typeface="Aptos"/>
              </a:rPr>
              <a:t>Prediction error</a:t>
            </a:r>
          </a:p>
        </p:txBody>
      </p:sp>
      <p:sp>
        <p:nvSpPr>
          <p:cNvPr id="12" name="TextBox 11"/>
          <p:cNvSpPr txBox="1"/>
          <p:nvPr/>
        </p:nvSpPr>
        <p:spPr>
          <a:xfrm>
            <a:off x="1069848" y="2770632"/>
            <a:ext cx="2807208" cy="841248"/>
          </a:xfrm>
          <a:prstGeom prst="rect">
            <a:avLst/>
          </a:prstGeom>
          <a:noFill/>
        </p:spPr>
        <p:txBody>
          <a:bodyPr wrap="square" lIns="54864" tIns="54864" rIns="54864" bIns="54864" anchor="t">
            <a:spAutoFit/>
          </a:bodyPr>
          <a:lstStyle/>
          <a:p>
            <a:pPr algn="l">
              <a:spcAft>
                <a:spcPts val="0"/>
              </a:spcAft>
            </a:pPr>
            <a:r>
              <a:rPr sz="1300" b="0">
                <a:solidFill>
                  <a:srgbClr val="273343"/>
                </a:solidFill>
                <a:latin typeface="Aptos"/>
              </a:rPr>
              <a:t>Measures how far predictions are from actual targets on training examples.</a:t>
            </a:r>
          </a:p>
        </p:txBody>
      </p:sp>
      <p:sp>
        <p:nvSpPr>
          <p:cNvPr id="13" name="Rounded Rectangle 12"/>
          <p:cNvSpPr/>
          <p:nvPr/>
        </p:nvSpPr>
        <p:spPr>
          <a:xfrm>
            <a:off x="4526280" y="2240280"/>
            <a:ext cx="3154680" cy="1463040"/>
          </a:xfrm>
          <a:prstGeom prst="roundRect">
            <a:avLst/>
          </a:prstGeom>
          <a:solidFill>
            <a:srgbClr val="FCF1E1"/>
          </a:solidFill>
          <a:ln w="12700">
            <a:solidFill>
              <a:srgbClr val="DEE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526280" y="2240280"/>
            <a:ext cx="73152" cy="1463040"/>
          </a:xfrm>
          <a:prstGeom prst="rect">
            <a:avLst/>
          </a:prstGeom>
          <a:solidFill>
            <a:srgbClr val="E69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727448" y="2386584"/>
            <a:ext cx="2807208" cy="310896"/>
          </a:xfrm>
          <a:prstGeom prst="rect">
            <a:avLst/>
          </a:prstGeom>
          <a:noFill/>
        </p:spPr>
        <p:txBody>
          <a:bodyPr wrap="square" lIns="54864" tIns="54864" rIns="54864" bIns="54864" anchor="t">
            <a:spAutoFit/>
          </a:bodyPr>
          <a:lstStyle/>
          <a:p>
            <a:pPr algn="l">
              <a:spcAft>
                <a:spcPts val="0"/>
              </a:spcAft>
            </a:pPr>
            <a:r>
              <a:rPr sz="1600" b="1">
                <a:solidFill>
                  <a:srgbClr val="132645"/>
                </a:solidFill>
                <a:latin typeface="Aptos"/>
              </a:rPr>
              <a:t>Penalty</a:t>
            </a:r>
          </a:p>
        </p:txBody>
      </p:sp>
      <p:sp>
        <p:nvSpPr>
          <p:cNvPr id="16" name="TextBox 15"/>
          <p:cNvSpPr txBox="1"/>
          <p:nvPr/>
        </p:nvSpPr>
        <p:spPr>
          <a:xfrm>
            <a:off x="4727448" y="2770632"/>
            <a:ext cx="2807208" cy="841248"/>
          </a:xfrm>
          <a:prstGeom prst="rect">
            <a:avLst/>
          </a:prstGeom>
          <a:noFill/>
        </p:spPr>
        <p:txBody>
          <a:bodyPr wrap="square" lIns="54864" tIns="54864" rIns="54864" bIns="54864" anchor="t">
            <a:spAutoFit/>
          </a:bodyPr>
          <a:lstStyle/>
          <a:p>
            <a:pPr algn="l">
              <a:spcAft>
                <a:spcPts val="0"/>
              </a:spcAft>
            </a:pPr>
            <a:r>
              <a:rPr sz="1300" b="0">
                <a:solidFill>
                  <a:srgbClr val="273343"/>
                </a:solidFill>
                <a:latin typeface="Aptos"/>
              </a:rPr>
              <a:t>Discourages large coefficients or overly complex fitted relationships.</a:t>
            </a:r>
          </a:p>
        </p:txBody>
      </p:sp>
      <p:sp>
        <p:nvSpPr>
          <p:cNvPr id="17" name="Rounded Rectangle 16"/>
          <p:cNvSpPr/>
          <p:nvPr/>
        </p:nvSpPr>
        <p:spPr>
          <a:xfrm>
            <a:off x="8183879" y="2240280"/>
            <a:ext cx="3154680" cy="1463040"/>
          </a:xfrm>
          <a:prstGeom prst="roundRect">
            <a:avLst/>
          </a:prstGeom>
          <a:solidFill>
            <a:srgbClr val="E2F5F1"/>
          </a:solidFill>
          <a:ln w="12700">
            <a:solidFill>
              <a:srgbClr val="DEE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183879" y="2240280"/>
            <a:ext cx="73152" cy="1463040"/>
          </a:xfrm>
          <a:prstGeom prst="rect">
            <a:avLst/>
          </a:prstGeom>
          <a:solidFill>
            <a:srgbClr val="1C9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385048" y="2386584"/>
            <a:ext cx="2807208" cy="310896"/>
          </a:xfrm>
          <a:prstGeom prst="rect">
            <a:avLst/>
          </a:prstGeom>
          <a:noFill/>
        </p:spPr>
        <p:txBody>
          <a:bodyPr wrap="square" lIns="54864" tIns="54864" rIns="54864" bIns="54864" anchor="t">
            <a:spAutoFit/>
          </a:bodyPr>
          <a:lstStyle/>
          <a:p>
            <a:pPr algn="l">
              <a:spcAft>
                <a:spcPts val="0"/>
              </a:spcAft>
            </a:pPr>
            <a:r>
              <a:rPr sz="1600" b="1">
                <a:solidFill>
                  <a:srgbClr val="132645"/>
                </a:solidFill>
                <a:latin typeface="Aptos"/>
              </a:rPr>
              <a:t>Combined objective</a:t>
            </a:r>
          </a:p>
        </p:txBody>
      </p:sp>
      <p:sp>
        <p:nvSpPr>
          <p:cNvPr id="20" name="TextBox 19"/>
          <p:cNvSpPr txBox="1"/>
          <p:nvPr/>
        </p:nvSpPr>
        <p:spPr>
          <a:xfrm>
            <a:off x="8385048" y="2770632"/>
            <a:ext cx="2807208" cy="841248"/>
          </a:xfrm>
          <a:prstGeom prst="rect">
            <a:avLst/>
          </a:prstGeom>
          <a:noFill/>
        </p:spPr>
        <p:txBody>
          <a:bodyPr wrap="square" lIns="54864" tIns="54864" rIns="54864" bIns="54864" anchor="t">
            <a:spAutoFit/>
          </a:bodyPr>
          <a:lstStyle/>
          <a:p>
            <a:pPr algn="l">
              <a:spcAft>
                <a:spcPts val="0"/>
              </a:spcAft>
            </a:pPr>
            <a:r>
              <a:rPr sz="1300" b="0">
                <a:solidFill>
                  <a:srgbClr val="273343"/>
                </a:solidFill>
                <a:latin typeface="Aptos"/>
              </a:rPr>
              <a:t>The optimizer minimizes the combined quantity during training.</a:t>
            </a:r>
          </a:p>
        </p:txBody>
      </p:sp>
      <p:cxnSp>
        <p:nvCxnSpPr>
          <p:cNvPr id="21" name="Connector 20"/>
          <p:cNvCxnSpPr/>
          <p:nvPr/>
        </p:nvCxnSpPr>
        <p:spPr>
          <a:xfrm>
            <a:off x="6080760" y="4206240"/>
            <a:ext cx="0" cy="1051560"/>
          </a:xfrm>
          <a:prstGeom prst="line">
            <a:avLst/>
          </a:prstGeom>
          <a:ln w="38100">
            <a:solidFill>
              <a:srgbClr val="132645"/>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206240" y="4480560"/>
            <a:ext cx="3749039" cy="0"/>
          </a:xfrm>
          <a:prstGeom prst="line">
            <a:avLst/>
          </a:prstGeom>
          <a:ln w="38100">
            <a:solidFill>
              <a:srgbClr val="132645"/>
            </a:solidFill>
          </a:ln>
        </p:spPr>
        <p:style>
          <a:lnRef idx="2">
            <a:schemeClr val="accent1"/>
          </a:lnRef>
          <a:fillRef idx="0">
            <a:schemeClr val="accent1"/>
          </a:fillRef>
          <a:effectRef idx="1">
            <a:schemeClr val="accent1"/>
          </a:effectRef>
          <a:fontRef idx="minor">
            <a:schemeClr val="tx1"/>
          </a:fontRef>
        </p:style>
      </p:cxnSp>
      <p:sp>
        <p:nvSpPr>
          <p:cNvPr id="23" name="Oval 22"/>
          <p:cNvSpPr/>
          <p:nvPr/>
        </p:nvSpPr>
        <p:spPr>
          <a:xfrm>
            <a:off x="3794760" y="4572000"/>
            <a:ext cx="914400" cy="457200"/>
          </a:xfrm>
          <a:prstGeom prst="ellipse">
            <a:avLst/>
          </a:prstGeom>
          <a:solidFill>
            <a:srgbClr val="2D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3383280" y="5120640"/>
            <a:ext cx="1737360" cy="320040"/>
          </a:xfrm>
          <a:prstGeom prst="rect">
            <a:avLst/>
          </a:prstGeom>
          <a:noFill/>
        </p:spPr>
        <p:txBody>
          <a:bodyPr wrap="square" lIns="54864" tIns="54864" rIns="54864" bIns="54864" anchor="t">
            <a:spAutoFit/>
          </a:bodyPr>
          <a:lstStyle/>
          <a:p>
            <a:pPr algn="ctr">
              <a:spcAft>
                <a:spcPts val="0"/>
              </a:spcAft>
            </a:pPr>
            <a:r>
              <a:rPr sz="1000" b="1">
                <a:solidFill>
                  <a:srgbClr val="132645"/>
                </a:solidFill>
                <a:latin typeface="Aptos"/>
              </a:rPr>
              <a:t>Fit the data</a:t>
            </a:r>
          </a:p>
        </p:txBody>
      </p:sp>
      <p:sp>
        <p:nvSpPr>
          <p:cNvPr id="25" name="Oval 24"/>
          <p:cNvSpPr/>
          <p:nvPr/>
        </p:nvSpPr>
        <p:spPr>
          <a:xfrm>
            <a:off x="7543800" y="4572000"/>
            <a:ext cx="914400" cy="457200"/>
          </a:xfrm>
          <a:prstGeom prst="ellipse">
            <a:avLst/>
          </a:prstGeom>
          <a:solidFill>
            <a:srgbClr val="E69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132320" y="5120640"/>
            <a:ext cx="1737360" cy="320040"/>
          </a:xfrm>
          <a:prstGeom prst="rect">
            <a:avLst/>
          </a:prstGeom>
          <a:noFill/>
        </p:spPr>
        <p:txBody>
          <a:bodyPr wrap="square" lIns="54864" tIns="54864" rIns="54864" bIns="54864" anchor="t">
            <a:spAutoFit/>
          </a:bodyPr>
          <a:lstStyle/>
          <a:p>
            <a:pPr algn="ctr">
              <a:spcAft>
                <a:spcPts val="0"/>
              </a:spcAft>
            </a:pPr>
            <a:r>
              <a:rPr sz="1000" b="1">
                <a:solidFill>
                  <a:srgbClr val="132645"/>
                </a:solidFill>
                <a:latin typeface="Aptos"/>
              </a:rPr>
              <a:t>Limit complexity</a:t>
            </a:r>
          </a:p>
        </p:txBody>
      </p:sp>
      <p:sp>
        <p:nvSpPr>
          <p:cNvPr id="27" name="TextBox 26"/>
          <p:cNvSpPr txBox="1"/>
          <p:nvPr/>
        </p:nvSpPr>
        <p:spPr>
          <a:xfrm>
            <a:off x="914400" y="5760720"/>
            <a:ext cx="10241280" cy="274320"/>
          </a:xfrm>
          <a:prstGeom prst="rect">
            <a:avLst/>
          </a:prstGeom>
          <a:noFill/>
        </p:spPr>
        <p:txBody>
          <a:bodyPr wrap="square" lIns="54864" tIns="54864" rIns="54864" bIns="54864" anchor="t">
            <a:spAutoFit/>
          </a:bodyPr>
          <a:lstStyle/>
          <a:p>
            <a:pPr algn="ctr">
              <a:spcAft>
                <a:spcPts val="0"/>
              </a:spcAft>
            </a:pPr>
            <a:r>
              <a:rPr sz="1300" b="1">
                <a:solidFill>
                  <a:srgbClr val="1C968C"/>
                </a:solidFill>
                <a:latin typeface="Aptos"/>
              </a:rPr>
              <a:t>Goal: improve generalization—not simply minimize training error.</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256032"/>
            <a:ext cx="10972800" cy="502920"/>
          </a:xfrm>
          <a:prstGeom prst="rect">
            <a:avLst/>
          </a:prstGeom>
          <a:noFill/>
        </p:spPr>
        <p:txBody>
          <a:bodyPr wrap="square" lIns="54864" tIns="54864" rIns="54864" bIns="54864" anchor="t">
            <a:spAutoFit/>
          </a:bodyPr>
          <a:lstStyle/>
          <a:p>
            <a:pPr algn="l">
              <a:spcAft>
                <a:spcPts val="0"/>
              </a:spcAft>
            </a:pPr>
            <a:r>
              <a:rPr sz="2700" b="1">
                <a:solidFill>
                  <a:srgbClr val="132645"/>
                </a:solidFill>
                <a:latin typeface="Aptos"/>
              </a:rPr>
              <a:t>Why Are Weights Penalized?</a:t>
            </a:r>
          </a:p>
        </p:txBody>
      </p:sp>
      <p:sp>
        <p:nvSpPr>
          <p:cNvPr id="4" name="Rectangle 3"/>
          <p:cNvSpPr/>
          <p:nvPr/>
        </p:nvSpPr>
        <p:spPr>
          <a:xfrm>
            <a:off x="585216" y="832104"/>
            <a:ext cx="731520" cy="50292"/>
          </a:xfrm>
          <a:prstGeom prst="rect">
            <a:avLst/>
          </a:prstGeom>
          <a:solidFill>
            <a:srgbClr val="1C9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464040" y="292608"/>
            <a:ext cx="2103120" cy="274320"/>
          </a:xfrm>
          <a:prstGeom prst="rect">
            <a:avLst/>
          </a:prstGeom>
          <a:noFill/>
        </p:spPr>
        <p:txBody>
          <a:bodyPr wrap="square" lIns="54864" tIns="54864" rIns="54864" bIns="54864" anchor="t">
            <a:spAutoFit/>
          </a:bodyPr>
          <a:lstStyle/>
          <a:p>
            <a:pPr algn="r">
              <a:spcAft>
                <a:spcPts val="0"/>
              </a:spcAft>
            </a:pPr>
            <a:r>
              <a:rPr sz="900" b="1">
                <a:solidFill>
                  <a:srgbClr val="657384"/>
                </a:solidFill>
                <a:latin typeface="Aptos"/>
              </a:rPr>
              <a:t>REGULARIZATION</a:t>
            </a:r>
          </a:p>
        </p:txBody>
      </p:sp>
      <p:sp>
        <p:nvSpPr>
          <p:cNvPr id="6" name="TextBox 5"/>
          <p:cNvSpPr txBox="1"/>
          <p:nvPr/>
        </p:nvSpPr>
        <p:spPr>
          <a:xfrm>
            <a:off x="594360" y="6510528"/>
            <a:ext cx="8961120" cy="164592"/>
          </a:xfrm>
          <a:prstGeom prst="rect">
            <a:avLst/>
          </a:prstGeom>
          <a:noFill/>
        </p:spPr>
        <p:txBody>
          <a:bodyPr wrap="square" lIns="54864" tIns="54864" rIns="54864" bIns="54864" anchor="t">
            <a:spAutoFit/>
          </a:bodyPr>
          <a:lstStyle/>
          <a:p>
            <a:pPr algn="l">
              <a:spcAft>
                <a:spcPts val="0"/>
              </a:spcAft>
            </a:pPr>
            <a:r>
              <a:rPr sz="800" b="0">
                <a:solidFill>
                  <a:srgbClr val="657384"/>
                </a:solidFill>
                <a:latin typeface="Aptos"/>
              </a:rPr>
              <a:t>UNDERSTANDING MACHINE LEARNING  •  TECHNICAL SEMINAR</a:t>
            </a:r>
          </a:p>
        </p:txBody>
      </p:sp>
      <p:sp>
        <p:nvSpPr>
          <p:cNvPr id="7" name="TextBox 6"/>
          <p:cNvSpPr txBox="1"/>
          <p:nvPr/>
        </p:nvSpPr>
        <p:spPr>
          <a:xfrm>
            <a:off x="11064240" y="6473952"/>
            <a:ext cx="502920" cy="201168"/>
          </a:xfrm>
          <a:prstGeom prst="rect">
            <a:avLst/>
          </a:prstGeom>
          <a:noFill/>
        </p:spPr>
        <p:txBody>
          <a:bodyPr wrap="square" lIns="54864" tIns="54864" rIns="54864" bIns="54864" anchor="t">
            <a:spAutoFit/>
          </a:bodyPr>
          <a:lstStyle/>
          <a:p>
            <a:pPr algn="r">
              <a:spcAft>
                <a:spcPts val="0"/>
              </a:spcAft>
            </a:pPr>
            <a:r>
              <a:rPr sz="900" b="1">
                <a:solidFill>
                  <a:srgbClr val="657384"/>
                </a:solidFill>
                <a:latin typeface="Aptos"/>
              </a:rPr>
              <a:t>11</a:t>
            </a:r>
          </a:p>
        </p:txBody>
      </p:sp>
      <p:sp>
        <p:nvSpPr>
          <p:cNvPr id="8" name="TextBox 7"/>
          <p:cNvSpPr txBox="1"/>
          <p:nvPr/>
        </p:nvSpPr>
        <p:spPr>
          <a:xfrm>
            <a:off x="731520" y="1115568"/>
            <a:ext cx="10789920" cy="365760"/>
          </a:xfrm>
          <a:prstGeom prst="rect">
            <a:avLst/>
          </a:prstGeom>
          <a:noFill/>
        </p:spPr>
        <p:txBody>
          <a:bodyPr wrap="square" lIns="54864" tIns="54864" rIns="54864" bIns="54864" anchor="t">
            <a:spAutoFit/>
          </a:bodyPr>
          <a:lstStyle/>
          <a:p>
            <a:pPr algn="l">
              <a:spcAft>
                <a:spcPts val="0"/>
              </a:spcAft>
            </a:pPr>
            <a:r>
              <a:rPr sz="1300" b="1">
                <a:solidFill>
                  <a:srgbClr val="657384"/>
                </a:solidFill>
                <a:latin typeface="Aptos"/>
              </a:rPr>
              <a:t>Simplified one-observation example: actual score = 35; study hours = 5; λ = 2</a:t>
            </a:r>
          </a:p>
        </p:txBody>
      </p:sp>
      <p:graphicFrame>
        <p:nvGraphicFramePr>
          <p:cNvPr id="9" name="Table 8"/>
          <p:cNvGraphicFramePr>
            <a:graphicFrameLocks noGrp="1"/>
          </p:cNvGraphicFramePr>
          <p:nvPr/>
        </p:nvGraphicFramePr>
        <p:xfrm>
          <a:off x="594360" y="1828800"/>
          <a:ext cx="10972800" cy="1965960"/>
        </p:xfrm>
        <a:graphic>
          <a:graphicData uri="http://schemas.openxmlformats.org/drawingml/2006/table">
            <a:tbl>
              <a:tblPr firstRow="1" bandRow="1">
                <a:tableStyleId>{5C22544A-7EE6-4342-B048-85BDC9FD1C3A}</a:tableStyleId>
              </a:tblPr>
              <a:tblGrid>
                <a:gridCol w="137160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103120">
                  <a:extLst>
                    <a:ext uri="{9D8B030D-6E8A-4147-A177-3AD203B41FA5}">
                      <a16:colId xmlns:a16="http://schemas.microsoft.com/office/drawing/2014/main" val="20003"/>
                    </a:ext>
                  </a:extLst>
                </a:gridCol>
                <a:gridCol w="2103120">
                  <a:extLst>
                    <a:ext uri="{9D8B030D-6E8A-4147-A177-3AD203B41FA5}">
                      <a16:colId xmlns:a16="http://schemas.microsoft.com/office/drawing/2014/main" val="20004"/>
                    </a:ext>
                  </a:extLst>
                </a:gridCol>
                <a:gridCol w="2103120">
                  <a:extLst>
                    <a:ext uri="{9D8B030D-6E8A-4147-A177-3AD203B41FA5}">
                      <a16:colId xmlns:a16="http://schemas.microsoft.com/office/drawing/2014/main" val="20005"/>
                    </a:ext>
                  </a:extLst>
                </a:gridCol>
              </a:tblGrid>
              <a:tr h="655320">
                <a:tc>
                  <a:txBody>
                    <a:bodyPr/>
                    <a:lstStyle/>
                    <a:p>
                      <a:pPr algn="ctr"/>
                      <a:r>
                        <a:rPr sz="1000" b="1">
                          <a:solidFill>
                            <a:srgbClr val="FFFFFF"/>
                          </a:solidFill>
                          <a:latin typeface="Aptos"/>
                        </a:rPr>
                        <a:t>Candidate</a:t>
                      </a:r>
                    </a:p>
                  </a:txBody>
                  <a:tcPr marL="45720" marR="45720">
                    <a:solidFill>
                      <a:srgbClr val="132645"/>
                    </a:solidFill>
                  </a:tcPr>
                </a:tc>
                <a:tc>
                  <a:txBody>
                    <a:bodyPr/>
                    <a:lstStyle/>
                    <a:p>
                      <a:pPr algn="ctr"/>
                      <a:r>
                        <a:rPr sz="1000" b="1">
                          <a:solidFill>
                            <a:srgbClr val="FFFFFF"/>
                          </a:solidFill>
                          <a:latin typeface="Aptos"/>
                        </a:rPr>
                        <a:t>Weight w</a:t>
                      </a:r>
                    </a:p>
                  </a:txBody>
                  <a:tcPr marL="45720" marR="45720">
                    <a:solidFill>
                      <a:srgbClr val="132645"/>
                    </a:solidFill>
                  </a:tcPr>
                </a:tc>
                <a:tc>
                  <a:txBody>
                    <a:bodyPr/>
                    <a:lstStyle/>
                    <a:p>
                      <a:pPr algn="ctr"/>
                      <a:r>
                        <a:rPr sz="1000" b="1">
                          <a:solidFill>
                            <a:srgbClr val="FFFFFF"/>
                          </a:solidFill>
                          <a:latin typeface="Aptos"/>
                        </a:rPr>
                        <a:t>Prediction</a:t>
                      </a:r>
                    </a:p>
                  </a:txBody>
                  <a:tcPr marL="45720" marR="45720">
                    <a:solidFill>
                      <a:srgbClr val="132645"/>
                    </a:solidFill>
                  </a:tcPr>
                </a:tc>
                <a:tc>
                  <a:txBody>
                    <a:bodyPr/>
                    <a:lstStyle/>
                    <a:p>
                      <a:pPr algn="ctr"/>
                      <a:r>
                        <a:rPr sz="1000" b="1">
                          <a:solidFill>
                            <a:srgbClr val="FFFFFF"/>
                          </a:solidFill>
                          <a:latin typeface="Aptos"/>
                        </a:rPr>
                        <a:t>Squared error</a:t>
                      </a:r>
                    </a:p>
                  </a:txBody>
                  <a:tcPr marL="45720" marR="45720">
                    <a:solidFill>
                      <a:srgbClr val="132645"/>
                    </a:solidFill>
                  </a:tcPr>
                </a:tc>
                <a:tc>
                  <a:txBody>
                    <a:bodyPr/>
                    <a:lstStyle/>
                    <a:p>
                      <a:pPr algn="ctr"/>
                      <a:r>
                        <a:rPr sz="1000" b="1">
                          <a:solidFill>
                            <a:srgbClr val="FFFFFF"/>
                          </a:solidFill>
                          <a:latin typeface="Aptos"/>
                        </a:rPr>
                        <a:t>Ridge penalty</a:t>
                      </a:r>
                    </a:p>
                  </a:txBody>
                  <a:tcPr marL="45720" marR="45720">
                    <a:solidFill>
                      <a:srgbClr val="132645"/>
                    </a:solidFill>
                  </a:tcPr>
                </a:tc>
                <a:tc>
                  <a:txBody>
                    <a:bodyPr/>
                    <a:lstStyle/>
                    <a:p>
                      <a:pPr algn="ctr"/>
                      <a:r>
                        <a:rPr sz="1000" b="1">
                          <a:solidFill>
                            <a:srgbClr val="FFFFFF"/>
                          </a:solidFill>
                          <a:latin typeface="Aptos"/>
                        </a:rPr>
                        <a:t>Total objective</a:t>
                      </a:r>
                    </a:p>
                  </a:txBody>
                  <a:tcPr marL="45720" marR="45720">
                    <a:solidFill>
                      <a:srgbClr val="132645"/>
                    </a:solidFill>
                  </a:tcPr>
                </a:tc>
                <a:extLst>
                  <a:ext uri="{0D108BD9-81ED-4DB2-BD59-A6C34878D82A}">
                    <a16:rowId xmlns:a16="http://schemas.microsoft.com/office/drawing/2014/main" val="10000"/>
                  </a:ext>
                </a:extLst>
              </a:tr>
              <a:tr h="655320">
                <a:tc>
                  <a:txBody>
                    <a:bodyPr/>
                    <a:lstStyle/>
                    <a:p>
                      <a:pPr algn="ctr"/>
                      <a:r>
                        <a:rPr sz="1100" b="0">
                          <a:solidFill>
                            <a:srgbClr val="273343"/>
                          </a:solidFill>
                          <a:latin typeface="Aptos"/>
                        </a:rPr>
                        <a:t>A</a:t>
                      </a:r>
                    </a:p>
                  </a:txBody>
                  <a:tcPr marL="45720" marR="45720">
                    <a:solidFill>
                      <a:srgbClr val="E6EFFB"/>
                    </a:solidFill>
                  </a:tcPr>
                </a:tc>
                <a:tc>
                  <a:txBody>
                    <a:bodyPr/>
                    <a:lstStyle/>
                    <a:p>
                      <a:pPr algn="ctr"/>
                      <a:r>
                        <a:rPr sz="1100" b="0">
                          <a:solidFill>
                            <a:srgbClr val="273343"/>
                          </a:solidFill>
                          <a:latin typeface="Aptos"/>
                        </a:rPr>
                        <a:t>4</a:t>
                      </a:r>
                    </a:p>
                  </a:txBody>
                  <a:tcPr marL="45720" marR="45720">
                    <a:solidFill>
                      <a:srgbClr val="E6EFFB"/>
                    </a:solidFill>
                  </a:tcPr>
                </a:tc>
                <a:tc>
                  <a:txBody>
                    <a:bodyPr/>
                    <a:lstStyle/>
                    <a:p>
                      <a:pPr algn="ctr"/>
                      <a:r>
                        <a:rPr sz="1100" b="0">
                          <a:solidFill>
                            <a:srgbClr val="273343"/>
                          </a:solidFill>
                          <a:latin typeface="Aptos"/>
                        </a:rPr>
                        <a:t>10 + 4×5 = 30</a:t>
                      </a:r>
                    </a:p>
                  </a:txBody>
                  <a:tcPr marL="45720" marR="45720">
                    <a:solidFill>
                      <a:srgbClr val="E6EFFB"/>
                    </a:solidFill>
                  </a:tcPr>
                </a:tc>
                <a:tc>
                  <a:txBody>
                    <a:bodyPr/>
                    <a:lstStyle/>
                    <a:p>
                      <a:pPr algn="ctr"/>
                      <a:r>
                        <a:rPr sz="1100" b="0">
                          <a:solidFill>
                            <a:srgbClr val="273343"/>
                          </a:solidFill>
                          <a:latin typeface="Aptos"/>
                        </a:rPr>
                        <a:t>(35−30)² = 25</a:t>
                      </a:r>
                    </a:p>
                  </a:txBody>
                  <a:tcPr marL="45720" marR="45720">
                    <a:solidFill>
                      <a:srgbClr val="E6EFFB"/>
                    </a:solidFill>
                  </a:tcPr>
                </a:tc>
                <a:tc>
                  <a:txBody>
                    <a:bodyPr/>
                    <a:lstStyle/>
                    <a:p>
                      <a:pPr algn="ctr"/>
                      <a:r>
                        <a:rPr sz="1100" b="0">
                          <a:solidFill>
                            <a:srgbClr val="273343"/>
                          </a:solidFill>
                          <a:latin typeface="Aptos"/>
                        </a:rPr>
                        <a:t>2×4² = 32</a:t>
                      </a:r>
                    </a:p>
                  </a:txBody>
                  <a:tcPr marL="45720" marR="45720">
                    <a:solidFill>
                      <a:srgbClr val="E6EFFB"/>
                    </a:solidFill>
                  </a:tcPr>
                </a:tc>
                <a:tc>
                  <a:txBody>
                    <a:bodyPr/>
                    <a:lstStyle/>
                    <a:p>
                      <a:pPr algn="ctr"/>
                      <a:r>
                        <a:rPr sz="1100" b="1">
                          <a:solidFill>
                            <a:srgbClr val="273343"/>
                          </a:solidFill>
                          <a:latin typeface="Aptos"/>
                        </a:rPr>
                        <a:t>25 + 32 = 57</a:t>
                      </a:r>
                    </a:p>
                  </a:txBody>
                  <a:tcPr marL="45720" marR="45720">
                    <a:solidFill>
                      <a:srgbClr val="E6EFFB"/>
                    </a:solidFill>
                  </a:tcPr>
                </a:tc>
                <a:extLst>
                  <a:ext uri="{0D108BD9-81ED-4DB2-BD59-A6C34878D82A}">
                    <a16:rowId xmlns:a16="http://schemas.microsoft.com/office/drawing/2014/main" val="10001"/>
                  </a:ext>
                </a:extLst>
              </a:tr>
              <a:tr h="655320">
                <a:tc>
                  <a:txBody>
                    <a:bodyPr/>
                    <a:lstStyle/>
                    <a:p>
                      <a:pPr algn="ctr"/>
                      <a:r>
                        <a:rPr sz="1100" b="0">
                          <a:solidFill>
                            <a:srgbClr val="273343"/>
                          </a:solidFill>
                          <a:latin typeface="Aptos"/>
                        </a:rPr>
                        <a:t>B</a:t>
                      </a:r>
                    </a:p>
                  </a:txBody>
                  <a:tcPr marL="45720" marR="45720">
                    <a:solidFill>
                      <a:srgbClr val="E2F5F1"/>
                    </a:solidFill>
                  </a:tcPr>
                </a:tc>
                <a:tc>
                  <a:txBody>
                    <a:bodyPr/>
                    <a:lstStyle/>
                    <a:p>
                      <a:pPr algn="ctr"/>
                      <a:r>
                        <a:rPr sz="1100" b="0">
                          <a:solidFill>
                            <a:srgbClr val="273343"/>
                          </a:solidFill>
                          <a:latin typeface="Aptos"/>
                        </a:rPr>
                        <a:t>5</a:t>
                      </a:r>
                    </a:p>
                  </a:txBody>
                  <a:tcPr marL="45720" marR="45720">
                    <a:solidFill>
                      <a:srgbClr val="E2F5F1"/>
                    </a:solidFill>
                  </a:tcPr>
                </a:tc>
                <a:tc>
                  <a:txBody>
                    <a:bodyPr/>
                    <a:lstStyle/>
                    <a:p>
                      <a:pPr algn="ctr"/>
                      <a:r>
                        <a:rPr sz="1100" b="0">
                          <a:solidFill>
                            <a:srgbClr val="273343"/>
                          </a:solidFill>
                          <a:latin typeface="Aptos"/>
                        </a:rPr>
                        <a:t>10 + 5×5 = 35</a:t>
                      </a:r>
                    </a:p>
                  </a:txBody>
                  <a:tcPr marL="45720" marR="45720">
                    <a:solidFill>
                      <a:srgbClr val="E2F5F1"/>
                    </a:solidFill>
                  </a:tcPr>
                </a:tc>
                <a:tc>
                  <a:txBody>
                    <a:bodyPr/>
                    <a:lstStyle/>
                    <a:p>
                      <a:pPr algn="ctr"/>
                      <a:r>
                        <a:rPr sz="1100" b="0">
                          <a:solidFill>
                            <a:srgbClr val="273343"/>
                          </a:solidFill>
                          <a:latin typeface="Aptos"/>
                        </a:rPr>
                        <a:t>(35−35)² = 0</a:t>
                      </a:r>
                    </a:p>
                  </a:txBody>
                  <a:tcPr marL="45720" marR="45720">
                    <a:solidFill>
                      <a:srgbClr val="E2F5F1"/>
                    </a:solidFill>
                  </a:tcPr>
                </a:tc>
                <a:tc>
                  <a:txBody>
                    <a:bodyPr/>
                    <a:lstStyle/>
                    <a:p>
                      <a:pPr algn="ctr"/>
                      <a:r>
                        <a:rPr sz="1100" b="0">
                          <a:solidFill>
                            <a:srgbClr val="273343"/>
                          </a:solidFill>
                          <a:latin typeface="Aptos"/>
                        </a:rPr>
                        <a:t>2×5² = 50</a:t>
                      </a:r>
                    </a:p>
                  </a:txBody>
                  <a:tcPr marL="45720" marR="45720">
                    <a:solidFill>
                      <a:srgbClr val="E2F5F1"/>
                    </a:solidFill>
                  </a:tcPr>
                </a:tc>
                <a:tc>
                  <a:txBody>
                    <a:bodyPr/>
                    <a:lstStyle/>
                    <a:p>
                      <a:pPr algn="ctr"/>
                      <a:r>
                        <a:rPr sz="1100" b="1">
                          <a:solidFill>
                            <a:srgbClr val="273343"/>
                          </a:solidFill>
                          <a:latin typeface="Aptos"/>
                        </a:rPr>
                        <a:t>0 + 50 = 50</a:t>
                      </a:r>
                    </a:p>
                  </a:txBody>
                  <a:tcPr marL="45720" marR="45720">
                    <a:solidFill>
                      <a:srgbClr val="E2F5F1"/>
                    </a:solidFill>
                  </a:tcPr>
                </a:tc>
                <a:extLst>
                  <a:ext uri="{0D108BD9-81ED-4DB2-BD59-A6C34878D82A}">
                    <a16:rowId xmlns:a16="http://schemas.microsoft.com/office/drawing/2014/main" val="10002"/>
                  </a:ext>
                </a:extLst>
              </a:tr>
            </a:tbl>
          </a:graphicData>
        </a:graphic>
      </p:graphicFrame>
      <p:sp>
        <p:nvSpPr>
          <p:cNvPr id="10" name="Rounded Rectangle 9"/>
          <p:cNvSpPr/>
          <p:nvPr/>
        </p:nvSpPr>
        <p:spPr>
          <a:xfrm>
            <a:off x="914400" y="4343400"/>
            <a:ext cx="4754880" cy="960120"/>
          </a:xfrm>
          <a:prstGeom prst="roundRect">
            <a:avLst/>
          </a:prstGeom>
          <a:solidFill>
            <a:srgbClr val="E6EFFB"/>
          </a:solidFill>
          <a:ln w="12700">
            <a:solidFill>
              <a:srgbClr val="DEE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914400" y="4343400"/>
            <a:ext cx="73152" cy="960120"/>
          </a:xfrm>
          <a:prstGeom prst="rect">
            <a:avLst/>
          </a:prstGeom>
          <a:solidFill>
            <a:srgbClr val="2D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115568" y="4489704"/>
            <a:ext cx="4407408" cy="310896"/>
          </a:xfrm>
          <a:prstGeom prst="rect">
            <a:avLst/>
          </a:prstGeom>
          <a:noFill/>
        </p:spPr>
        <p:txBody>
          <a:bodyPr wrap="square" lIns="54864" tIns="54864" rIns="54864" bIns="54864" anchor="t">
            <a:spAutoFit/>
          </a:bodyPr>
          <a:lstStyle/>
          <a:p>
            <a:pPr algn="l">
              <a:spcAft>
                <a:spcPts val="0"/>
              </a:spcAft>
            </a:pPr>
            <a:r>
              <a:rPr sz="1400" b="1">
                <a:solidFill>
                  <a:srgbClr val="132645"/>
                </a:solidFill>
                <a:latin typeface="Aptos"/>
              </a:rPr>
              <a:t>Candidate A total = 57</a:t>
            </a:r>
          </a:p>
        </p:txBody>
      </p:sp>
      <p:sp>
        <p:nvSpPr>
          <p:cNvPr id="13" name="TextBox 12"/>
          <p:cNvSpPr txBox="1"/>
          <p:nvPr/>
        </p:nvSpPr>
        <p:spPr>
          <a:xfrm>
            <a:off x="1115568" y="4873752"/>
            <a:ext cx="4407408" cy="338328"/>
          </a:xfrm>
          <a:prstGeom prst="rect">
            <a:avLst/>
          </a:prstGeom>
          <a:noFill/>
        </p:spPr>
        <p:txBody>
          <a:bodyPr wrap="square" lIns="54864" tIns="54864" rIns="54864" bIns="54864" anchor="t">
            <a:spAutoFit/>
          </a:bodyPr>
          <a:lstStyle/>
          <a:p>
            <a:pPr algn="l">
              <a:spcAft>
                <a:spcPts val="0"/>
              </a:spcAft>
            </a:pPr>
            <a:r>
              <a:rPr sz="1200" b="0">
                <a:solidFill>
                  <a:srgbClr val="273343"/>
                </a:solidFill>
                <a:latin typeface="Aptos"/>
              </a:rPr>
              <a:t>Higher prediction error, lower penalty.</a:t>
            </a:r>
          </a:p>
        </p:txBody>
      </p:sp>
      <p:sp>
        <p:nvSpPr>
          <p:cNvPr id="14" name="Rounded Rectangle 13"/>
          <p:cNvSpPr/>
          <p:nvPr/>
        </p:nvSpPr>
        <p:spPr>
          <a:xfrm>
            <a:off x="6400800" y="4343400"/>
            <a:ext cx="4754880" cy="960120"/>
          </a:xfrm>
          <a:prstGeom prst="roundRect">
            <a:avLst/>
          </a:prstGeom>
          <a:solidFill>
            <a:srgbClr val="E2F5F1"/>
          </a:solidFill>
          <a:ln w="12700">
            <a:solidFill>
              <a:srgbClr val="DEE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400800" y="4343400"/>
            <a:ext cx="73152" cy="960120"/>
          </a:xfrm>
          <a:prstGeom prst="rect">
            <a:avLst/>
          </a:prstGeom>
          <a:solidFill>
            <a:srgbClr val="1C9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601968" y="4489704"/>
            <a:ext cx="4407408" cy="310896"/>
          </a:xfrm>
          <a:prstGeom prst="rect">
            <a:avLst/>
          </a:prstGeom>
          <a:noFill/>
        </p:spPr>
        <p:txBody>
          <a:bodyPr wrap="square" lIns="54864" tIns="54864" rIns="54864" bIns="54864" anchor="t">
            <a:spAutoFit/>
          </a:bodyPr>
          <a:lstStyle/>
          <a:p>
            <a:pPr algn="l">
              <a:spcAft>
                <a:spcPts val="0"/>
              </a:spcAft>
            </a:pPr>
            <a:r>
              <a:rPr sz="1400" b="1">
                <a:solidFill>
                  <a:srgbClr val="132645"/>
                </a:solidFill>
                <a:latin typeface="Aptos"/>
              </a:rPr>
              <a:t>Candidate B total = 50</a:t>
            </a:r>
          </a:p>
        </p:txBody>
      </p:sp>
      <p:sp>
        <p:nvSpPr>
          <p:cNvPr id="17" name="TextBox 16"/>
          <p:cNvSpPr txBox="1"/>
          <p:nvPr/>
        </p:nvSpPr>
        <p:spPr>
          <a:xfrm>
            <a:off x="6601968" y="4873752"/>
            <a:ext cx="4407408" cy="338328"/>
          </a:xfrm>
          <a:prstGeom prst="rect">
            <a:avLst/>
          </a:prstGeom>
          <a:noFill/>
        </p:spPr>
        <p:txBody>
          <a:bodyPr wrap="square" lIns="54864" tIns="54864" rIns="54864" bIns="54864" anchor="t">
            <a:spAutoFit/>
          </a:bodyPr>
          <a:lstStyle/>
          <a:p>
            <a:pPr algn="l">
              <a:spcAft>
                <a:spcPts val="0"/>
              </a:spcAft>
            </a:pPr>
            <a:r>
              <a:rPr sz="1200" b="0">
                <a:solidFill>
                  <a:srgbClr val="273343"/>
                </a:solidFill>
                <a:latin typeface="Aptos"/>
              </a:rPr>
              <a:t>Zero error for this one case, but a larger penalty.</a:t>
            </a:r>
          </a:p>
        </p:txBody>
      </p:sp>
      <p:sp>
        <p:nvSpPr>
          <p:cNvPr id="18" name="TextBox 17"/>
          <p:cNvSpPr txBox="1"/>
          <p:nvPr/>
        </p:nvSpPr>
        <p:spPr>
          <a:xfrm>
            <a:off x="868680" y="5623560"/>
            <a:ext cx="10424160" cy="347472"/>
          </a:xfrm>
          <a:prstGeom prst="rect">
            <a:avLst/>
          </a:prstGeom>
          <a:noFill/>
        </p:spPr>
        <p:txBody>
          <a:bodyPr wrap="square" lIns="54864" tIns="54864" rIns="54864" bIns="54864" anchor="t">
            <a:spAutoFit/>
          </a:bodyPr>
          <a:lstStyle/>
          <a:p>
            <a:pPr algn="ctr">
              <a:spcAft>
                <a:spcPts val="0"/>
              </a:spcAft>
            </a:pPr>
            <a:r>
              <a:rPr sz="1100" b="1">
                <a:solidFill>
                  <a:srgbClr val="C34949"/>
                </a:solidFill>
                <a:latin typeface="Aptos"/>
              </a:rPr>
              <a:t>Regularization does not always choose the smallest weight; it balances fit and penalty.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256032"/>
            <a:ext cx="10972800" cy="502920"/>
          </a:xfrm>
          <a:prstGeom prst="rect">
            <a:avLst/>
          </a:prstGeom>
          <a:noFill/>
        </p:spPr>
        <p:txBody>
          <a:bodyPr wrap="square" lIns="54864" tIns="54864" rIns="54864" bIns="54864" anchor="t">
            <a:spAutoFit/>
          </a:bodyPr>
          <a:lstStyle/>
          <a:p>
            <a:pPr algn="l">
              <a:spcAft>
                <a:spcPts val="0"/>
              </a:spcAft>
            </a:pPr>
            <a:r>
              <a:rPr sz="2700" b="1">
                <a:solidFill>
                  <a:srgbClr val="132645"/>
                </a:solidFill>
                <a:latin typeface="Aptos"/>
              </a:rPr>
              <a:t>How Are Weights Adjusted During Regularized Training?</a:t>
            </a:r>
          </a:p>
        </p:txBody>
      </p:sp>
      <p:sp>
        <p:nvSpPr>
          <p:cNvPr id="4" name="Rectangle 3"/>
          <p:cNvSpPr/>
          <p:nvPr/>
        </p:nvSpPr>
        <p:spPr>
          <a:xfrm>
            <a:off x="585216" y="832104"/>
            <a:ext cx="731520" cy="50292"/>
          </a:xfrm>
          <a:prstGeom prst="rect">
            <a:avLst/>
          </a:prstGeom>
          <a:solidFill>
            <a:srgbClr val="1C9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464040" y="292608"/>
            <a:ext cx="2103120" cy="274320"/>
          </a:xfrm>
          <a:prstGeom prst="rect">
            <a:avLst/>
          </a:prstGeom>
          <a:noFill/>
        </p:spPr>
        <p:txBody>
          <a:bodyPr wrap="square" lIns="54864" tIns="54864" rIns="54864" bIns="54864" anchor="t">
            <a:spAutoFit/>
          </a:bodyPr>
          <a:lstStyle/>
          <a:p>
            <a:pPr algn="r">
              <a:spcAft>
                <a:spcPts val="0"/>
              </a:spcAft>
            </a:pPr>
            <a:r>
              <a:rPr sz="900" b="1">
                <a:solidFill>
                  <a:srgbClr val="657384"/>
                </a:solidFill>
                <a:latin typeface="Aptos"/>
              </a:rPr>
              <a:t>REGULARIZATION</a:t>
            </a:r>
          </a:p>
        </p:txBody>
      </p:sp>
      <p:sp>
        <p:nvSpPr>
          <p:cNvPr id="6" name="TextBox 5"/>
          <p:cNvSpPr txBox="1"/>
          <p:nvPr/>
        </p:nvSpPr>
        <p:spPr>
          <a:xfrm>
            <a:off x="594360" y="6510528"/>
            <a:ext cx="8961120" cy="164592"/>
          </a:xfrm>
          <a:prstGeom prst="rect">
            <a:avLst/>
          </a:prstGeom>
          <a:noFill/>
        </p:spPr>
        <p:txBody>
          <a:bodyPr wrap="square" lIns="54864" tIns="54864" rIns="54864" bIns="54864" anchor="t">
            <a:spAutoFit/>
          </a:bodyPr>
          <a:lstStyle/>
          <a:p>
            <a:pPr algn="l">
              <a:spcAft>
                <a:spcPts val="0"/>
              </a:spcAft>
            </a:pPr>
            <a:r>
              <a:rPr sz="800" b="0">
                <a:solidFill>
                  <a:srgbClr val="657384"/>
                </a:solidFill>
                <a:latin typeface="Aptos"/>
              </a:rPr>
              <a:t>UNDERSTANDING MACHINE LEARNING  •  TECHNICAL SEMINAR</a:t>
            </a:r>
          </a:p>
        </p:txBody>
      </p:sp>
      <p:sp>
        <p:nvSpPr>
          <p:cNvPr id="7" name="TextBox 6"/>
          <p:cNvSpPr txBox="1"/>
          <p:nvPr/>
        </p:nvSpPr>
        <p:spPr>
          <a:xfrm>
            <a:off x="11064240" y="6473952"/>
            <a:ext cx="502920" cy="201168"/>
          </a:xfrm>
          <a:prstGeom prst="rect">
            <a:avLst/>
          </a:prstGeom>
          <a:noFill/>
        </p:spPr>
        <p:txBody>
          <a:bodyPr wrap="square" lIns="54864" tIns="54864" rIns="54864" bIns="54864" anchor="t">
            <a:spAutoFit/>
          </a:bodyPr>
          <a:lstStyle/>
          <a:p>
            <a:pPr algn="r">
              <a:spcAft>
                <a:spcPts val="0"/>
              </a:spcAft>
            </a:pPr>
            <a:r>
              <a:rPr sz="900" b="1">
                <a:solidFill>
                  <a:srgbClr val="657384"/>
                </a:solidFill>
                <a:latin typeface="Aptos"/>
              </a:rPr>
              <a:t>12</a:t>
            </a:r>
          </a:p>
        </p:txBody>
      </p:sp>
      <p:sp>
        <p:nvSpPr>
          <p:cNvPr id="8" name="Rounded Rectangle 7"/>
          <p:cNvSpPr/>
          <p:nvPr/>
        </p:nvSpPr>
        <p:spPr>
          <a:xfrm>
            <a:off x="594360" y="2011680"/>
            <a:ext cx="1463040" cy="1143000"/>
          </a:xfrm>
          <a:prstGeom prst="roundRect">
            <a:avLst/>
          </a:prstGeom>
          <a:solidFill>
            <a:srgbClr val="FFFFFF"/>
          </a:solidFill>
          <a:ln w="12700">
            <a:solidFill>
              <a:srgbClr val="DEE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94360" y="2011680"/>
            <a:ext cx="73152" cy="1143000"/>
          </a:xfrm>
          <a:prstGeom prst="rect">
            <a:avLst/>
          </a:prstGeom>
          <a:solidFill>
            <a:srgbClr val="2D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95528" y="2157984"/>
            <a:ext cx="1115568" cy="310896"/>
          </a:xfrm>
          <a:prstGeom prst="rect">
            <a:avLst/>
          </a:prstGeom>
          <a:noFill/>
        </p:spPr>
        <p:txBody>
          <a:bodyPr wrap="square" lIns="54864" tIns="54864" rIns="54864" bIns="54864" anchor="t">
            <a:spAutoFit/>
          </a:bodyPr>
          <a:lstStyle/>
          <a:p>
            <a:pPr algn="l">
              <a:spcAft>
                <a:spcPts val="0"/>
              </a:spcAft>
            </a:pPr>
            <a:r>
              <a:rPr sz="1300" b="1">
                <a:solidFill>
                  <a:srgbClr val="132645"/>
                </a:solidFill>
                <a:latin typeface="Aptos"/>
              </a:rPr>
              <a:t>Initial
weights</a:t>
            </a:r>
          </a:p>
        </p:txBody>
      </p:sp>
      <p:sp>
        <p:nvSpPr>
          <p:cNvPr id="11" name="TextBox 10"/>
          <p:cNvSpPr txBox="1"/>
          <p:nvPr/>
        </p:nvSpPr>
        <p:spPr>
          <a:xfrm>
            <a:off x="795528" y="2542032"/>
            <a:ext cx="1115568" cy="521207"/>
          </a:xfrm>
          <a:prstGeom prst="rect">
            <a:avLst/>
          </a:prstGeom>
          <a:noFill/>
        </p:spPr>
        <p:txBody>
          <a:bodyPr wrap="square" lIns="54864" tIns="54864" rIns="54864" bIns="54864" anchor="t">
            <a:spAutoFit/>
          </a:bodyPr>
          <a:lstStyle/>
          <a:p>
            <a:pPr algn="l">
              <a:spcAft>
                <a:spcPts val="0"/>
              </a:spcAft>
            </a:pPr>
            <a:endParaRPr/>
          </a:p>
        </p:txBody>
      </p:sp>
      <p:cxnSp>
        <p:nvCxnSpPr>
          <p:cNvPr id="12" name="Connector 11"/>
          <p:cNvCxnSpPr/>
          <p:nvPr/>
        </p:nvCxnSpPr>
        <p:spPr>
          <a:xfrm>
            <a:off x="2075688" y="2578608"/>
            <a:ext cx="365760" cy="0"/>
          </a:xfrm>
          <a:prstGeom prst="line">
            <a:avLst/>
          </a:prstGeom>
          <a:ln w="15240">
            <a:solidFill>
              <a:srgbClr val="657384"/>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514600" y="2011680"/>
            <a:ext cx="1463040" cy="1143000"/>
          </a:xfrm>
          <a:prstGeom prst="roundRect">
            <a:avLst/>
          </a:prstGeom>
          <a:solidFill>
            <a:srgbClr val="FFFFFF"/>
          </a:solidFill>
          <a:ln w="12700">
            <a:solidFill>
              <a:srgbClr val="DEE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2514600" y="2011680"/>
            <a:ext cx="73152" cy="1143000"/>
          </a:xfrm>
          <a:prstGeom prst="rect">
            <a:avLst/>
          </a:prstGeom>
          <a:solidFill>
            <a:srgbClr val="2D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715768" y="2157984"/>
            <a:ext cx="1115568" cy="310896"/>
          </a:xfrm>
          <a:prstGeom prst="rect">
            <a:avLst/>
          </a:prstGeom>
          <a:noFill/>
        </p:spPr>
        <p:txBody>
          <a:bodyPr wrap="square" lIns="54864" tIns="54864" rIns="54864" bIns="54864" anchor="t">
            <a:spAutoFit/>
          </a:bodyPr>
          <a:lstStyle/>
          <a:p>
            <a:pPr algn="l">
              <a:spcAft>
                <a:spcPts val="0"/>
              </a:spcAft>
            </a:pPr>
            <a:r>
              <a:rPr sz="1300" b="1">
                <a:solidFill>
                  <a:srgbClr val="132645"/>
                </a:solidFill>
                <a:latin typeface="Aptos"/>
              </a:rPr>
              <a:t>Make
predictions</a:t>
            </a:r>
          </a:p>
        </p:txBody>
      </p:sp>
      <p:sp>
        <p:nvSpPr>
          <p:cNvPr id="16" name="TextBox 15"/>
          <p:cNvSpPr txBox="1"/>
          <p:nvPr/>
        </p:nvSpPr>
        <p:spPr>
          <a:xfrm>
            <a:off x="2715768" y="2542032"/>
            <a:ext cx="1115568" cy="521207"/>
          </a:xfrm>
          <a:prstGeom prst="rect">
            <a:avLst/>
          </a:prstGeom>
          <a:noFill/>
        </p:spPr>
        <p:txBody>
          <a:bodyPr wrap="square" lIns="54864" tIns="54864" rIns="54864" bIns="54864" anchor="t">
            <a:spAutoFit/>
          </a:bodyPr>
          <a:lstStyle/>
          <a:p>
            <a:pPr algn="l">
              <a:spcAft>
                <a:spcPts val="0"/>
              </a:spcAft>
            </a:pPr>
            <a:endParaRPr/>
          </a:p>
        </p:txBody>
      </p:sp>
      <p:cxnSp>
        <p:nvCxnSpPr>
          <p:cNvPr id="17" name="Connector 16"/>
          <p:cNvCxnSpPr/>
          <p:nvPr/>
        </p:nvCxnSpPr>
        <p:spPr>
          <a:xfrm>
            <a:off x="3995928" y="2578608"/>
            <a:ext cx="365760" cy="0"/>
          </a:xfrm>
          <a:prstGeom prst="line">
            <a:avLst/>
          </a:prstGeom>
          <a:ln w="15240">
            <a:solidFill>
              <a:srgbClr val="657384"/>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4434840" y="2011680"/>
            <a:ext cx="1463040" cy="1143000"/>
          </a:xfrm>
          <a:prstGeom prst="roundRect">
            <a:avLst/>
          </a:prstGeom>
          <a:solidFill>
            <a:srgbClr val="FFFFFF"/>
          </a:solidFill>
          <a:ln w="12700">
            <a:solidFill>
              <a:srgbClr val="DEE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4434840" y="2011680"/>
            <a:ext cx="73152" cy="1143000"/>
          </a:xfrm>
          <a:prstGeom prst="rect">
            <a:avLst/>
          </a:prstGeom>
          <a:solidFill>
            <a:srgbClr val="E69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636007" y="2157984"/>
            <a:ext cx="1115568" cy="310896"/>
          </a:xfrm>
          <a:prstGeom prst="rect">
            <a:avLst/>
          </a:prstGeom>
          <a:noFill/>
        </p:spPr>
        <p:txBody>
          <a:bodyPr wrap="square" lIns="54864" tIns="54864" rIns="54864" bIns="54864" anchor="t">
            <a:spAutoFit/>
          </a:bodyPr>
          <a:lstStyle/>
          <a:p>
            <a:pPr algn="l">
              <a:spcAft>
                <a:spcPts val="0"/>
              </a:spcAft>
            </a:pPr>
            <a:r>
              <a:rPr sz="1300" b="1">
                <a:solidFill>
                  <a:srgbClr val="132645"/>
                </a:solidFill>
                <a:latin typeface="Aptos"/>
              </a:rPr>
              <a:t>Calculate
error</a:t>
            </a:r>
          </a:p>
        </p:txBody>
      </p:sp>
      <p:sp>
        <p:nvSpPr>
          <p:cNvPr id="21" name="TextBox 20"/>
          <p:cNvSpPr txBox="1"/>
          <p:nvPr/>
        </p:nvSpPr>
        <p:spPr>
          <a:xfrm>
            <a:off x="4636007" y="2542032"/>
            <a:ext cx="1115568" cy="521207"/>
          </a:xfrm>
          <a:prstGeom prst="rect">
            <a:avLst/>
          </a:prstGeom>
          <a:noFill/>
        </p:spPr>
        <p:txBody>
          <a:bodyPr wrap="square" lIns="54864" tIns="54864" rIns="54864" bIns="54864" anchor="t">
            <a:spAutoFit/>
          </a:bodyPr>
          <a:lstStyle/>
          <a:p>
            <a:pPr algn="l">
              <a:spcAft>
                <a:spcPts val="0"/>
              </a:spcAft>
            </a:pPr>
            <a:endParaRPr/>
          </a:p>
        </p:txBody>
      </p:sp>
      <p:cxnSp>
        <p:nvCxnSpPr>
          <p:cNvPr id="22" name="Connector 21"/>
          <p:cNvCxnSpPr/>
          <p:nvPr/>
        </p:nvCxnSpPr>
        <p:spPr>
          <a:xfrm>
            <a:off x="5916168" y="2578608"/>
            <a:ext cx="365760" cy="0"/>
          </a:xfrm>
          <a:prstGeom prst="line">
            <a:avLst/>
          </a:prstGeom>
          <a:ln w="15240">
            <a:solidFill>
              <a:srgbClr val="657384"/>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6355080" y="2011680"/>
            <a:ext cx="1463040" cy="1143000"/>
          </a:xfrm>
          <a:prstGeom prst="roundRect">
            <a:avLst/>
          </a:prstGeom>
          <a:solidFill>
            <a:srgbClr val="FFFFFF"/>
          </a:solidFill>
          <a:ln w="12700">
            <a:solidFill>
              <a:srgbClr val="DEE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6355080" y="2011680"/>
            <a:ext cx="73152" cy="1143000"/>
          </a:xfrm>
          <a:prstGeom prst="rect">
            <a:avLst/>
          </a:prstGeom>
          <a:solidFill>
            <a:srgbClr val="E69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556248" y="2157984"/>
            <a:ext cx="1115568" cy="310896"/>
          </a:xfrm>
          <a:prstGeom prst="rect">
            <a:avLst/>
          </a:prstGeom>
          <a:noFill/>
        </p:spPr>
        <p:txBody>
          <a:bodyPr wrap="square" lIns="54864" tIns="54864" rIns="54864" bIns="54864" anchor="t">
            <a:spAutoFit/>
          </a:bodyPr>
          <a:lstStyle/>
          <a:p>
            <a:pPr algn="l">
              <a:spcAft>
                <a:spcPts val="0"/>
              </a:spcAft>
            </a:pPr>
            <a:r>
              <a:rPr sz="1300" b="1">
                <a:solidFill>
                  <a:srgbClr val="132645"/>
                </a:solidFill>
                <a:latin typeface="Aptos"/>
              </a:rPr>
              <a:t>Calculate
penalty</a:t>
            </a:r>
          </a:p>
        </p:txBody>
      </p:sp>
      <p:sp>
        <p:nvSpPr>
          <p:cNvPr id="26" name="TextBox 25"/>
          <p:cNvSpPr txBox="1"/>
          <p:nvPr/>
        </p:nvSpPr>
        <p:spPr>
          <a:xfrm>
            <a:off x="6556248" y="2542032"/>
            <a:ext cx="1115568" cy="521207"/>
          </a:xfrm>
          <a:prstGeom prst="rect">
            <a:avLst/>
          </a:prstGeom>
          <a:noFill/>
        </p:spPr>
        <p:txBody>
          <a:bodyPr wrap="square" lIns="54864" tIns="54864" rIns="54864" bIns="54864" anchor="t">
            <a:spAutoFit/>
          </a:bodyPr>
          <a:lstStyle/>
          <a:p>
            <a:pPr algn="l">
              <a:spcAft>
                <a:spcPts val="0"/>
              </a:spcAft>
            </a:pPr>
            <a:endParaRPr/>
          </a:p>
        </p:txBody>
      </p:sp>
      <p:cxnSp>
        <p:nvCxnSpPr>
          <p:cNvPr id="27" name="Connector 26"/>
          <p:cNvCxnSpPr/>
          <p:nvPr/>
        </p:nvCxnSpPr>
        <p:spPr>
          <a:xfrm>
            <a:off x="7836408" y="2578608"/>
            <a:ext cx="365760" cy="0"/>
          </a:xfrm>
          <a:prstGeom prst="line">
            <a:avLst/>
          </a:prstGeom>
          <a:ln w="15240">
            <a:solidFill>
              <a:srgbClr val="657384"/>
            </a:solidFill>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8275320" y="2011680"/>
            <a:ext cx="1463040" cy="1143000"/>
          </a:xfrm>
          <a:prstGeom prst="roundRect">
            <a:avLst/>
          </a:prstGeom>
          <a:solidFill>
            <a:srgbClr val="FFFFFF"/>
          </a:solidFill>
          <a:ln w="12700">
            <a:solidFill>
              <a:srgbClr val="DEE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8275320" y="2011680"/>
            <a:ext cx="73152" cy="1143000"/>
          </a:xfrm>
          <a:prstGeom prst="rect">
            <a:avLst/>
          </a:prstGeom>
          <a:solidFill>
            <a:srgbClr val="1C9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476488" y="2157984"/>
            <a:ext cx="1115568" cy="310896"/>
          </a:xfrm>
          <a:prstGeom prst="rect">
            <a:avLst/>
          </a:prstGeom>
          <a:noFill/>
        </p:spPr>
        <p:txBody>
          <a:bodyPr wrap="square" lIns="54864" tIns="54864" rIns="54864" bIns="54864" anchor="t">
            <a:spAutoFit/>
          </a:bodyPr>
          <a:lstStyle/>
          <a:p>
            <a:pPr algn="l">
              <a:spcAft>
                <a:spcPts val="0"/>
              </a:spcAft>
            </a:pPr>
            <a:r>
              <a:rPr sz="1300" b="1">
                <a:solidFill>
                  <a:srgbClr val="132645"/>
                </a:solidFill>
                <a:latin typeface="Aptos"/>
              </a:rPr>
              <a:t>Combine
objective</a:t>
            </a:r>
          </a:p>
        </p:txBody>
      </p:sp>
      <p:sp>
        <p:nvSpPr>
          <p:cNvPr id="31" name="TextBox 30"/>
          <p:cNvSpPr txBox="1"/>
          <p:nvPr/>
        </p:nvSpPr>
        <p:spPr>
          <a:xfrm>
            <a:off x="8476488" y="2542032"/>
            <a:ext cx="1115568" cy="521207"/>
          </a:xfrm>
          <a:prstGeom prst="rect">
            <a:avLst/>
          </a:prstGeom>
          <a:noFill/>
        </p:spPr>
        <p:txBody>
          <a:bodyPr wrap="square" lIns="54864" tIns="54864" rIns="54864" bIns="54864" anchor="t">
            <a:spAutoFit/>
          </a:bodyPr>
          <a:lstStyle/>
          <a:p>
            <a:pPr algn="l">
              <a:spcAft>
                <a:spcPts val="0"/>
              </a:spcAft>
            </a:pPr>
            <a:endParaRPr/>
          </a:p>
        </p:txBody>
      </p:sp>
      <p:cxnSp>
        <p:nvCxnSpPr>
          <p:cNvPr id="32" name="Connector 31"/>
          <p:cNvCxnSpPr/>
          <p:nvPr/>
        </p:nvCxnSpPr>
        <p:spPr>
          <a:xfrm>
            <a:off x="9756648" y="2578608"/>
            <a:ext cx="274320" cy="0"/>
          </a:xfrm>
          <a:prstGeom prst="line">
            <a:avLst/>
          </a:prstGeom>
          <a:ln w="15240">
            <a:solidFill>
              <a:srgbClr val="657384"/>
            </a:solidFill>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10104120" y="2011680"/>
            <a:ext cx="1463040" cy="1143000"/>
          </a:xfrm>
          <a:prstGeom prst="roundRect">
            <a:avLst/>
          </a:prstGeom>
          <a:solidFill>
            <a:srgbClr val="FFFFFF"/>
          </a:solidFill>
          <a:ln w="12700">
            <a:solidFill>
              <a:srgbClr val="DEE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10104120" y="2011680"/>
            <a:ext cx="73152" cy="1143000"/>
          </a:xfrm>
          <a:prstGeom prst="rect">
            <a:avLst/>
          </a:prstGeom>
          <a:solidFill>
            <a:srgbClr val="1C9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0305288" y="2157984"/>
            <a:ext cx="1115568" cy="310896"/>
          </a:xfrm>
          <a:prstGeom prst="rect">
            <a:avLst/>
          </a:prstGeom>
          <a:noFill/>
        </p:spPr>
        <p:txBody>
          <a:bodyPr wrap="square" lIns="54864" tIns="54864" rIns="54864" bIns="54864" anchor="t">
            <a:spAutoFit/>
          </a:bodyPr>
          <a:lstStyle/>
          <a:p>
            <a:pPr algn="l">
              <a:spcAft>
                <a:spcPts val="0"/>
              </a:spcAft>
            </a:pPr>
            <a:r>
              <a:rPr sz="1300" b="1">
                <a:solidFill>
                  <a:srgbClr val="132645"/>
                </a:solidFill>
                <a:latin typeface="Aptos"/>
              </a:rPr>
              <a:t>Update
weights</a:t>
            </a:r>
          </a:p>
        </p:txBody>
      </p:sp>
      <p:sp>
        <p:nvSpPr>
          <p:cNvPr id="36" name="TextBox 35"/>
          <p:cNvSpPr txBox="1"/>
          <p:nvPr/>
        </p:nvSpPr>
        <p:spPr>
          <a:xfrm>
            <a:off x="10305288" y="2542032"/>
            <a:ext cx="1115568" cy="521207"/>
          </a:xfrm>
          <a:prstGeom prst="rect">
            <a:avLst/>
          </a:prstGeom>
          <a:noFill/>
        </p:spPr>
        <p:txBody>
          <a:bodyPr wrap="square" lIns="54864" tIns="54864" rIns="54864" bIns="54864" anchor="t">
            <a:spAutoFit/>
          </a:bodyPr>
          <a:lstStyle/>
          <a:p>
            <a:pPr algn="l">
              <a:spcAft>
                <a:spcPts val="0"/>
              </a:spcAft>
            </a:pPr>
            <a:endParaRPr/>
          </a:p>
        </p:txBody>
      </p:sp>
      <p:cxnSp>
        <p:nvCxnSpPr>
          <p:cNvPr id="37" name="Connector 36"/>
          <p:cNvCxnSpPr/>
          <p:nvPr/>
        </p:nvCxnSpPr>
        <p:spPr>
          <a:xfrm>
            <a:off x="10789920" y="3337560"/>
            <a:ext cx="0" cy="548640"/>
          </a:xfrm>
          <a:prstGeom prst="line">
            <a:avLst/>
          </a:prstGeom>
          <a:ln w="19050">
            <a:solidFill>
              <a:srgbClr val="1C968C"/>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a:off x="1325880" y="3886200"/>
            <a:ext cx="9464040" cy="0"/>
          </a:xfrm>
          <a:prstGeom prst="line">
            <a:avLst/>
          </a:prstGeom>
          <a:ln w="19050">
            <a:solidFill>
              <a:srgbClr val="1C968C"/>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1325880" y="3246120"/>
            <a:ext cx="0" cy="640080"/>
          </a:xfrm>
          <a:prstGeom prst="line">
            <a:avLst/>
          </a:prstGeom>
          <a:ln w="19050">
            <a:solidFill>
              <a:srgbClr val="1C968C"/>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2926080" y="4069080"/>
            <a:ext cx="5943600" cy="274320"/>
          </a:xfrm>
          <a:prstGeom prst="rect">
            <a:avLst/>
          </a:prstGeom>
          <a:noFill/>
        </p:spPr>
        <p:txBody>
          <a:bodyPr wrap="square" lIns="54864" tIns="54864" rIns="54864" bIns="54864" anchor="t">
            <a:spAutoFit/>
          </a:bodyPr>
          <a:lstStyle/>
          <a:p>
            <a:pPr algn="ctr">
              <a:spcAft>
                <a:spcPts val="0"/>
              </a:spcAft>
            </a:pPr>
            <a:r>
              <a:rPr sz="1200" b="1">
                <a:solidFill>
                  <a:srgbClr val="1C968C"/>
                </a:solidFill>
                <a:latin typeface="Aptos"/>
              </a:rPr>
              <a:t>Repeat until the optimization procedure stops</a:t>
            </a:r>
          </a:p>
        </p:txBody>
      </p:sp>
      <p:sp>
        <p:nvSpPr>
          <p:cNvPr id="41" name="Rounded Rectangle 40"/>
          <p:cNvSpPr/>
          <p:nvPr/>
        </p:nvSpPr>
        <p:spPr>
          <a:xfrm>
            <a:off x="914400" y="4800600"/>
            <a:ext cx="4663440" cy="914400"/>
          </a:xfrm>
          <a:prstGeom prst="roundRect">
            <a:avLst/>
          </a:prstGeom>
          <a:solidFill>
            <a:srgbClr val="E6EFFB"/>
          </a:solidFill>
          <a:ln w="12700">
            <a:solidFill>
              <a:srgbClr val="DEE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914400" y="4800600"/>
            <a:ext cx="73152" cy="914400"/>
          </a:xfrm>
          <a:prstGeom prst="rect">
            <a:avLst/>
          </a:prstGeom>
          <a:solidFill>
            <a:srgbClr val="2D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1115568" y="4946904"/>
            <a:ext cx="4315968" cy="310896"/>
          </a:xfrm>
          <a:prstGeom prst="rect">
            <a:avLst/>
          </a:prstGeom>
          <a:noFill/>
        </p:spPr>
        <p:txBody>
          <a:bodyPr wrap="square" lIns="54864" tIns="54864" rIns="54864" bIns="54864" anchor="t">
            <a:spAutoFit/>
          </a:bodyPr>
          <a:lstStyle/>
          <a:p>
            <a:pPr algn="l">
              <a:spcAft>
                <a:spcPts val="0"/>
              </a:spcAft>
            </a:pPr>
            <a:r>
              <a:rPr sz="1400" b="1">
                <a:solidFill>
                  <a:srgbClr val="132645"/>
                </a:solidFill>
                <a:latin typeface="Aptos"/>
              </a:rPr>
              <a:t>Within one training run</a:t>
            </a:r>
          </a:p>
        </p:txBody>
      </p:sp>
      <p:sp>
        <p:nvSpPr>
          <p:cNvPr id="44" name="TextBox 43"/>
          <p:cNvSpPr txBox="1"/>
          <p:nvPr/>
        </p:nvSpPr>
        <p:spPr>
          <a:xfrm>
            <a:off x="1115568" y="5330952"/>
            <a:ext cx="4315968" cy="292607"/>
          </a:xfrm>
          <a:prstGeom prst="rect">
            <a:avLst/>
          </a:prstGeom>
          <a:noFill/>
        </p:spPr>
        <p:txBody>
          <a:bodyPr wrap="square" lIns="54864" tIns="54864" rIns="54864" bIns="54864" anchor="t">
            <a:spAutoFit/>
          </a:bodyPr>
          <a:lstStyle/>
          <a:p>
            <a:pPr algn="l">
              <a:spcAft>
                <a:spcPts val="0"/>
              </a:spcAft>
            </a:pPr>
            <a:r>
              <a:rPr sz="1200" b="0">
                <a:solidFill>
                  <a:srgbClr val="273343"/>
                </a:solidFill>
                <a:latin typeface="Aptos"/>
              </a:rPr>
              <a:t>Weights are optimized while λ is generally held fixed.</a:t>
            </a:r>
          </a:p>
        </p:txBody>
      </p:sp>
      <p:sp>
        <p:nvSpPr>
          <p:cNvPr id="45" name="Rounded Rectangle 44"/>
          <p:cNvSpPr/>
          <p:nvPr/>
        </p:nvSpPr>
        <p:spPr>
          <a:xfrm>
            <a:off x="6583680" y="4800600"/>
            <a:ext cx="4663440" cy="914400"/>
          </a:xfrm>
          <a:prstGeom prst="roundRect">
            <a:avLst/>
          </a:prstGeom>
          <a:solidFill>
            <a:srgbClr val="FCF1E1"/>
          </a:solidFill>
          <a:ln w="12700">
            <a:solidFill>
              <a:srgbClr val="DEE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6583680" y="4800600"/>
            <a:ext cx="73152" cy="914400"/>
          </a:xfrm>
          <a:prstGeom prst="rect">
            <a:avLst/>
          </a:prstGeom>
          <a:solidFill>
            <a:srgbClr val="E69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6784848" y="4946904"/>
            <a:ext cx="4315968" cy="310896"/>
          </a:xfrm>
          <a:prstGeom prst="rect">
            <a:avLst/>
          </a:prstGeom>
          <a:noFill/>
        </p:spPr>
        <p:txBody>
          <a:bodyPr wrap="square" lIns="54864" tIns="54864" rIns="54864" bIns="54864" anchor="t">
            <a:spAutoFit/>
          </a:bodyPr>
          <a:lstStyle/>
          <a:p>
            <a:pPr algn="l">
              <a:spcAft>
                <a:spcPts val="0"/>
              </a:spcAft>
            </a:pPr>
            <a:r>
              <a:rPr sz="1400" b="1">
                <a:solidFill>
                  <a:srgbClr val="132645"/>
                </a:solidFill>
                <a:latin typeface="Aptos"/>
              </a:rPr>
              <a:t>Between training runs</a:t>
            </a:r>
          </a:p>
        </p:txBody>
      </p:sp>
      <p:sp>
        <p:nvSpPr>
          <p:cNvPr id="48" name="TextBox 47"/>
          <p:cNvSpPr txBox="1"/>
          <p:nvPr/>
        </p:nvSpPr>
        <p:spPr>
          <a:xfrm>
            <a:off x="6784848" y="5330952"/>
            <a:ext cx="4315968" cy="292607"/>
          </a:xfrm>
          <a:prstGeom prst="rect">
            <a:avLst/>
          </a:prstGeom>
          <a:noFill/>
        </p:spPr>
        <p:txBody>
          <a:bodyPr wrap="square" lIns="54864" tIns="54864" rIns="54864" bIns="54864" anchor="t">
            <a:spAutoFit/>
          </a:bodyPr>
          <a:lstStyle/>
          <a:p>
            <a:pPr algn="l">
              <a:spcAft>
                <a:spcPts val="0"/>
              </a:spcAft>
            </a:pPr>
            <a:r>
              <a:rPr sz="1200" b="0">
                <a:solidFill>
                  <a:srgbClr val="273343"/>
                </a:solidFill>
                <a:latin typeface="Aptos"/>
              </a:rPr>
              <a:t>Try different λ values and compare using validation data.</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256032"/>
            <a:ext cx="10972800" cy="502920"/>
          </a:xfrm>
          <a:prstGeom prst="rect">
            <a:avLst/>
          </a:prstGeom>
          <a:noFill/>
        </p:spPr>
        <p:txBody>
          <a:bodyPr wrap="square" lIns="54864" tIns="54864" rIns="54864" bIns="54864" anchor="t">
            <a:spAutoFit/>
          </a:bodyPr>
          <a:lstStyle/>
          <a:p>
            <a:pPr algn="l">
              <a:spcAft>
                <a:spcPts val="0"/>
              </a:spcAft>
            </a:pPr>
            <a:r>
              <a:rPr sz="2700" b="1">
                <a:solidFill>
                  <a:srgbClr val="132645"/>
                </a:solidFill>
                <a:latin typeface="Aptos"/>
              </a:rPr>
              <a:t>Ridge Regression: L2 Regularization</a:t>
            </a:r>
          </a:p>
        </p:txBody>
      </p:sp>
      <p:sp>
        <p:nvSpPr>
          <p:cNvPr id="4" name="Rectangle 3"/>
          <p:cNvSpPr/>
          <p:nvPr/>
        </p:nvSpPr>
        <p:spPr>
          <a:xfrm>
            <a:off x="585216" y="832104"/>
            <a:ext cx="731520" cy="50292"/>
          </a:xfrm>
          <a:prstGeom prst="rect">
            <a:avLst/>
          </a:prstGeom>
          <a:solidFill>
            <a:srgbClr val="1C9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464040" y="292608"/>
            <a:ext cx="2103120" cy="274320"/>
          </a:xfrm>
          <a:prstGeom prst="rect">
            <a:avLst/>
          </a:prstGeom>
          <a:noFill/>
        </p:spPr>
        <p:txBody>
          <a:bodyPr wrap="square" lIns="54864" tIns="54864" rIns="54864" bIns="54864" anchor="t">
            <a:spAutoFit/>
          </a:bodyPr>
          <a:lstStyle/>
          <a:p>
            <a:pPr algn="r">
              <a:spcAft>
                <a:spcPts val="0"/>
              </a:spcAft>
            </a:pPr>
            <a:r>
              <a:rPr sz="900" b="1">
                <a:solidFill>
                  <a:srgbClr val="657384"/>
                </a:solidFill>
                <a:latin typeface="Aptos"/>
              </a:rPr>
              <a:t>REGULARIZATION</a:t>
            </a:r>
          </a:p>
        </p:txBody>
      </p:sp>
      <p:sp>
        <p:nvSpPr>
          <p:cNvPr id="6" name="TextBox 5"/>
          <p:cNvSpPr txBox="1"/>
          <p:nvPr/>
        </p:nvSpPr>
        <p:spPr>
          <a:xfrm>
            <a:off x="594360" y="6510528"/>
            <a:ext cx="8961120" cy="164592"/>
          </a:xfrm>
          <a:prstGeom prst="rect">
            <a:avLst/>
          </a:prstGeom>
          <a:noFill/>
        </p:spPr>
        <p:txBody>
          <a:bodyPr wrap="square" lIns="54864" tIns="54864" rIns="54864" bIns="54864" anchor="t">
            <a:spAutoFit/>
          </a:bodyPr>
          <a:lstStyle/>
          <a:p>
            <a:pPr algn="l">
              <a:spcAft>
                <a:spcPts val="0"/>
              </a:spcAft>
            </a:pPr>
            <a:r>
              <a:rPr sz="800" b="0">
                <a:solidFill>
                  <a:srgbClr val="657384"/>
                </a:solidFill>
                <a:latin typeface="Aptos"/>
              </a:rPr>
              <a:t>UNDERSTANDING MACHINE LEARNING  •  TECHNICAL SEMINAR</a:t>
            </a:r>
          </a:p>
        </p:txBody>
      </p:sp>
      <p:sp>
        <p:nvSpPr>
          <p:cNvPr id="7" name="TextBox 6"/>
          <p:cNvSpPr txBox="1"/>
          <p:nvPr/>
        </p:nvSpPr>
        <p:spPr>
          <a:xfrm>
            <a:off x="11064240" y="6473952"/>
            <a:ext cx="502920" cy="201168"/>
          </a:xfrm>
          <a:prstGeom prst="rect">
            <a:avLst/>
          </a:prstGeom>
          <a:noFill/>
        </p:spPr>
        <p:txBody>
          <a:bodyPr wrap="square" lIns="54864" tIns="54864" rIns="54864" bIns="54864" anchor="t">
            <a:spAutoFit/>
          </a:bodyPr>
          <a:lstStyle/>
          <a:p>
            <a:pPr algn="r">
              <a:spcAft>
                <a:spcPts val="0"/>
              </a:spcAft>
            </a:pPr>
            <a:r>
              <a:rPr sz="900" b="1">
                <a:solidFill>
                  <a:srgbClr val="657384"/>
                </a:solidFill>
                <a:latin typeface="Aptos"/>
              </a:rPr>
              <a:t>13</a:t>
            </a:r>
          </a:p>
        </p:txBody>
      </p:sp>
      <p:sp>
        <p:nvSpPr>
          <p:cNvPr id="8" name="TextBox 7"/>
          <p:cNvSpPr txBox="1"/>
          <p:nvPr/>
        </p:nvSpPr>
        <p:spPr>
          <a:xfrm>
            <a:off x="777240" y="1143000"/>
            <a:ext cx="10698480" cy="502920"/>
          </a:xfrm>
          <a:prstGeom prst="rect">
            <a:avLst/>
          </a:prstGeom>
          <a:noFill/>
        </p:spPr>
        <p:txBody>
          <a:bodyPr wrap="square" lIns="54864" tIns="54864" rIns="54864" bIns="54864" anchor="t">
            <a:spAutoFit/>
          </a:bodyPr>
          <a:lstStyle/>
          <a:p>
            <a:pPr algn="ctr">
              <a:spcAft>
                <a:spcPts val="0"/>
              </a:spcAft>
            </a:pPr>
            <a:r>
              <a:rPr sz="1800" b="1">
                <a:solidFill>
                  <a:srgbClr val="132645"/>
                </a:solidFill>
                <a:latin typeface="Aptos"/>
              </a:rPr>
              <a:t>Ridge Objective = Prediction Error + λ × Sum of Squared Weights</a:t>
            </a:r>
          </a:p>
        </p:txBody>
      </p:sp>
      <p:sp>
        <p:nvSpPr>
          <p:cNvPr id="9" name="TextBox 8"/>
          <p:cNvSpPr txBox="1"/>
          <p:nvPr/>
        </p:nvSpPr>
        <p:spPr>
          <a:xfrm>
            <a:off x="1143000" y="1828800"/>
            <a:ext cx="4754880" cy="640080"/>
          </a:xfrm>
          <a:prstGeom prst="rect">
            <a:avLst/>
          </a:prstGeom>
          <a:noFill/>
        </p:spPr>
        <p:txBody>
          <a:bodyPr wrap="square" lIns="54864" tIns="54864" rIns="54864" bIns="54864" anchor="t">
            <a:spAutoFit/>
          </a:bodyPr>
          <a:lstStyle/>
          <a:p>
            <a:pPr algn="ctr">
              <a:spcAft>
                <a:spcPts val="0"/>
              </a:spcAft>
            </a:pPr>
            <a:r>
              <a:rPr sz="2500" b="1">
                <a:solidFill>
                  <a:srgbClr val="2D69BE"/>
                </a:solidFill>
                <a:latin typeface="Aptos"/>
              </a:rPr>
              <a:t>J(w) = MSE + λ Σ wⱼ²</a:t>
            </a:r>
          </a:p>
        </p:txBody>
      </p:sp>
      <p:sp>
        <p:nvSpPr>
          <p:cNvPr id="10" name="Rounded Rectangle 9"/>
          <p:cNvSpPr/>
          <p:nvPr/>
        </p:nvSpPr>
        <p:spPr>
          <a:xfrm>
            <a:off x="822960" y="2834640"/>
            <a:ext cx="3246120" cy="1325880"/>
          </a:xfrm>
          <a:prstGeom prst="roundRect">
            <a:avLst/>
          </a:prstGeom>
          <a:solidFill>
            <a:srgbClr val="E6EFFB"/>
          </a:solidFill>
          <a:ln w="12700">
            <a:solidFill>
              <a:srgbClr val="DEE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822960" y="2834640"/>
            <a:ext cx="73152" cy="1325880"/>
          </a:xfrm>
          <a:prstGeom prst="rect">
            <a:avLst/>
          </a:prstGeom>
          <a:solidFill>
            <a:srgbClr val="2D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24128" y="2980944"/>
            <a:ext cx="2898648" cy="310896"/>
          </a:xfrm>
          <a:prstGeom prst="rect">
            <a:avLst/>
          </a:prstGeom>
          <a:noFill/>
        </p:spPr>
        <p:txBody>
          <a:bodyPr wrap="square" lIns="54864" tIns="54864" rIns="54864" bIns="54864" anchor="t">
            <a:spAutoFit/>
          </a:bodyPr>
          <a:lstStyle/>
          <a:p>
            <a:pPr algn="l">
              <a:spcAft>
                <a:spcPts val="0"/>
              </a:spcAft>
            </a:pPr>
            <a:r>
              <a:rPr sz="1500" b="1">
                <a:solidFill>
                  <a:srgbClr val="132645"/>
                </a:solidFill>
                <a:latin typeface="Aptos"/>
              </a:rPr>
              <a:t>MSE</a:t>
            </a:r>
          </a:p>
        </p:txBody>
      </p:sp>
      <p:sp>
        <p:nvSpPr>
          <p:cNvPr id="13" name="TextBox 12"/>
          <p:cNvSpPr txBox="1"/>
          <p:nvPr/>
        </p:nvSpPr>
        <p:spPr>
          <a:xfrm>
            <a:off x="1024128" y="3364992"/>
            <a:ext cx="2898648" cy="704087"/>
          </a:xfrm>
          <a:prstGeom prst="rect">
            <a:avLst/>
          </a:prstGeom>
          <a:noFill/>
        </p:spPr>
        <p:txBody>
          <a:bodyPr wrap="square" lIns="54864" tIns="54864" rIns="54864" bIns="54864" anchor="t">
            <a:spAutoFit/>
          </a:bodyPr>
          <a:lstStyle/>
          <a:p>
            <a:pPr algn="l">
              <a:spcAft>
                <a:spcPts val="0"/>
              </a:spcAft>
            </a:pPr>
            <a:r>
              <a:rPr sz="1300" b="0">
                <a:solidFill>
                  <a:srgbClr val="273343"/>
                </a:solidFill>
                <a:latin typeface="Aptos"/>
              </a:rPr>
              <a:t>Measures average squared prediction error.</a:t>
            </a:r>
          </a:p>
        </p:txBody>
      </p:sp>
      <p:sp>
        <p:nvSpPr>
          <p:cNvPr id="14" name="Rounded Rectangle 13"/>
          <p:cNvSpPr/>
          <p:nvPr/>
        </p:nvSpPr>
        <p:spPr>
          <a:xfrm>
            <a:off x="4480560" y="2834640"/>
            <a:ext cx="3246120" cy="1325880"/>
          </a:xfrm>
          <a:prstGeom prst="roundRect">
            <a:avLst/>
          </a:prstGeom>
          <a:solidFill>
            <a:srgbClr val="FCF1E1"/>
          </a:solidFill>
          <a:ln w="12700">
            <a:solidFill>
              <a:srgbClr val="DEE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480560" y="2834640"/>
            <a:ext cx="73152" cy="1325880"/>
          </a:xfrm>
          <a:prstGeom prst="rect">
            <a:avLst/>
          </a:prstGeom>
          <a:solidFill>
            <a:srgbClr val="E69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681728" y="2980944"/>
            <a:ext cx="2898648" cy="310896"/>
          </a:xfrm>
          <a:prstGeom prst="rect">
            <a:avLst/>
          </a:prstGeom>
          <a:noFill/>
        </p:spPr>
        <p:txBody>
          <a:bodyPr wrap="square" lIns="54864" tIns="54864" rIns="54864" bIns="54864" anchor="t">
            <a:spAutoFit/>
          </a:bodyPr>
          <a:lstStyle/>
          <a:p>
            <a:pPr algn="l">
              <a:spcAft>
                <a:spcPts val="0"/>
              </a:spcAft>
            </a:pPr>
            <a:r>
              <a:rPr sz="1500" b="1">
                <a:solidFill>
                  <a:srgbClr val="132645"/>
                </a:solidFill>
                <a:latin typeface="Aptos"/>
              </a:rPr>
              <a:t>Squared weights</a:t>
            </a:r>
          </a:p>
        </p:txBody>
      </p:sp>
      <p:sp>
        <p:nvSpPr>
          <p:cNvPr id="17" name="TextBox 16"/>
          <p:cNvSpPr txBox="1"/>
          <p:nvPr/>
        </p:nvSpPr>
        <p:spPr>
          <a:xfrm>
            <a:off x="4681728" y="3364992"/>
            <a:ext cx="2898648" cy="704087"/>
          </a:xfrm>
          <a:prstGeom prst="rect">
            <a:avLst/>
          </a:prstGeom>
          <a:noFill/>
        </p:spPr>
        <p:txBody>
          <a:bodyPr wrap="square" lIns="54864" tIns="54864" rIns="54864" bIns="54864" anchor="t">
            <a:spAutoFit/>
          </a:bodyPr>
          <a:lstStyle/>
          <a:p>
            <a:pPr algn="l">
              <a:spcAft>
                <a:spcPts val="0"/>
              </a:spcAft>
            </a:pPr>
            <a:r>
              <a:rPr sz="1300" b="0">
                <a:solidFill>
                  <a:srgbClr val="273343"/>
                </a:solidFill>
                <a:latin typeface="Aptos"/>
              </a:rPr>
              <a:t>Large coefficient magnitudes are penalized more strongly.</a:t>
            </a:r>
          </a:p>
        </p:txBody>
      </p:sp>
      <p:sp>
        <p:nvSpPr>
          <p:cNvPr id="18" name="Rounded Rectangle 17"/>
          <p:cNvSpPr/>
          <p:nvPr/>
        </p:nvSpPr>
        <p:spPr>
          <a:xfrm>
            <a:off x="8138160" y="2834640"/>
            <a:ext cx="3246120" cy="1325880"/>
          </a:xfrm>
          <a:prstGeom prst="roundRect">
            <a:avLst/>
          </a:prstGeom>
          <a:solidFill>
            <a:srgbClr val="E2F5F1"/>
          </a:solidFill>
          <a:ln w="12700">
            <a:solidFill>
              <a:srgbClr val="DEE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138160" y="2834640"/>
            <a:ext cx="73152" cy="1325880"/>
          </a:xfrm>
          <a:prstGeom prst="rect">
            <a:avLst/>
          </a:prstGeom>
          <a:solidFill>
            <a:srgbClr val="1C9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339328" y="2980944"/>
            <a:ext cx="2898648" cy="310896"/>
          </a:xfrm>
          <a:prstGeom prst="rect">
            <a:avLst/>
          </a:prstGeom>
          <a:noFill/>
        </p:spPr>
        <p:txBody>
          <a:bodyPr wrap="square" lIns="54864" tIns="54864" rIns="54864" bIns="54864" anchor="t">
            <a:spAutoFit/>
          </a:bodyPr>
          <a:lstStyle/>
          <a:p>
            <a:pPr algn="l">
              <a:spcAft>
                <a:spcPts val="0"/>
              </a:spcAft>
            </a:pPr>
            <a:r>
              <a:rPr sz="1500" b="1">
                <a:solidFill>
                  <a:srgbClr val="132645"/>
                </a:solidFill>
                <a:latin typeface="Aptos"/>
              </a:rPr>
              <a:t>λ (lambda)</a:t>
            </a:r>
          </a:p>
        </p:txBody>
      </p:sp>
      <p:sp>
        <p:nvSpPr>
          <p:cNvPr id="21" name="TextBox 20"/>
          <p:cNvSpPr txBox="1"/>
          <p:nvPr/>
        </p:nvSpPr>
        <p:spPr>
          <a:xfrm>
            <a:off x="8339328" y="3364992"/>
            <a:ext cx="2898648" cy="704087"/>
          </a:xfrm>
          <a:prstGeom prst="rect">
            <a:avLst/>
          </a:prstGeom>
          <a:noFill/>
        </p:spPr>
        <p:txBody>
          <a:bodyPr wrap="square" lIns="54864" tIns="54864" rIns="54864" bIns="54864" anchor="t">
            <a:spAutoFit/>
          </a:bodyPr>
          <a:lstStyle/>
          <a:p>
            <a:pPr algn="l">
              <a:spcAft>
                <a:spcPts val="0"/>
              </a:spcAft>
            </a:pPr>
            <a:r>
              <a:rPr sz="1300" b="0">
                <a:solidFill>
                  <a:srgbClr val="273343"/>
                </a:solidFill>
                <a:latin typeface="Aptos"/>
              </a:rPr>
              <a:t>Controls the strength of the penalty.</a:t>
            </a:r>
          </a:p>
        </p:txBody>
      </p:sp>
      <p:sp>
        <p:nvSpPr>
          <p:cNvPr id="22" name="TextBox 21"/>
          <p:cNvSpPr txBox="1"/>
          <p:nvPr/>
        </p:nvSpPr>
        <p:spPr>
          <a:xfrm>
            <a:off x="914400" y="4572000"/>
            <a:ext cx="2834640" cy="274320"/>
          </a:xfrm>
          <a:prstGeom prst="rect">
            <a:avLst/>
          </a:prstGeom>
          <a:noFill/>
        </p:spPr>
        <p:txBody>
          <a:bodyPr wrap="square" lIns="54864" tIns="54864" rIns="54864" bIns="54864" anchor="t">
            <a:spAutoFit/>
          </a:bodyPr>
          <a:lstStyle/>
          <a:p>
            <a:pPr algn="l">
              <a:spcAft>
                <a:spcPts val="0"/>
              </a:spcAft>
            </a:pPr>
            <a:r>
              <a:rPr sz="1200" b="1">
                <a:solidFill>
                  <a:srgbClr val="132645"/>
                </a:solidFill>
                <a:latin typeface="Aptos"/>
              </a:rPr>
              <a:t>Illustrative coefficient magnitudes</a:t>
            </a:r>
          </a:p>
        </p:txBody>
      </p:sp>
      <p:sp>
        <p:nvSpPr>
          <p:cNvPr id="23" name="TextBox 22"/>
          <p:cNvSpPr txBox="1"/>
          <p:nvPr/>
        </p:nvSpPr>
        <p:spPr>
          <a:xfrm>
            <a:off x="960120" y="4983480"/>
            <a:ext cx="1097280" cy="228600"/>
          </a:xfrm>
          <a:prstGeom prst="rect">
            <a:avLst/>
          </a:prstGeom>
          <a:noFill/>
        </p:spPr>
        <p:txBody>
          <a:bodyPr wrap="square" lIns="54864" tIns="54864" rIns="54864" bIns="54864" anchor="t">
            <a:spAutoFit/>
          </a:bodyPr>
          <a:lstStyle/>
          <a:p>
            <a:pPr algn="l">
              <a:spcAft>
                <a:spcPts val="0"/>
              </a:spcAft>
            </a:pPr>
            <a:r>
              <a:rPr sz="1000" b="1">
                <a:solidFill>
                  <a:srgbClr val="657384"/>
                </a:solidFill>
                <a:latin typeface="Aptos"/>
              </a:rPr>
              <a:t>Before</a:t>
            </a:r>
          </a:p>
        </p:txBody>
      </p:sp>
      <p:sp>
        <p:nvSpPr>
          <p:cNvPr id="24" name="Rectangle 23"/>
          <p:cNvSpPr/>
          <p:nvPr/>
        </p:nvSpPr>
        <p:spPr>
          <a:xfrm>
            <a:off x="2103120" y="4965192"/>
            <a:ext cx="822960" cy="228600"/>
          </a:xfrm>
          <a:prstGeom prst="rect">
            <a:avLst/>
          </a:prstGeom>
          <a:solidFill>
            <a:srgbClr val="2D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3108960" y="4965192"/>
            <a:ext cx="640080" cy="228600"/>
          </a:xfrm>
          <a:prstGeom prst="rect">
            <a:avLst/>
          </a:prstGeom>
          <a:solidFill>
            <a:srgbClr val="2D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4114800" y="4965192"/>
            <a:ext cx="457200" cy="228600"/>
          </a:xfrm>
          <a:prstGeom prst="rect">
            <a:avLst/>
          </a:prstGeom>
          <a:solidFill>
            <a:srgbClr val="2D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5120640" y="4965192"/>
            <a:ext cx="274320" cy="228600"/>
          </a:xfrm>
          <a:prstGeom prst="rect">
            <a:avLst/>
          </a:prstGeom>
          <a:solidFill>
            <a:srgbClr val="2D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60120" y="5422392"/>
            <a:ext cx="1097280" cy="228600"/>
          </a:xfrm>
          <a:prstGeom prst="rect">
            <a:avLst/>
          </a:prstGeom>
          <a:noFill/>
        </p:spPr>
        <p:txBody>
          <a:bodyPr wrap="square" lIns="54864" tIns="54864" rIns="54864" bIns="54864" anchor="t">
            <a:spAutoFit/>
          </a:bodyPr>
          <a:lstStyle/>
          <a:p>
            <a:pPr algn="l">
              <a:spcAft>
                <a:spcPts val="0"/>
              </a:spcAft>
            </a:pPr>
            <a:r>
              <a:rPr sz="1000" b="1">
                <a:solidFill>
                  <a:srgbClr val="657384"/>
                </a:solidFill>
                <a:latin typeface="Aptos"/>
              </a:rPr>
              <a:t>After Ridge</a:t>
            </a:r>
          </a:p>
        </p:txBody>
      </p:sp>
      <p:sp>
        <p:nvSpPr>
          <p:cNvPr id="29" name="Rectangle 28"/>
          <p:cNvSpPr/>
          <p:nvPr/>
        </p:nvSpPr>
        <p:spPr>
          <a:xfrm>
            <a:off x="2103120" y="5404104"/>
            <a:ext cx="502920" cy="228600"/>
          </a:xfrm>
          <a:prstGeom prst="rect">
            <a:avLst/>
          </a:prstGeom>
          <a:solidFill>
            <a:srgbClr val="1C9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3108960" y="5404104"/>
            <a:ext cx="384048" cy="228600"/>
          </a:xfrm>
          <a:prstGeom prst="rect">
            <a:avLst/>
          </a:prstGeom>
          <a:solidFill>
            <a:srgbClr val="1C9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4114800" y="5404104"/>
            <a:ext cx="274320" cy="228600"/>
          </a:xfrm>
          <a:prstGeom prst="rect">
            <a:avLst/>
          </a:prstGeom>
          <a:solidFill>
            <a:srgbClr val="1C9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5120640" y="5404104"/>
            <a:ext cx="164592" cy="228600"/>
          </a:xfrm>
          <a:prstGeom prst="rect">
            <a:avLst/>
          </a:prstGeom>
          <a:solidFill>
            <a:srgbClr val="1C9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406640" y="4754880"/>
            <a:ext cx="3749039" cy="777240"/>
          </a:xfrm>
          <a:prstGeom prst="rect">
            <a:avLst/>
          </a:prstGeom>
          <a:noFill/>
        </p:spPr>
        <p:txBody>
          <a:bodyPr wrap="square" lIns="54864" tIns="54864" rIns="54864" bIns="54864" anchor="t">
            <a:spAutoFit/>
          </a:bodyPr>
          <a:lstStyle/>
          <a:p>
            <a:pPr algn="l">
              <a:spcAft>
                <a:spcPts val="0"/>
              </a:spcAft>
            </a:pPr>
            <a:r>
              <a:rPr sz="1200" b="0">
                <a:solidFill>
                  <a:srgbClr val="273343"/>
                </a:solidFill>
                <a:latin typeface="Aptos"/>
              </a:rPr>
              <a:t>Ridge usually shrinks coefficients toward zero—but does not generally make them exactly zero.</a:t>
            </a:r>
          </a:p>
        </p:txBody>
      </p:sp>
      <p:sp>
        <p:nvSpPr>
          <p:cNvPr id="34" name="TextBox 33"/>
          <p:cNvSpPr txBox="1"/>
          <p:nvPr/>
        </p:nvSpPr>
        <p:spPr>
          <a:xfrm>
            <a:off x="868680" y="5989320"/>
            <a:ext cx="10332720" cy="228600"/>
          </a:xfrm>
          <a:prstGeom prst="rect">
            <a:avLst/>
          </a:prstGeom>
          <a:noFill/>
        </p:spPr>
        <p:txBody>
          <a:bodyPr wrap="square" lIns="54864" tIns="54864" rIns="54864" bIns="54864" anchor="t">
            <a:spAutoFit/>
          </a:bodyPr>
          <a:lstStyle/>
          <a:p>
            <a:pPr algn="l">
              <a:spcAft>
                <a:spcPts val="0"/>
              </a:spcAft>
            </a:pPr>
            <a:r>
              <a:rPr sz="900" b="0">
                <a:solidFill>
                  <a:srgbClr val="657384"/>
                </a:solidFill>
                <a:latin typeface="Aptos"/>
              </a:rPr>
              <a:t>Illustrative bars only. Scaling and the loss definition affect coefficient values.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256032"/>
            <a:ext cx="10972800" cy="502920"/>
          </a:xfrm>
          <a:prstGeom prst="rect">
            <a:avLst/>
          </a:prstGeom>
          <a:noFill/>
        </p:spPr>
        <p:txBody>
          <a:bodyPr wrap="square" lIns="54864" tIns="54864" rIns="54864" bIns="54864" anchor="t">
            <a:spAutoFit/>
          </a:bodyPr>
          <a:lstStyle/>
          <a:p>
            <a:pPr algn="l">
              <a:spcAft>
                <a:spcPts val="0"/>
              </a:spcAft>
            </a:pPr>
            <a:r>
              <a:rPr sz="2700" b="1">
                <a:solidFill>
                  <a:srgbClr val="132645"/>
                </a:solidFill>
                <a:latin typeface="Aptos"/>
              </a:rPr>
              <a:t>Lasso Regression: L1 Regularization</a:t>
            </a:r>
          </a:p>
        </p:txBody>
      </p:sp>
      <p:sp>
        <p:nvSpPr>
          <p:cNvPr id="4" name="Rectangle 3"/>
          <p:cNvSpPr/>
          <p:nvPr/>
        </p:nvSpPr>
        <p:spPr>
          <a:xfrm>
            <a:off x="585216" y="832104"/>
            <a:ext cx="731520" cy="50292"/>
          </a:xfrm>
          <a:prstGeom prst="rect">
            <a:avLst/>
          </a:prstGeom>
          <a:solidFill>
            <a:srgbClr val="1C9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464040" y="292608"/>
            <a:ext cx="2103120" cy="274320"/>
          </a:xfrm>
          <a:prstGeom prst="rect">
            <a:avLst/>
          </a:prstGeom>
          <a:noFill/>
        </p:spPr>
        <p:txBody>
          <a:bodyPr wrap="square" lIns="54864" tIns="54864" rIns="54864" bIns="54864" anchor="t">
            <a:spAutoFit/>
          </a:bodyPr>
          <a:lstStyle/>
          <a:p>
            <a:pPr algn="r">
              <a:spcAft>
                <a:spcPts val="0"/>
              </a:spcAft>
            </a:pPr>
            <a:r>
              <a:rPr sz="900" b="1">
                <a:solidFill>
                  <a:srgbClr val="657384"/>
                </a:solidFill>
                <a:latin typeface="Aptos"/>
              </a:rPr>
              <a:t>REGULARIZATION</a:t>
            </a:r>
          </a:p>
        </p:txBody>
      </p:sp>
      <p:sp>
        <p:nvSpPr>
          <p:cNvPr id="6" name="TextBox 5"/>
          <p:cNvSpPr txBox="1"/>
          <p:nvPr/>
        </p:nvSpPr>
        <p:spPr>
          <a:xfrm>
            <a:off x="594360" y="6510528"/>
            <a:ext cx="8961120" cy="164592"/>
          </a:xfrm>
          <a:prstGeom prst="rect">
            <a:avLst/>
          </a:prstGeom>
          <a:noFill/>
        </p:spPr>
        <p:txBody>
          <a:bodyPr wrap="square" lIns="54864" tIns="54864" rIns="54864" bIns="54864" anchor="t">
            <a:spAutoFit/>
          </a:bodyPr>
          <a:lstStyle/>
          <a:p>
            <a:pPr algn="l">
              <a:spcAft>
                <a:spcPts val="0"/>
              </a:spcAft>
            </a:pPr>
            <a:r>
              <a:rPr sz="800" b="0">
                <a:solidFill>
                  <a:srgbClr val="657384"/>
                </a:solidFill>
                <a:latin typeface="Aptos"/>
              </a:rPr>
              <a:t>UNDERSTANDING MACHINE LEARNING  •  TECHNICAL SEMINAR</a:t>
            </a:r>
          </a:p>
        </p:txBody>
      </p:sp>
      <p:sp>
        <p:nvSpPr>
          <p:cNvPr id="7" name="TextBox 6"/>
          <p:cNvSpPr txBox="1"/>
          <p:nvPr/>
        </p:nvSpPr>
        <p:spPr>
          <a:xfrm>
            <a:off x="11064240" y="6473952"/>
            <a:ext cx="502920" cy="201168"/>
          </a:xfrm>
          <a:prstGeom prst="rect">
            <a:avLst/>
          </a:prstGeom>
          <a:noFill/>
        </p:spPr>
        <p:txBody>
          <a:bodyPr wrap="square" lIns="54864" tIns="54864" rIns="54864" bIns="54864" anchor="t">
            <a:spAutoFit/>
          </a:bodyPr>
          <a:lstStyle/>
          <a:p>
            <a:pPr algn="r">
              <a:spcAft>
                <a:spcPts val="0"/>
              </a:spcAft>
            </a:pPr>
            <a:r>
              <a:rPr sz="900" b="1">
                <a:solidFill>
                  <a:srgbClr val="657384"/>
                </a:solidFill>
                <a:latin typeface="Aptos"/>
              </a:rPr>
              <a:t>14</a:t>
            </a:r>
          </a:p>
        </p:txBody>
      </p:sp>
      <p:sp>
        <p:nvSpPr>
          <p:cNvPr id="8" name="TextBox 7"/>
          <p:cNvSpPr txBox="1"/>
          <p:nvPr/>
        </p:nvSpPr>
        <p:spPr>
          <a:xfrm>
            <a:off x="777240" y="1143000"/>
            <a:ext cx="10698480" cy="502920"/>
          </a:xfrm>
          <a:prstGeom prst="rect">
            <a:avLst/>
          </a:prstGeom>
          <a:noFill/>
        </p:spPr>
        <p:txBody>
          <a:bodyPr wrap="square" lIns="54864" tIns="54864" rIns="54864" bIns="54864" anchor="t">
            <a:spAutoFit/>
          </a:bodyPr>
          <a:lstStyle/>
          <a:p>
            <a:pPr algn="ctr">
              <a:spcAft>
                <a:spcPts val="0"/>
              </a:spcAft>
            </a:pPr>
            <a:r>
              <a:rPr sz="1800" b="1">
                <a:solidFill>
                  <a:srgbClr val="132645"/>
                </a:solidFill>
                <a:latin typeface="Aptos"/>
              </a:rPr>
              <a:t>Lasso Objective = Prediction Error + λ × Sum of Absolute Weights</a:t>
            </a:r>
          </a:p>
        </p:txBody>
      </p:sp>
      <p:sp>
        <p:nvSpPr>
          <p:cNvPr id="9" name="TextBox 8"/>
          <p:cNvSpPr txBox="1"/>
          <p:nvPr/>
        </p:nvSpPr>
        <p:spPr>
          <a:xfrm>
            <a:off x="1143000" y="1828800"/>
            <a:ext cx="4754880" cy="640080"/>
          </a:xfrm>
          <a:prstGeom prst="rect">
            <a:avLst/>
          </a:prstGeom>
          <a:noFill/>
        </p:spPr>
        <p:txBody>
          <a:bodyPr wrap="square" lIns="54864" tIns="54864" rIns="54864" bIns="54864" anchor="t">
            <a:spAutoFit/>
          </a:bodyPr>
          <a:lstStyle/>
          <a:p>
            <a:pPr algn="ctr">
              <a:spcAft>
                <a:spcPts val="0"/>
              </a:spcAft>
            </a:pPr>
            <a:r>
              <a:rPr sz="2500" b="1">
                <a:solidFill>
                  <a:srgbClr val="1C968C"/>
                </a:solidFill>
                <a:latin typeface="Aptos"/>
              </a:rPr>
              <a:t>J(w) = MSE + λ Σ |wⱼ|</a:t>
            </a:r>
          </a:p>
        </p:txBody>
      </p:sp>
      <p:sp>
        <p:nvSpPr>
          <p:cNvPr id="10" name="Rounded Rectangle 9"/>
          <p:cNvSpPr/>
          <p:nvPr/>
        </p:nvSpPr>
        <p:spPr>
          <a:xfrm>
            <a:off x="822960" y="2834640"/>
            <a:ext cx="3246120" cy="1325880"/>
          </a:xfrm>
          <a:prstGeom prst="roundRect">
            <a:avLst/>
          </a:prstGeom>
          <a:solidFill>
            <a:srgbClr val="E6EFFB"/>
          </a:solidFill>
          <a:ln w="12700">
            <a:solidFill>
              <a:srgbClr val="DEE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822960" y="2834640"/>
            <a:ext cx="73152" cy="1325880"/>
          </a:xfrm>
          <a:prstGeom prst="rect">
            <a:avLst/>
          </a:prstGeom>
          <a:solidFill>
            <a:srgbClr val="2D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24128" y="2980944"/>
            <a:ext cx="2898648" cy="310896"/>
          </a:xfrm>
          <a:prstGeom prst="rect">
            <a:avLst/>
          </a:prstGeom>
          <a:noFill/>
        </p:spPr>
        <p:txBody>
          <a:bodyPr wrap="square" lIns="54864" tIns="54864" rIns="54864" bIns="54864" anchor="t">
            <a:spAutoFit/>
          </a:bodyPr>
          <a:lstStyle/>
          <a:p>
            <a:pPr algn="l">
              <a:spcAft>
                <a:spcPts val="0"/>
              </a:spcAft>
            </a:pPr>
            <a:r>
              <a:rPr sz="1500" b="1">
                <a:solidFill>
                  <a:srgbClr val="132645"/>
                </a:solidFill>
                <a:latin typeface="Aptos"/>
              </a:rPr>
              <a:t>Absolute weights</a:t>
            </a:r>
          </a:p>
        </p:txBody>
      </p:sp>
      <p:sp>
        <p:nvSpPr>
          <p:cNvPr id="13" name="TextBox 12"/>
          <p:cNvSpPr txBox="1"/>
          <p:nvPr/>
        </p:nvSpPr>
        <p:spPr>
          <a:xfrm>
            <a:off x="1024128" y="3364992"/>
            <a:ext cx="2898648" cy="704087"/>
          </a:xfrm>
          <a:prstGeom prst="rect">
            <a:avLst/>
          </a:prstGeom>
          <a:noFill/>
        </p:spPr>
        <p:txBody>
          <a:bodyPr wrap="square" lIns="54864" tIns="54864" rIns="54864" bIns="54864" anchor="t">
            <a:spAutoFit/>
          </a:bodyPr>
          <a:lstStyle/>
          <a:p>
            <a:pPr algn="l">
              <a:spcAft>
                <a:spcPts val="0"/>
              </a:spcAft>
            </a:pPr>
            <a:r>
              <a:rPr sz="1300" b="0">
                <a:solidFill>
                  <a:srgbClr val="273343"/>
                </a:solidFill>
                <a:latin typeface="Aptos"/>
              </a:rPr>
              <a:t>Penalizes coefficient magnitude without squaring it.</a:t>
            </a:r>
          </a:p>
        </p:txBody>
      </p:sp>
      <p:sp>
        <p:nvSpPr>
          <p:cNvPr id="14" name="Rounded Rectangle 13"/>
          <p:cNvSpPr/>
          <p:nvPr/>
        </p:nvSpPr>
        <p:spPr>
          <a:xfrm>
            <a:off x="4480560" y="2834640"/>
            <a:ext cx="3246120" cy="1325880"/>
          </a:xfrm>
          <a:prstGeom prst="roundRect">
            <a:avLst/>
          </a:prstGeom>
          <a:solidFill>
            <a:srgbClr val="FCF1E1"/>
          </a:solidFill>
          <a:ln w="12700">
            <a:solidFill>
              <a:srgbClr val="DEE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480560" y="2834640"/>
            <a:ext cx="73152" cy="1325880"/>
          </a:xfrm>
          <a:prstGeom prst="rect">
            <a:avLst/>
          </a:prstGeom>
          <a:solidFill>
            <a:srgbClr val="E69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681728" y="2980944"/>
            <a:ext cx="2898648" cy="310896"/>
          </a:xfrm>
          <a:prstGeom prst="rect">
            <a:avLst/>
          </a:prstGeom>
          <a:noFill/>
        </p:spPr>
        <p:txBody>
          <a:bodyPr wrap="square" lIns="54864" tIns="54864" rIns="54864" bIns="54864" anchor="t">
            <a:spAutoFit/>
          </a:bodyPr>
          <a:lstStyle/>
          <a:p>
            <a:pPr algn="l">
              <a:spcAft>
                <a:spcPts val="0"/>
              </a:spcAft>
            </a:pPr>
            <a:r>
              <a:rPr sz="1500" b="1">
                <a:solidFill>
                  <a:srgbClr val="132645"/>
                </a:solidFill>
                <a:latin typeface="Aptos"/>
              </a:rPr>
              <a:t>Coefficient shrinkage</a:t>
            </a:r>
          </a:p>
        </p:txBody>
      </p:sp>
      <p:sp>
        <p:nvSpPr>
          <p:cNvPr id="17" name="TextBox 16"/>
          <p:cNvSpPr txBox="1"/>
          <p:nvPr/>
        </p:nvSpPr>
        <p:spPr>
          <a:xfrm>
            <a:off x="4681728" y="3364992"/>
            <a:ext cx="2898648" cy="704087"/>
          </a:xfrm>
          <a:prstGeom prst="rect">
            <a:avLst/>
          </a:prstGeom>
          <a:noFill/>
        </p:spPr>
        <p:txBody>
          <a:bodyPr wrap="square" lIns="54864" tIns="54864" rIns="54864" bIns="54864" anchor="t">
            <a:spAutoFit/>
          </a:bodyPr>
          <a:lstStyle/>
          <a:p>
            <a:pPr algn="l">
              <a:spcAft>
                <a:spcPts val="0"/>
              </a:spcAft>
            </a:pPr>
            <a:r>
              <a:rPr sz="1300" b="0">
                <a:solidFill>
                  <a:srgbClr val="273343"/>
                </a:solidFill>
                <a:latin typeface="Aptos"/>
              </a:rPr>
              <a:t>Lasso reduces coefficient magnitudes.</a:t>
            </a:r>
          </a:p>
        </p:txBody>
      </p:sp>
      <p:sp>
        <p:nvSpPr>
          <p:cNvPr id="18" name="Rounded Rectangle 17"/>
          <p:cNvSpPr/>
          <p:nvPr/>
        </p:nvSpPr>
        <p:spPr>
          <a:xfrm>
            <a:off x="8138160" y="2834640"/>
            <a:ext cx="3246120" cy="1325880"/>
          </a:xfrm>
          <a:prstGeom prst="roundRect">
            <a:avLst/>
          </a:prstGeom>
          <a:solidFill>
            <a:srgbClr val="E2F5F1"/>
          </a:solidFill>
          <a:ln w="12700">
            <a:solidFill>
              <a:srgbClr val="DEE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138160" y="2834640"/>
            <a:ext cx="73152" cy="1325880"/>
          </a:xfrm>
          <a:prstGeom prst="rect">
            <a:avLst/>
          </a:prstGeom>
          <a:solidFill>
            <a:srgbClr val="1C9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339328" y="2980944"/>
            <a:ext cx="2898648" cy="310896"/>
          </a:xfrm>
          <a:prstGeom prst="rect">
            <a:avLst/>
          </a:prstGeom>
          <a:noFill/>
        </p:spPr>
        <p:txBody>
          <a:bodyPr wrap="square" lIns="54864" tIns="54864" rIns="54864" bIns="54864" anchor="t">
            <a:spAutoFit/>
          </a:bodyPr>
          <a:lstStyle/>
          <a:p>
            <a:pPr algn="l">
              <a:spcAft>
                <a:spcPts val="0"/>
              </a:spcAft>
            </a:pPr>
            <a:r>
              <a:rPr sz="1500" b="1">
                <a:solidFill>
                  <a:srgbClr val="132645"/>
                </a:solidFill>
                <a:latin typeface="Aptos"/>
              </a:rPr>
              <a:t>Possible zeros</a:t>
            </a:r>
          </a:p>
        </p:txBody>
      </p:sp>
      <p:sp>
        <p:nvSpPr>
          <p:cNvPr id="21" name="TextBox 20"/>
          <p:cNvSpPr txBox="1"/>
          <p:nvPr/>
        </p:nvSpPr>
        <p:spPr>
          <a:xfrm>
            <a:off x="8339328" y="3364992"/>
            <a:ext cx="2898648" cy="704087"/>
          </a:xfrm>
          <a:prstGeom prst="rect">
            <a:avLst/>
          </a:prstGeom>
          <a:noFill/>
        </p:spPr>
        <p:txBody>
          <a:bodyPr wrap="square" lIns="54864" tIns="54864" rIns="54864" bIns="54864" anchor="t">
            <a:spAutoFit/>
          </a:bodyPr>
          <a:lstStyle/>
          <a:p>
            <a:pPr algn="l">
              <a:spcAft>
                <a:spcPts val="0"/>
              </a:spcAft>
            </a:pPr>
            <a:r>
              <a:rPr sz="1300" b="0">
                <a:solidFill>
                  <a:srgbClr val="273343"/>
                </a:solidFill>
                <a:latin typeface="Aptos"/>
              </a:rPr>
              <a:t>Some coefficients can become exactly zero.</a:t>
            </a:r>
          </a:p>
        </p:txBody>
      </p:sp>
      <p:sp>
        <p:nvSpPr>
          <p:cNvPr id="22" name="TextBox 21"/>
          <p:cNvSpPr txBox="1"/>
          <p:nvPr/>
        </p:nvSpPr>
        <p:spPr>
          <a:xfrm>
            <a:off x="868680" y="4572000"/>
            <a:ext cx="2834640" cy="274320"/>
          </a:xfrm>
          <a:prstGeom prst="rect">
            <a:avLst/>
          </a:prstGeom>
          <a:noFill/>
        </p:spPr>
        <p:txBody>
          <a:bodyPr wrap="square" lIns="54864" tIns="54864" rIns="54864" bIns="54864" anchor="t">
            <a:spAutoFit/>
          </a:bodyPr>
          <a:lstStyle/>
          <a:p>
            <a:pPr algn="l">
              <a:spcAft>
                <a:spcPts val="0"/>
              </a:spcAft>
            </a:pPr>
            <a:r>
              <a:rPr sz="1200" b="1">
                <a:solidFill>
                  <a:srgbClr val="132645"/>
                </a:solidFill>
                <a:latin typeface="Aptos"/>
              </a:rPr>
              <a:t>Illustrative coefficients</a:t>
            </a:r>
          </a:p>
        </p:txBody>
      </p:sp>
      <p:sp>
        <p:nvSpPr>
          <p:cNvPr id="23" name="TextBox 22"/>
          <p:cNvSpPr txBox="1"/>
          <p:nvPr/>
        </p:nvSpPr>
        <p:spPr>
          <a:xfrm>
            <a:off x="868680" y="4919472"/>
            <a:ext cx="1234440" cy="201168"/>
          </a:xfrm>
          <a:prstGeom prst="rect">
            <a:avLst/>
          </a:prstGeom>
          <a:noFill/>
        </p:spPr>
        <p:txBody>
          <a:bodyPr wrap="square" lIns="54864" tIns="54864" rIns="54864" bIns="54864" anchor="t">
            <a:spAutoFit/>
          </a:bodyPr>
          <a:lstStyle/>
          <a:p>
            <a:pPr algn="l">
              <a:spcAft>
                <a:spcPts val="0"/>
              </a:spcAft>
            </a:pPr>
            <a:r>
              <a:rPr sz="900" b="0">
                <a:solidFill>
                  <a:srgbClr val="657384"/>
                </a:solidFill>
                <a:latin typeface="Aptos"/>
              </a:rPr>
              <a:t>Study hrs</a:t>
            </a:r>
          </a:p>
        </p:txBody>
      </p:sp>
      <p:sp>
        <p:nvSpPr>
          <p:cNvPr id="24" name="Rectangle 23"/>
          <p:cNvSpPr/>
          <p:nvPr/>
        </p:nvSpPr>
        <p:spPr>
          <a:xfrm>
            <a:off x="2148840" y="4937759"/>
            <a:ext cx="1554480" cy="109728"/>
          </a:xfrm>
          <a:prstGeom prst="rect">
            <a:avLst/>
          </a:prstGeom>
          <a:solidFill>
            <a:srgbClr val="2D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3931920" y="4937759"/>
            <a:ext cx="1097280" cy="109728"/>
          </a:xfrm>
          <a:prstGeom prst="rect">
            <a:avLst/>
          </a:prstGeom>
          <a:solidFill>
            <a:srgbClr val="1C9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68680" y="5212080"/>
            <a:ext cx="1234440" cy="201168"/>
          </a:xfrm>
          <a:prstGeom prst="rect">
            <a:avLst/>
          </a:prstGeom>
          <a:noFill/>
        </p:spPr>
        <p:txBody>
          <a:bodyPr wrap="square" lIns="54864" tIns="54864" rIns="54864" bIns="54864" anchor="t">
            <a:spAutoFit/>
          </a:bodyPr>
          <a:lstStyle/>
          <a:p>
            <a:pPr algn="l">
              <a:spcAft>
                <a:spcPts val="0"/>
              </a:spcAft>
            </a:pPr>
            <a:r>
              <a:rPr sz="900" b="0">
                <a:solidFill>
                  <a:srgbClr val="657384"/>
                </a:solidFill>
                <a:latin typeface="Aptos"/>
              </a:rPr>
              <a:t>Attendance</a:t>
            </a:r>
          </a:p>
        </p:txBody>
      </p:sp>
      <p:sp>
        <p:nvSpPr>
          <p:cNvPr id="27" name="Rectangle 26"/>
          <p:cNvSpPr/>
          <p:nvPr/>
        </p:nvSpPr>
        <p:spPr>
          <a:xfrm>
            <a:off x="2148840" y="5230368"/>
            <a:ext cx="1280160" cy="109728"/>
          </a:xfrm>
          <a:prstGeom prst="rect">
            <a:avLst/>
          </a:prstGeom>
          <a:solidFill>
            <a:srgbClr val="2D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3931920" y="5230368"/>
            <a:ext cx="36576" cy="109728"/>
          </a:xfrm>
          <a:prstGeom prst="rect">
            <a:avLst/>
          </a:prstGeom>
          <a:solidFill>
            <a:srgbClr val="C349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68680" y="5504688"/>
            <a:ext cx="1234440" cy="201168"/>
          </a:xfrm>
          <a:prstGeom prst="rect">
            <a:avLst/>
          </a:prstGeom>
          <a:noFill/>
        </p:spPr>
        <p:txBody>
          <a:bodyPr wrap="square" lIns="54864" tIns="54864" rIns="54864" bIns="54864" anchor="t">
            <a:spAutoFit/>
          </a:bodyPr>
          <a:lstStyle/>
          <a:p>
            <a:pPr algn="l">
              <a:spcAft>
                <a:spcPts val="0"/>
              </a:spcAft>
            </a:pPr>
            <a:r>
              <a:rPr sz="900" b="0">
                <a:solidFill>
                  <a:srgbClr val="657384"/>
                </a:solidFill>
                <a:latin typeface="Aptos"/>
              </a:rPr>
              <a:t>Internal</a:t>
            </a:r>
          </a:p>
        </p:txBody>
      </p:sp>
      <p:sp>
        <p:nvSpPr>
          <p:cNvPr id="30" name="Rectangle 29"/>
          <p:cNvSpPr/>
          <p:nvPr/>
        </p:nvSpPr>
        <p:spPr>
          <a:xfrm>
            <a:off x="2148840" y="5522975"/>
            <a:ext cx="914400" cy="109728"/>
          </a:xfrm>
          <a:prstGeom prst="rect">
            <a:avLst/>
          </a:prstGeom>
          <a:solidFill>
            <a:srgbClr val="2D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3931920" y="5522975"/>
            <a:ext cx="512064" cy="109728"/>
          </a:xfrm>
          <a:prstGeom prst="rect">
            <a:avLst/>
          </a:prstGeom>
          <a:solidFill>
            <a:srgbClr val="1C9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68680" y="5797296"/>
            <a:ext cx="1234440" cy="201168"/>
          </a:xfrm>
          <a:prstGeom prst="rect">
            <a:avLst/>
          </a:prstGeom>
          <a:noFill/>
        </p:spPr>
        <p:txBody>
          <a:bodyPr wrap="square" lIns="54864" tIns="54864" rIns="54864" bIns="54864" anchor="t">
            <a:spAutoFit/>
          </a:bodyPr>
          <a:lstStyle/>
          <a:p>
            <a:pPr algn="l">
              <a:spcAft>
                <a:spcPts val="0"/>
              </a:spcAft>
            </a:pPr>
            <a:r>
              <a:rPr sz="900" b="0">
                <a:solidFill>
                  <a:srgbClr val="657384"/>
                </a:solidFill>
                <a:latin typeface="Aptos"/>
              </a:rPr>
              <a:t>Assignments</a:t>
            </a:r>
          </a:p>
        </p:txBody>
      </p:sp>
      <p:sp>
        <p:nvSpPr>
          <p:cNvPr id="33" name="Rectangle 32"/>
          <p:cNvSpPr/>
          <p:nvPr/>
        </p:nvSpPr>
        <p:spPr>
          <a:xfrm>
            <a:off x="2148840" y="5815583"/>
            <a:ext cx="640080" cy="109728"/>
          </a:xfrm>
          <a:prstGeom prst="rect">
            <a:avLst/>
          </a:prstGeom>
          <a:solidFill>
            <a:srgbClr val="2D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3931920" y="5815583"/>
            <a:ext cx="36576" cy="109728"/>
          </a:xfrm>
          <a:prstGeom prst="rect">
            <a:avLst/>
          </a:prstGeom>
          <a:solidFill>
            <a:srgbClr val="C349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715000" y="4892040"/>
            <a:ext cx="5212080" cy="822960"/>
          </a:xfrm>
          <a:prstGeom prst="rect">
            <a:avLst/>
          </a:prstGeom>
          <a:noFill/>
        </p:spPr>
        <p:txBody>
          <a:bodyPr wrap="square" lIns="54864" tIns="54864" rIns="54864" bIns="54864" anchor="t">
            <a:spAutoFit/>
          </a:bodyPr>
          <a:lstStyle/>
          <a:p>
            <a:pPr algn="l">
              <a:spcAft>
                <a:spcPts val="0"/>
              </a:spcAft>
            </a:pPr>
            <a:r>
              <a:rPr sz="1200" b="0">
                <a:solidFill>
                  <a:srgbClr val="273343"/>
                </a:solidFill>
                <a:latin typeface="Aptos"/>
              </a:rPr>
              <a:t>A zero coefficient means that feature contributes nothing through that coefficient to the fitted linear prediction.</a:t>
            </a:r>
          </a:p>
        </p:txBody>
      </p:sp>
      <p:sp>
        <p:nvSpPr>
          <p:cNvPr id="36" name="TextBox 35"/>
          <p:cNvSpPr txBox="1"/>
          <p:nvPr/>
        </p:nvSpPr>
        <p:spPr>
          <a:xfrm>
            <a:off x="868680" y="6172200"/>
            <a:ext cx="10332720" cy="182880"/>
          </a:xfrm>
          <a:prstGeom prst="rect">
            <a:avLst/>
          </a:prstGeom>
          <a:noFill/>
        </p:spPr>
        <p:txBody>
          <a:bodyPr wrap="square" lIns="54864" tIns="54864" rIns="54864" bIns="54864" anchor="t">
            <a:spAutoFit/>
          </a:bodyPr>
          <a:lstStyle/>
          <a:p>
            <a:pPr algn="l">
              <a:spcAft>
                <a:spcPts val="0"/>
              </a:spcAft>
            </a:pPr>
            <a:r>
              <a:rPr sz="900" b="0">
                <a:solidFill>
                  <a:srgbClr val="657384"/>
                </a:solidFill>
                <a:latin typeface="Aptos"/>
              </a:rPr>
              <a:t>Illustrative values only; actual coefficients depend on data and preprocessing.</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256032"/>
            <a:ext cx="10972800" cy="502920"/>
          </a:xfrm>
          <a:prstGeom prst="rect">
            <a:avLst/>
          </a:prstGeom>
          <a:noFill/>
        </p:spPr>
        <p:txBody>
          <a:bodyPr wrap="square" lIns="54864" tIns="54864" rIns="54864" bIns="54864" anchor="t">
            <a:spAutoFit/>
          </a:bodyPr>
          <a:lstStyle/>
          <a:p>
            <a:pPr algn="l">
              <a:spcAft>
                <a:spcPts val="0"/>
              </a:spcAft>
            </a:pPr>
            <a:r>
              <a:rPr sz="2700" b="1">
                <a:solidFill>
                  <a:srgbClr val="132645"/>
                </a:solidFill>
                <a:latin typeface="Aptos"/>
              </a:rPr>
              <a:t>Ridge vs Lasso</a:t>
            </a:r>
          </a:p>
        </p:txBody>
      </p:sp>
      <p:sp>
        <p:nvSpPr>
          <p:cNvPr id="4" name="Rectangle 3"/>
          <p:cNvSpPr/>
          <p:nvPr/>
        </p:nvSpPr>
        <p:spPr>
          <a:xfrm>
            <a:off x="585216" y="832104"/>
            <a:ext cx="731520" cy="50292"/>
          </a:xfrm>
          <a:prstGeom prst="rect">
            <a:avLst/>
          </a:prstGeom>
          <a:solidFill>
            <a:srgbClr val="1C9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464040" y="292608"/>
            <a:ext cx="2103120" cy="274320"/>
          </a:xfrm>
          <a:prstGeom prst="rect">
            <a:avLst/>
          </a:prstGeom>
          <a:noFill/>
        </p:spPr>
        <p:txBody>
          <a:bodyPr wrap="square" lIns="54864" tIns="54864" rIns="54864" bIns="54864" anchor="t">
            <a:spAutoFit/>
          </a:bodyPr>
          <a:lstStyle/>
          <a:p>
            <a:pPr algn="r">
              <a:spcAft>
                <a:spcPts val="0"/>
              </a:spcAft>
            </a:pPr>
            <a:r>
              <a:rPr sz="900" b="1">
                <a:solidFill>
                  <a:srgbClr val="657384"/>
                </a:solidFill>
                <a:latin typeface="Aptos"/>
              </a:rPr>
              <a:t>REGULARIZATION</a:t>
            </a:r>
          </a:p>
        </p:txBody>
      </p:sp>
      <p:sp>
        <p:nvSpPr>
          <p:cNvPr id="6" name="TextBox 5"/>
          <p:cNvSpPr txBox="1"/>
          <p:nvPr/>
        </p:nvSpPr>
        <p:spPr>
          <a:xfrm>
            <a:off x="594360" y="6510528"/>
            <a:ext cx="8961120" cy="164592"/>
          </a:xfrm>
          <a:prstGeom prst="rect">
            <a:avLst/>
          </a:prstGeom>
          <a:noFill/>
        </p:spPr>
        <p:txBody>
          <a:bodyPr wrap="square" lIns="54864" tIns="54864" rIns="54864" bIns="54864" anchor="t">
            <a:spAutoFit/>
          </a:bodyPr>
          <a:lstStyle/>
          <a:p>
            <a:pPr algn="l">
              <a:spcAft>
                <a:spcPts val="0"/>
              </a:spcAft>
            </a:pPr>
            <a:r>
              <a:rPr sz="800" b="0">
                <a:solidFill>
                  <a:srgbClr val="657384"/>
                </a:solidFill>
                <a:latin typeface="Aptos"/>
              </a:rPr>
              <a:t>UNDERSTANDING MACHINE LEARNING  •  TECHNICAL SEMINAR</a:t>
            </a:r>
          </a:p>
        </p:txBody>
      </p:sp>
      <p:sp>
        <p:nvSpPr>
          <p:cNvPr id="7" name="TextBox 6"/>
          <p:cNvSpPr txBox="1"/>
          <p:nvPr/>
        </p:nvSpPr>
        <p:spPr>
          <a:xfrm>
            <a:off x="11064240" y="6473952"/>
            <a:ext cx="502920" cy="201168"/>
          </a:xfrm>
          <a:prstGeom prst="rect">
            <a:avLst/>
          </a:prstGeom>
          <a:noFill/>
        </p:spPr>
        <p:txBody>
          <a:bodyPr wrap="square" lIns="54864" tIns="54864" rIns="54864" bIns="54864" anchor="t">
            <a:spAutoFit/>
          </a:bodyPr>
          <a:lstStyle/>
          <a:p>
            <a:pPr algn="r">
              <a:spcAft>
                <a:spcPts val="0"/>
              </a:spcAft>
            </a:pPr>
            <a:r>
              <a:rPr sz="900" b="1">
                <a:solidFill>
                  <a:srgbClr val="657384"/>
                </a:solidFill>
                <a:latin typeface="Aptos"/>
              </a:rPr>
              <a:t>15</a:t>
            </a:r>
          </a:p>
        </p:txBody>
      </p:sp>
      <p:graphicFrame>
        <p:nvGraphicFramePr>
          <p:cNvPr id="8" name="Table 7"/>
          <p:cNvGraphicFramePr>
            <a:graphicFrameLocks noGrp="1"/>
          </p:cNvGraphicFramePr>
          <p:nvPr/>
        </p:nvGraphicFramePr>
        <p:xfrm>
          <a:off x="822960" y="1417320"/>
          <a:ext cx="10561320" cy="3566160"/>
        </p:xfrm>
        <a:graphic>
          <a:graphicData uri="http://schemas.openxmlformats.org/drawingml/2006/table">
            <a:tbl>
              <a:tblPr firstRow="1" bandRow="1">
                <a:tableStyleId>{5C22544A-7EE6-4342-B048-85BDC9FD1C3A}</a:tableStyleId>
              </a:tblPr>
              <a:tblGrid>
                <a:gridCol w="2194560">
                  <a:extLst>
                    <a:ext uri="{9D8B030D-6E8A-4147-A177-3AD203B41FA5}">
                      <a16:colId xmlns:a16="http://schemas.microsoft.com/office/drawing/2014/main" val="20000"/>
                    </a:ext>
                  </a:extLst>
                </a:gridCol>
                <a:gridCol w="4160520">
                  <a:extLst>
                    <a:ext uri="{9D8B030D-6E8A-4147-A177-3AD203B41FA5}">
                      <a16:colId xmlns:a16="http://schemas.microsoft.com/office/drawing/2014/main" val="20001"/>
                    </a:ext>
                  </a:extLst>
                </a:gridCol>
                <a:gridCol w="4206240">
                  <a:extLst>
                    <a:ext uri="{9D8B030D-6E8A-4147-A177-3AD203B41FA5}">
                      <a16:colId xmlns:a16="http://schemas.microsoft.com/office/drawing/2014/main" val="20002"/>
                    </a:ext>
                  </a:extLst>
                </a:gridCol>
              </a:tblGrid>
              <a:tr h="594360">
                <a:tc>
                  <a:txBody>
                    <a:bodyPr/>
                    <a:lstStyle/>
                    <a:p>
                      <a:pPr algn="l"/>
                      <a:r>
                        <a:rPr sz="1300" b="1">
                          <a:solidFill>
                            <a:srgbClr val="FFFFFF"/>
                          </a:solidFill>
                          <a:latin typeface="Aptos"/>
                        </a:rPr>
                        <a:t>Feature</a:t>
                      </a:r>
                    </a:p>
                  </a:txBody>
                  <a:tcPr marL="109728" marR="73152">
                    <a:solidFill>
                      <a:srgbClr val="132645"/>
                    </a:solidFill>
                  </a:tcPr>
                </a:tc>
                <a:tc>
                  <a:txBody>
                    <a:bodyPr/>
                    <a:lstStyle/>
                    <a:p>
                      <a:pPr algn="l"/>
                      <a:r>
                        <a:rPr sz="1300" b="1">
                          <a:solidFill>
                            <a:srgbClr val="FFFFFF"/>
                          </a:solidFill>
                          <a:latin typeface="Aptos"/>
                        </a:rPr>
                        <a:t>Ridge</a:t>
                      </a:r>
                    </a:p>
                  </a:txBody>
                  <a:tcPr marL="109728" marR="73152">
                    <a:solidFill>
                      <a:srgbClr val="132645"/>
                    </a:solidFill>
                  </a:tcPr>
                </a:tc>
                <a:tc>
                  <a:txBody>
                    <a:bodyPr/>
                    <a:lstStyle/>
                    <a:p>
                      <a:pPr algn="l"/>
                      <a:r>
                        <a:rPr sz="1300" b="1">
                          <a:solidFill>
                            <a:srgbClr val="FFFFFF"/>
                          </a:solidFill>
                          <a:latin typeface="Aptos"/>
                        </a:rPr>
                        <a:t>Lasso</a:t>
                      </a:r>
                    </a:p>
                  </a:txBody>
                  <a:tcPr marL="109728" marR="73152">
                    <a:solidFill>
                      <a:srgbClr val="132645"/>
                    </a:solidFill>
                  </a:tcPr>
                </a:tc>
                <a:extLst>
                  <a:ext uri="{0D108BD9-81ED-4DB2-BD59-A6C34878D82A}">
                    <a16:rowId xmlns:a16="http://schemas.microsoft.com/office/drawing/2014/main" val="10000"/>
                  </a:ext>
                </a:extLst>
              </a:tr>
              <a:tr h="594360">
                <a:tc>
                  <a:txBody>
                    <a:bodyPr/>
                    <a:lstStyle/>
                    <a:p>
                      <a:pPr algn="l"/>
                      <a:r>
                        <a:rPr sz="1200" b="1">
                          <a:solidFill>
                            <a:srgbClr val="273343"/>
                          </a:solidFill>
                          <a:latin typeface="Aptos"/>
                        </a:rPr>
                        <a:t>Penalty</a:t>
                      </a:r>
                    </a:p>
                  </a:txBody>
                  <a:tcPr marL="109728" marR="73152">
                    <a:solidFill>
                      <a:srgbClr val="FFFFFF"/>
                    </a:solidFill>
                  </a:tcPr>
                </a:tc>
                <a:tc>
                  <a:txBody>
                    <a:bodyPr/>
                    <a:lstStyle/>
                    <a:p>
                      <a:pPr algn="l"/>
                      <a:r>
                        <a:rPr sz="1200" b="0">
                          <a:solidFill>
                            <a:srgbClr val="273343"/>
                          </a:solidFill>
                          <a:latin typeface="Aptos"/>
                        </a:rPr>
                        <a:t>Sum of squared coefficients</a:t>
                      </a:r>
                    </a:p>
                  </a:txBody>
                  <a:tcPr marL="109728" marR="73152">
                    <a:solidFill>
                      <a:srgbClr val="E6EFFB"/>
                    </a:solidFill>
                  </a:tcPr>
                </a:tc>
                <a:tc>
                  <a:txBody>
                    <a:bodyPr/>
                    <a:lstStyle/>
                    <a:p>
                      <a:pPr algn="l"/>
                      <a:r>
                        <a:rPr sz="1200" b="0">
                          <a:solidFill>
                            <a:srgbClr val="273343"/>
                          </a:solidFill>
                          <a:latin typeface="Aptos"/>
                        </a:rPr>
                        <a:t>Sum of absolute coefficients</a:t>
                      </a:r>
                    </a:p>
                  </a:txBody>
                  <a:tcPr marL="109728" marR="73152">
                    <a:solidFill>
                      <a:srgbClr val="E2F5F1"/>
                    </a:solidFill>
                  </a:tcPr>
                </a:tc>
                <a:extLst>
                  <a:ext uri="{0D108BD9-81ED-4DB2-BD59-A6C34878D82A}">
                    <a16:rowId xmlns:a16="http://schemas.microsoft.com/office/drawing/2014/main" val="10001"/>
                  </a:ext>
                </a:extLst>
              </a:tr>
              <a:tr h="594360">
                <a:tc>
                  <a:txBody>
                    <a:bodyPr/>
                    <a:lstStyle/>
                    <a:p>
                      <a:pPr algn="l"/>
                      <a:r>
                        <a:rPr sz="1200" b="1">
                          <a:solidFill>
                            <a:srgbClr val="273343"/>
                          </a:solidFill>
                          <a:latin typeface="Aptos"/>
                        </a:rPr>
                        <a:t>Type</a:t>
                      </a:r>
                    </a:p>
                  </a:txBody>
                  <a:tcPr marL="109728" marR="73152">
                    <a:solidFill>
                      <a:srgbClr val="FFFFFF"/>
                    </a:solidFill>
                  </a:tcPr>
                </a:tc>
                <a:tc>
                  <a:txBody>
                    <a:bodyPr/>
                    <a:lstStyle/>
                    <a:p>
                      <a:pPr algn="l"/>
                      <a:r>
                        <a:rPr sz="1200" b="0">
                          <a:solidFill>
                            <a:srgbClr val="273343"/>
                          </a:solidFill>
                          <a:latin typeface="Aptos"/>
                        </a:rPr>
                        <a:t>L2</a:t>
                      </a:r>
                    </a:p>
                  </a:txBody>
                  <a:tcPr marL="109728" marR="73152">
                    <a:solidFill>
                      <a:srgbClr val="E6EFFB"/>
                    </a:solidFill>
                  </a:tcPr>
                </a:tc>
                <a:tc>
                  <a:txBody>
                    <a:bodyPr/>
                    <a:lstStyle/>
                    <a:p>
                      <a:pPr algn="l"/>
                      <a:r>
                        <a:rPr sz="1200" b="0">
                          <a:solidFill>
                            <a:srgbClr val="273343"/>
                          </a:solidFill>
                          <a:latin typeface="Aptos"/>
                        </a:rPr>
                        <a:t>L1</a:t>
                      </a:r>
                    </a:p>
                  </a:txBody>
                  <a:tcPr marL="109728" marR="73152">
                    <a:solidFill>
                      <a:srgbClr val="E2F5F1"/>
                    </a:solidFill>
                  </a:tcPr>
                </a:tc>
                <a:extLst>
                  <a:ext uri="{0D108BD9-81ED-4DB2-BD59-A6C34878D82A}">
                    <a16:rowId xmlns:a16="http://schemas.microsoft.com/office/drawing/2014/main" val="10002"/>
                  </a:ext>
                </a:extLst>
              </a:tr>
              <a:tr h="594360">
                <a:tc>
                  <a:txBody>
                    <a:bodyPr/>
                    <a:lstStyle/>
                    <a:p>
                      <a:pPr algn="l"/>
                      <a:r>
                        <a:rPr sz="1200" b="1">
                          <a:solidFill>
                            <a:srgbClr val="273343"/>
                          </a:solidFill>
                          <a:latin typeface="Aptos"/>
                        </a:rPr>
                        <a:t>Coefficient effect</a:t>
                      </a:r>
                    </a:p>
                  </a:txBody>
                  <a:tcPr marL="109728" marR="73152">
                    <a:solidFill>
                      <a:srgbClr val="FFFFFF"/>
                    </a:solidFill>
                  </a:tcPr>
                </a:tc>
                <a:tc>
                  <a:txBody>
                    <a:bodyPr/>
                    <a:lstStyle/>
                    <a:p>
                      <a:pPr algn="l"/>
                      <a:r>
                        <a:rPr sz="1200" b="0">
                          <a:solidFill>
                            <a:srgbClr val="273343"/>
                          </a:solidFill>
                          <a:latin typeface="Aptos"/>
                        </a:rPr>
                        <a:t>Usually shrinks toward zero</a:t>
                      </a:r>
                    </a:p>
                  </a:txBody>
                  <a:tcPr marL="109728" marR="73152">
                    <a:solidFill>
                      <a:srgbClr val="E6EFFB"/>
                    </a:solidFill>
                  </a:tcPr>
                </a:tc>
                <a:tc>
                  <a:txBody>
                    <a:bodyPr/>
                    <a:lstStyle/>
                    <a:p>
                      <a:pPr algn="l"/>
                      <a:r>
                        <a:rPr sz="1200" b="0">
                          <a:solidFill>
                            <a:srgbClr val="273343"/>
                          </a:solidFill>
                          <a:latin typeface="Aptos"/>
                        </a:rPr>
                        <a:t>Shrinks; some may become zero</a:t>
                      </a:r>
                    </a:p>
                  </a:txBody>
                  <a:tcPr marL="109728" marR="73152">
                    <a:solidFill>
                      <a:srgbClr val="E2F5F1"/>
                    </a:solidFill>
                  </a:tcPr>
                </a:tc>
                <a:extLst>
                  <a:ext uri="{0D108BD9-81ED-4DB2-BD59-A6C34878D82A}">
                    <a16:rowId xmlns:a16="http://schemas.microsoft.com/office/drawing/2014/main" val="10003"/>
                  </a:ext>
                </a:extLst>
              </a:tr>
              <a:tr h="594360">
                <a:tc>
                  <a:txBody>
                    <a:bodyPr/>
                    <a:lstStyle/>
                    <a:p>
                      <a:pPr algn="l"/>
                      <a:r>
                        <a:rPr sz="1200" b="1">
                          <a:solidFill>
                            <a:srgbClr val="273343"/>
                          </a:solidFill>
                          <a:latin typeface="Aptos"/>
                        </a:rPr>
                        <a:t>Feature selection</a:t>
                      </a:r>
                    </a:p>
                  </a:txBody>
                  <a:tcPr marL="109728" marR="73152">
                    <a:solidFill>
                      <a:srgbClr val="FFFFFF"/>
                    </a:solidFill>
                  </a:tcPr>
                </a:tc>
                <a:tc>
                  <a:txBody>
                    <a:bodyPr/>
                    <a:lstStyle/>
                    <a:p>
                      <a:pPr algn="l"/>
                      <a:r>
                        <a:rPr sz="1200" b="0">
                          <a:solidFill>
                            <a:srgbClr val="273343"/>
                          </a:solidFill>
                          <a:latin typeface="Aptos"/>
                        </a:rPr>
                        <a:t>Usually retains coefficients</a:t>
                      </a:r>
                    </a:p>
                  </a:txBody>
                  <a:tcPr marL="109728" marR="73152">
                    <a:solidFill>
                      <a:srgbClr val="E6EFFB"/>
                    </a:solidFill>
                  </a:tcPr>
                </a:tc>
                <a:tc>
                  <a:txBody>
                    <a:bodyPr/>
                    <a:lstStyle/>
                    <a:p>
                      <a:pPr algn="l"/>
                      <a:r>
                        <a:rPr sz="1200" b="0">
                          <a:solidFill>
                            <a:srgbClr val="273343"/>
                          </a:solidFill>
                          <a:latin typeface="Aptos"/>
                        </a:rPr>
                        <a:t>Can eliminate coefficients</a:t>
                      </a:r>
                    </a:p>
                  </a:txBody>
                  <a:tcPr marL="109728" marR="73152">
                    <a:solidFill>
                      <a:srgbClr val="E2F5F1"/>
                    </a:solidFill>
                  </a:tcPr>
                </a:tc>
                <a:extLst>
                  <a:ext uri="{0D108BD9-81ED-4DB2-BD59-A6C34878D82A}">
                    <a16:rowId xmlns:a16="http://schemas.microsoft.com/office/drawing/2014/main" val="10004"/>
                  </a:ext>
                </a:extLst>
              </a:tr>
              <a:tr h="594360">
                <a:tc>
                  <a:txBody>
                    <a:bodyPr/>
                    <a:lstStyle/>
                    <a:p>
                      <a:pPr algn="l"/>
                      <a:r>
                        <a:rPr sz="1200" b="1">
                          <a:solidFill>
                            <a:srgbClr val="273343"/>
                          </a:solidFill>
                          <a:latin typeface="Aptos"/>
                        </a:rPr>
                        <a:t>Common use</a:t>
                      </a:r>
                    </a:p>
                  </a:txBody>
                  <a:tcPr marL="109728" marR="73152">
                    <a:solidFill>
                      <a:srgbClr val="FFFFFF"/>
                    </a:solidFill>
                  </a:tcPr>
                </a:tc>
                <a:tc>
                  <a:txBody>
                    <a:bodyPr/>
                    <a:lstStyle/>
                    <a:p>
                      <a:pPr algn="l"/>
                      <a:r>
                        <a:rPr sz="1200" b="0">
                          <a:solidFill>
                            <a:srgbClr val="273343"/>
                          </a:solidFill>
                          <a:latin typeface="Aptos"/>
                        </a:rPr>
                        <a:t>Control coefficient size</a:t>
                      </a:r>
                    </a:p>
                  </a:txBody>
                  <a:tcPr marL="109728" marR="73152">
                    <a:solidFill>
                      <a:srgbClr val="E6EFFB"/>
                    </a:solidFill>
                  </a:tcPr>
                </a:tc>
                <a:tc>
                  <a:txBody>
                    <a:bodyPr/>
                    <a:lstStyle/>
                    <a:p>
                      <a:pPr algn="l"/>
                      <a:r>
                        <a:rPr sz="1200" b="0">
                          <a:solidFill>
                            <a:srgbClr val="273343"/>
                          </a:solidFill>
                          <a:latin typeface="Aptos"/>
                        </a:rPr>
                        <a:t>Control size and select features</a:t>
                      </a:r>
                    </a:p>
                  </a:txBody>
                  <a:tcPr marL="109728" marR="73152">
                    <a:solidFill>
                      <a:srgbClr val="E2F5F1"/>
                    </a:solidFill>
                  </a:tcPr>
                </a:tc>
                <a:extLst>
                  <a:ext uri="{0D108BD9-81ED-4DB2-BD59-A6C34878D82A}">
                    <a16:rowId xmlns:a16="http://schemas.microsoft.com/office/drawing/2014/main" val="10005"/>
                  </a:ext>
                </a:extLst>
              </a:tr>
            </a:tbl>
          </a:graphicData>
        </a:graphic>
      </p:graphicFrame>
      <p:sp>
        <p:nvSpPr>
          <p:cNvPr id="9" name="Rounded Rectangle 8"/>
          <p:cNvSpPr/>
          <p:nvPr/>
        </p:nvSpPr>
        <p:spPr>
          <a:xfrm>
            <a:off x="914400" y="5349240"/>
            <a:ext cx="4709160" cy="731520"/>
          </a:xfrm>
          <a:prstGeom prst="roundRect">
            <a:avLst/>
          </a:prstGeom>
          <a:solidFill>
            <a:srgbClr val="E6EFFB"/>
          </a:solidFill>
          <a:ln w="12700">
            <a:solidFill>
              <a:srgbClr val="DEE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914400" y="5349240"/>
            <a:ext cx="73152" cy="731520"/>
          </a:xfrm>
          <a:prstGeom prst="rect">
            <a:avLst/>
          </a:prstGeom>
          <a:solidFill>
            <a:srgbClr val="2D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115568" y="5495544"/>
            <a:ext cx="4361688" cy="310896"/>
          </a:xfrm>
          <a:prstGeom prst="rect">
            <a:avLst/>
          </a:prstGeom>
          <a:noFill/>
        </p:spPr>
        <p:txBody>
          <a:bodyPr wrap="square" lIns="54864" tIns="54864" rIns="54864" bIns="54864" anchor="t">
            <a:spAutoFit/>
          </a:bodyPr>
          <a:lstStyle/>
          <a:p>
            <a:pPr algn="l">
              <a:spcAft>
                <a:spcPts val="0"/>
              </a:spcAft>
            </a:pPr>
            <a:r>
              <a:rPr sz="1300" b="1">
                <a:solidFill>
                  <a:srgbClr val="132645"/>
                </a:solidFill>
                <a:latin typeface="Aptos"/>
              </a:rPr>
              <a:t>Correlated features</a:t>
            </a:r>
          </a:p>
        </p:txBody>
      </p:sp>
      <p:sp>
        <p:nvSpPr>
          <p:cNvPr id="12" name="TextBox 11"/>
          <p:cNvSpPr txBox="1"/>
          <p:nvPr/>
        </p:nvSpPr>
        <p:spPr>
          <a:xfrm>
            <a:off x="1115568" y="5879592"/>
            <a:ext cx="4361688" cy="109728"/>
          </a:xfrm>
          <a:prstGeom prst="rect">
            <a:avLst/>
          </a:prstGeom>
          <a:noFill/>
        </p:spPr>
        <p:txBody>
          <a:bodyPr wrap="square" lIns="54864" tIns="54864" rIns="54864" bIns="54864" anchor="t">
            <a:spAutoFit/>
          </a:bodyPr>
          <a:lstStyle/>
          <a:p>
            <a:pPr algn="l">
              <a:spcAft>
                <a:spcPts val="0"/>
              </a:spcAft>
            </a:pPr>
            <a:r>
              <a:rPr sz="1100" b="0">
                <a:solidFill>
                  <a:srgbClr val="273343"/>
                </a:solidFill>
                <a:latin typeface="Aptos"/>
              </a:rPr>
              <a:t>Ridge often shares weight across them.</a:t>
            </a:r>
          </a:p>
        </p:txBody>
      </p:sp>
      <p:sp>
        <p:nvSpPr>
          <p:cNvPr id="13" name="Rounded Rectangle 12"/>
          <p:cNvSpPr/>
          <p:nvPr/>
        </p:nvSpPr>
        <p:spPr>
          <a:xfrm>
            <a:off x="6400800" y="5349240"/>
            <a:ext cx="4709160" cy="731520"/>
          </a:xfrm>
          <a:prstGeom prst="roundRect">
            <a:avLst/>
          </a:prstGeom>
          <a:solidFill>
            <a:srgbClr val="E2F5F1"/>
          </a:solidFill>
          <a:ln w="12700">
            <a:solidFill>
              <a:srgbClr val="DEE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400800" y="5349240"/>
            <a:ext cx="73152" cy="731520"/>
          </a:xfrm>
          <a:prstGeom prst="rect">
            <a:avLst/>
          </a:prstGeom>
          <a:solidFill>
            <a:srgbClr val="1C9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601968" y="5495544"/>
            <a:ext cx="4361688" cy="310896"/>
          </a:xfrm>
          <a:prstGeom prst="rect">
            <a:avLst/>
          </a:prstGeom>
          <a:noFill/>
        </p:spPr>
        <p:txBody>
          <a:bodyPr wrap="square" lIns="54864" tIns="54864" rIns="54864" bIns="54864" anchor="t">
            <a:spAutoFit/>
          </a:bodyPr>
          <a:lstStyle/>
          <a:p>
            <a:pPr algn="l">
              <a:spcAft>
                <a:spcPts val="0"/>
              </a:spcAft>
            </a:pPr>
            <a:r>
              <a:rPr sz="1300" b="1">
                <a:solidFill>
                  <a:srgbClr val="132645"/>
                </a:solidFill>
                <a:latin typeface="Aptos"/>
              </a:rPr>
              <a:t>Correlated features</a:t>
            </a:r>
          </a:p>
        </p:txBody>
      </p:sp>
      <p:sp>
        <p:nvSpPr>
          <p:cNvPr id="16" name="TextBox 15"/>
          <p:cNvSpPr txBox="1"/>
          <p:nvPr/>
        </p:nvSpPr>
        <p:spPr>
          <a:xfrm>
            <a:off x="6601968" y="5879592"/>
            <a:ext cx="4361688" cy="109728"/>
          </a:xfrm>
          <a:prstGeom prst="rect">
            <a:avLst/>
          </a:prstGeom>
          <a:noFill/>
        </p:spPr>
        <p:txBody>
          <a:bodyPr wrap="square" lIns="54864" tIns="54864" rIns="54864" bIns="54864" anchor="t">
            <a:spAutoFit/>
          </a:bodyPr>
          <a:lstStyle/>
          <a:p>
            <a:pPr algn="l">
              <a:spcAft>
                <a:spcPts val="0"/>
              </a:spcAft>
            </a:pPr>
            <a:r>
              <a:rPr sz="1100" b="0">
                <a:solidFill>
                  <a:srgbClr val="273343"/>
                </a:solidFill>
                <a:latin typeface="Aptos"/>
              </a:rPr>
              <a:t>Lasso may retain only some of them.</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256032"/>
            <a:ext cx="10972800" cy="502920"/>
          </a:xfrm>
          <a:prstGeom prst="rect">
            <a:avLst/>
          </a:prstGeom>
          <a:noFill/>
        </p:spPr>
        <p:txBody>
          <a:bodyPr wrap="square" lIns="54864" tIns="54864" rIns="54864" bIns="54864" anchor="t">
            <a:spAutoFit/>
          </a:bodyPr>
          <a:lstStyle/>
          <a:p>
            <a:pPr algn="l">
              <a:spcAft>
                <a:spcPts val="0"/>
              </a:spcAft>
            </a:pPr>
            <a:r>
              <a:rPr sz="2700" b="1">
                <a:solidFill>
                  <a:srgbClr val="132645"/>
                </a:solidFill>
                <a:latin typeface="Aptos"/>
              </a:rPr>
              <a:t>What Is Lambda (λ)?</a:t>
            </a:r>
          </a:p>
        </p:txBody>
      </p:sp>
      <p:sp>
        <p:nvSpPr>
          <p:cNvPr id="4" name="Rectangle 3"/>
          <p:cNvSpPr/>
          <p:nvPr/>
        </p:nvSpPr>
        <p:spPr>
          <a:xfrm>
            <a:off x="585216" y="832104"/>
            <a:ext cx="731520" cy="50292"/>
          </a:xfrm>
          <a:prstGeom prst="rect">
            <a:avLst/>
          </a:prstGeom>
          <a:solidFill>
            <a:srgbClr val="1C9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464040" y="292608"/>
            <a:ext cx="2103120" cy="274320"/>
          </a:xfrm>
          <a:prstGeom prst="rect">
            <a:avLst/>
          </a:prstGeom>
          <a:noFill/>
        </p:spPr>
        <p:txBody>
          <a:bodyPr wrap="square" lIns="54864" tIns="54864" rIns="54864" bIns="54864" anchor="t">
            <a:spAutoFit/>
          </a:bodyPr>
          <a:lstStyle/>
          <a:p>
            <a:pPr algn="r">
              <a:spcAft>
                <a:spcPts val="0"/>
              </a:spcAft>
            </a:pPr>
            <a:r>
              <a:rPr sz="900" b="1">
                <a:solidFill>
                  <a:srgbClr val="657384"/>
                </a:solidFill>
                <a:latin typeface="Aptos"/>
              </a:rPr>
              <a:t>HYPERPARAMETERS</a:t>
            </a:r>
          </a:p>
        </p:txBody>
      </p:sp>
      <p:sp>
        <p:nvSpPr>
          <p:cNvPr id="6" name="TextBox 5"/>
          <p:cNvSpPr txBox="1"/>
          <p:nvPr/>
        </p:nvSpPr>
        <p:spPr>
          <a:xfrm>
            <a:off x="594360" y="6510528"/>
            <a:ext cx="8961120" cy="164592"/>
          </a:xfrm>
          <a:prstGeom prst="rect">
            <a:avLst/>
          </a:prstGeom>
          <a:noFill/>
        </p:spPr>
        <p:txBody>
          <a:bodyPr wrap="square" lIns="54864" tIns="54864" rIns="54864" bIns="54864" anchor="t">
            <a:spAutoFit/>
          </a:bodyPr>
          <a:lstStyle/>
          <a:p>
            <a:pPr algn="l">
              <a:spcAft>
                <a:spcPts val="0"/>
              </a:spcAft>
            </a:pPr>
            <a:r>
              <a:rPr sz="800" b="0">
                <a:solidFill>
                  <a:srgbClr val="657384"/>
                </a:solidFill>
                <a:latin typeface="Aptos"/>
              </a:rPr>
              <a:t>UNDERSTANDING MACHINE LEARNING  •  TECHNICAL SEMINAR</a:t>
            </a:r>
          </a:p>
        </p:txBody>
      </p:sp>
      <p:sp>
        <p:nvSpPr>
          <p:cNvPr id="7" name="TextBox 6"/>
          <p:cNvSpPr txBox="1"/>
          <p:nvPr/>
        </p:nvSpPr>
        <p:spPr>
          <a:xfrm>
            <a:off x="11064240" y="6473952"/>
            <a:ext cx="502920" cy="201168"/>
          </a:xfrm>
          <a:prstGeom prst="rect">
            <a:avLst/>
          </a:prstGeom>
          <a:noFill/>
        </p:spPr>
        <p:txBody>
          <a:bodyPr wrap="square" lIns="54864" tIns="54864" rIns="54864" bIns="54864" anchor="t">
            <a:spAutoFit/>
          </a:bodyPr>
          <a:lstStyle/>
          <a:p>
            <a:pPr algn="r">
              <a:spcAft>
                <a:spcPts val="0"/>
              </a:spcAft>
            </a:pPr>
            <a:r>
              <a:rPr sz="900" b="1">
                <a:solidFill>
                  <a:srgbClr val="657384"/>
                </a:solidFill>
                <a:latin typeface="Aptos"/>
              </a:rPr>
              <a:t>16</a:t>
            </a:r>
          </a:p>
        </p:txBody>
      </p:sp>
      <p:sp>
        <p:nvSpPr>
          <p:cNvPr id="8" name="Rounded Rectangle 7"/>
          <p:cNvSpPr/>
          <p:nvPr/>
        </p:nvSpPr>
        <p:spPr>
          <a:xfrm>
            <a:off x="685800" y="1645920"/>
            <a:ext cx="3337560" cy="2880360"/>
          </a:xfrm>
          <a:prstGeom prst="roundRect">
            <a:avLst/>
          </a:prstGeom>
          <a:solidFill>
            <a:srgbClr val="FFFFFF"/>
          </a:solidFill>
          <a:ln w="12700">
            <a:solidFill>
              <a:srgbClr val="DEE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85800" y="1645920"/>
            <a:ext cx="73152" cy="2880360"/>
          </a:xfrm>
          <a:prstGeom prst="rect">
            <a:avLst/>
          </a:prstGeom>
          <a:solidFill>
            <a:srgbClr val="2D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86968" y="1792224"/>
            <a:ext cx="2990088" cy="310896"/>
          </a:xfrm>
          <a:prstGeom prst="rect">
            <a:avLst/>
          </a:prstGeom>
          <a:noFill/>
        </p:spPr>
        <p:txBody>
          <a:bodyPr wrap="square" lIns="54864" tIns="54864" rIns="54864" bIns="54864" anchor="t">
            <a:spAutoFit/>
          </a:bodyPr>
          <a:lstStyle/>
          <a:p>
            <a:pPr algn="l">
              <a:spcAft>
                <a:spcPts val="0"/>
              </a:spcAft>
            </a:pPr>
            <a:r>
              <a:rPr sz="1600" b="1">
                <a:solidFill>
                  <a:srgbClr val="132645"/>
                </a:solidFill>
                <a:latin typeface="Aptos"/>
              </a:rPr>
              <a:t>SMALL λ</a:t>
            </a:r>
          </a:p>
        </p:txBody>
      </p:sp>
      <p:sp>
        <p:nvSpPr>
          <p:cNvPr id="11" name="TextBox 10"/>
          <p:cNvSpPr txBox="1"/>
          <p:nvPr/>
        </p:nvSpPr>
        <p:spPr>
          <a:xfrm>
            <a:off x="886968" y="2176272"/>
            <a:ext cx="2990088" cy="2258568"/>
          </a:xfrm>
          <a:prstGeom prst="rect">
            <a:avLst/>
          </a:prstGeom>
          <a:noFill/>
        </p:spPr>
        <p:txBody>
          <a:bodyPr wrap="square" lIns="54864" tIns="54864" rIns="54864" bIns="54864" anchor="t">
            <a:spAutoFit/>
          </a:bodyPr>
          <a:lstStyle/>
          <a:p>
            <a:pPr algn="l">
              <a:spcAft>
                <a:spcPts val="0"/>
              </a:spcAft>
            </a:pPr>
            <a:r>
              <a:rPr sz="1400" b="0">
                <a:solidFill>
                  <a:srgbClr val="273343"/>
                </a:solidFill>
                <a:latin typeface="Aptos"/>
              </a:rPr>
              <a:t>Weaker penalty
Less shrinkage; in some settings, more risk of overfitting.</a:t>
            </a:r>
          </a:p>
        </p:txBody>
      </p:sp>
      <p:sp>
        <p:nvSpPr>
          <p:cNvPr id="12" name="TextBox 11"/>
          <p:cNvSpPr txBox="1"/>
          <p:nvPr/>
        </p:nvSpPr>
        <p:spPr>
          <a:xfrm>
            <a:off x="914400" y="4800600"/>
            <a:ext cx="2834640" cy="274320"/>
          </a:xfrm>
          <a:prstGeom prst="rect">
            <a:avLst/>
          </a:prstGeom>
          <a:noFill/>
        </p:spPr>
        <p:txBody>
          <a:bodyPr wrap="square" lIns="54864" tIns="54864" rIns="54864" bIns="54864" anchor="t">
            <a:spAutoFit/>
          </a:bodyPr>
          <a:lstStyle/>
          <a:p>
            <a:pPr algn="ctr">
              <a:spcAft>
                <a:spcPts val="0"/>
              </a:spcAft>
            </a:pPr>
            <a:r>
              <a:rPr sz="1100" b="1">
                <a:solidFill>
                  <a:srgbClr val="657384"/>
                </a:solidFill>
                <a:latin typeface="Aptos"/>
              </a:rPr>
              <a:t>Penalty strength</a:t>
            </a:r>
          </a:p>
        </p:txBody>
      </p:sp>
      <p:sp>
        <p:nvSpPr>
          <p:cNvPr id="13" name="Rounded Rectangle 12"/>
          <p:cNvSpPr/>
          <p:nvPr/>
        </p:nvSpPr>
        <p:spPr>
          <a:xfrm>
            <a:off x="1097280" y="5257800"/>
            <a:ext cx="384048" cy="219456"/>
          </a:xfrm>
          <a:prstGeom prst="roundRect">
            <a:avLst/>
          </a:prstGeom>
          <a:solidFill>
            <a:srgbClr val="2D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1600200" y="5257800"/>
            <a:ext cx="384048" cy="219456"/>
          </a:xfrm>
          <a:prstGeom prst="roundRect">
            <a:avLst/>
          </a:prstGeom>
          <a:solidFill>
            <a:srgbClr val="DEE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2103120" y="5257800"/>
            <a:ext cx="384048" cy="219456"/>
          </a:xfrm>
          <a:prstGeom prst="roundRect">
            <a:avLst/>
          </a:prstGeom>
          <a:solidFill>
            <a:srgbClr val="DEE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2606040" y="5257800"/>
            <a:ext cx="384048" cy="219456"/>
          </a:xfrm>
          <a:prstGeom prst="roundRect">
            <a:avLst/>
          </a:prstGeom>
          <a:solidFill>
            <a:srgbClr val="DEE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3108960" y="5257800"/>
            <a:ext cx="384048" cy="219456"/>
          </a:xfrm>
          <a:prstGeom prst="roundRect">
            <a:avLst/>
          </a:prstGeom>
          <a:solidFill>
            <a:srgbClr val="DEE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4434840" y="1645920"/>
            <a:ext cx="3337560" cy="2880360"/>
          </a:xfrm>
          <a:prstGeom prst="roundRect">
            <a:avLst/>
          </a:prstGeom>
          <a:solidFill>
            <a:srgbClr val="FFFFFF"/>
          </a:solidFill>
          <a:ln w="12700">
            <a:solidFill>
              <a:srgbClr val="DEE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4434840" y="1645920"/>
            <a:ext cx="73152" cy="2880360"/>
          </a:xfrm>
          <a:prstGeom prst="rect">
            <a:avLst/>
          </a:prstGeom>
          <a:solidFill>
            <a:srgbClr val="1C9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636007" y="1792224"/>
            <a:ext cx="2990088" cy="310896"/>
          </a:xfrm>
          <a:prstGeom prst="rect">
            <a:avLst/>
          </a:prstGeom>
          <a:noFill/>
        </p:spPr>
        <p:txBody>
          <a:bodyPr wrap="square" lIns="54864" tIns="54864" rIns="54864" bIns="54864" anchor="t">
            <a:spAutoFit/>
          </a:bodyPr>
          <a:lstStyle/>
          <a:p>
            <a:pPr algn="l">
              <a:spcAft>
                <a:spcPts val="0"/>
              </a:spcAft>
            </a:pPr>
            <a:r>
              <a:rPr sz="1600" b="1">
                <a:solidFill>
                  <a:srgbClr val="132645"/>
                </a:solidFill>
                <a:latin typeface="Aptos"/>
              </a:rPr>
              <a:t>MODERATE λ</a:t>
            </a:r>
          </a:p>
        </p:txBody>
      </p:sp>
      <p:sp>
        <p:nvSpPr>
          <p:cNvPr id="21" name="TextBox 20"/>
          <p:cNvSpPr txBox="1"/>
          <p:nvPr/>
        </p:nvSpPr>
        <p:spPr>
          <a:xfrm>
            <a:off x="4636007" y="2176272"/>
            <a:ext cx="2990088" cy="2258568"/>
          </a:xfrm>
          <a:prstGeom prst="rect">
            <a:avLst/>
          </a:prstGeom>
          <a:noFill/>
        </p:spPr>
        <p:txBody>
          <a:bodyPr wrap="square" lIns="54864" tIns="54864" rIns="54864" bIns="54864" anchor="t">
            <a:spAutoFit/>
          </a:bodyPr>
          <a:lstStyle/>
          <a:p>
            <a:pPr algn="l">
              <a:spcAft>
                <a:spcPts val="0"/>
              </a:spcAft>
            </a:pPr>
            <a:r>
              <a:rPr sz="1400" b="0">
                <a:solidFill>
                  <a:srgbClr val="273343"/>
                </a:solidFill>
                <a:latin typeface="Aptos"/>
              </a:rPr>
              <a:t>Possible balance
May balance fit and coefficient size well.</a:t>
            </a:r>
          </a:p>
        </p:txBody>
      </p:sp>
      <p:sp>
        <p:nvSpPr>
          <p:cNvPr id="22" name="TextBox 21"/>
          <p:cNvSpPr txBox="1"/>
          <p:nvPr/>
        </p:nvSpPr>
        <p:spPr>
          <a:xfrm>
            <a:off x="4663440" y="4800600"/>
            <a:ext cx="2834640" cy="274320"/>
          </a:xfrm>
          <a:prstGeom prst="rect">
            <a:avLst/>
          </a:prstGeom>
          <a:noFill/>
        </p:spPr>
        <p:txBody>
          <a:bodyPr wrap="square" lIns="54864" tIns="54864" rIns="54864" bIns="54864" anchor="t">
            <a:spAutoFit/>
          </a:bodyPr>
          <a:lstStyle/>
          <a:p>
            <a:pPr algn="ctr">
              <a:spcAft>
                <a:spcPts val="0"/>
              </a:spcAft>
            </a:pPr>
            <a:r>
              <a:rPr sz="1100" b="1">
                <a:solidFill>
                  <a:srgbClr val="657384"/>
                </a:solidFill>
                <a:latin typeface="Aptos"/>
              </a:rPr>
              <a:t>Penalty strength</a:t>
            </a:r>
          </a:p>
        </p:txBody>
      </p:sp>
      <p:sp>
        <p:nvSpPr>
          <p:cNvPr id="23" name="Rounded Rectangle 22"/>
          <p:cNvSpPr/>
          <p:nvPr/>
        </p:nvSpPr>
        <p:spPr>
          <a:xfrm>
            <a:off x="4846320" y="5257800"/>
            <a:ext cx="384048" cy="219456"/>
          </a:xfrm>
          <a:prstGeom prst="roundRect">
            <a:avLst/>
          </a:prstGeom>
          <a:solidFill>
            <a:srgbClr val="1C9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5349240" y="5257800"/>
            <a:ext cx="384048" cy="219456"/>
          </a:xfrm>
          <a:prstGeom prst="roundRect">
            <a:avLst/>
          </a:prstGeom>
          <a:solidFill>
            <a:srgbClr val="1C9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5852160" y="5257800"/>
            <a:ext cx="384048" cy="219456"/>
          </a:xfrm>
          <a:prstGeom prst="roundRect">
            <a:avLst/>
          </a:prstGeom>
          <a:solidFill>
            <a:srgbClr val="1C9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6355080" y="5257800"/>
            <a:ext cx="384048" cy="219456"/>
          </a:xfrm>
          <a:prstGeom prst="roundRect">
            <a:avLst/>
          </a:prstGeom>
          <a:solidFill>
            <a:srgbClr val="DEE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6858000" y="5257800"/>
            <a:ext cx="384048" cy="219456"/>
          </a:xfrm>
          <a:prstGeom prst="roundRect">
            <a:avLst/>
          </a:prstGeom>
          <a:solidFill>
            <a:srgbClr val="DEE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8183879" y="1645920"/>
            <a:ext cx="3337560" cy="2880360"/>
          </a:xfrm>
          <a:prstGeom prst="roundRect">
            <a:avLst/>
          </a:prstGeom>
          <a:solidFill>
            <a:srgbClr val="FFFFFF"/>
          </a:solidFill>
          <a:ln w="12700">
            <a:solidFill>
              <a:srgbClr val="DEE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8183879" y="1645920"/>
            <a:ext cx="73152" cy="2880360"/>
          </a:xfrm>
          <a:prstGeom prst="rect">
            <a:avLst/>
          </a:prstGeom>
          <a:solidFill>
            <a:srgbClr val="E69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385048" y="1792224"/>
            <a:ext cx="2990088" cy="310896"/>
          </a:xfrm>
          <a:prstGeom prst="rect">
            <a:avLst/>
          </a:prstGeom>
          <a:noFill/>
        </p:spPr>
        <p:txBody>
          <a:bodyPr wrap="square" lIns="54864" tIns="54864" rIns="54864" bIns="54864" anchor="t">
            <a:spAutoFit/>
          </a:bodyPr>
          <a:lstStyle/>
          <a:p>
            <a:pPr algn="l">
              <a:spcAft>
                <a:spcPts val="0"/>
              </a:spcAft>
            </a:pPr>
            <a:r>
              <a:rPr sz="1600" b="1">
                <a:solidFill>
                  <a:srgbClr val="132645"/>
                </a:solidFill>
                <a:latin typeface="Aptos"/>
              </a:rPr>
              <a:t>VERY LARGE λ</a:t>
            </a:r>
          </a:p>
        </p:txBody>
      </p:sp>
      <p:sp>
        <p:nvSpPr>
          <p:cNvPr id="31" name="TextBox 30"/>
          <p:cNvSpPr txBox="1"/>
          <p:nvPr/>
        </p:nvSpPr>
        <p:spPr>
          <a:xfrm>
            <a:off x="8385048" y="2176272"/>
            <a:ext cx="2990088" cy="2258568"/>
          </a:xfrm>
          <a:prstGeom prst="rect">
            <a:avLst/>
          </a:prstGeom>
          <a:noFill/>
        </p:spPr>
        <p:txBody>
          <a:bodyPr wrap="square" lIns="54864" tIns="54864" rIns="54864" bIns="54864" anchor="t">
            <a:spAutoFit/>
          </a:bodyPr>
          <a:lstStyle/>
          <a:p>
            <a:pPr algn="l">
              <a:spcAft>
                <a:spcPts val="0"/>
              </a:spcAft>
            </a:pPr>
            <a:r>
              <a:rPr sz="1400" b="0">
                <a:solidFill>
                  <a:srgbClr val="273343"/>
                </a:solidFill>
                <a:latin typeface="Aptos"/>
              </a:rPr>
              <a:t>Strong penalty
Weights may shrink too much, increasing underfitting risk.</a:t>
            </a:r>
          </a:p>
        </p:txBody>
      </p:sp>
      <p:sp>
        <p:nvSpPr>
          <p:cNvPr id="32" name="TextBox 31"/>
          <p:cNvSpPr txBox="1"/>
          <p:nvPr/>
        </p:nvSpPr>
        <p:spPr>
          <a:xfrm>
            <a:off x="8412480" y="4800600"/>
            <a:ext cx="2834640" cy="274320"/>
          </a:xfrm>
          <a:prstGeom prst="rect">
            <a:avLst/>
          </a:prstGeom>
          <a:noFill/>
        </p:spPr>
        <p:txBody>
          <a:bodyPr wrap="square" lIns="54864" tIns="54864" rIns="54864" bIns="54864" anchor="t">
            <a:spAutoFit/>
          </a:bodyPr>
          <a:lstStyle/>
          <a:p>
            <a:pPr algn="ctr">
              <a:spcAft>
                <a:spcPts val="0"/>
              </a:spcAft>
            </a:pPr>
            <a:r>
              <a:rPr sz="1100" b="1">
                <a:solidFill>
                  <a:srgbClr val="657384"/>
                </a:solidFill>
                <a:latin typeface="Aptos"/>
              </a:rPr>
              <a:t>Penalty strength</a:t>
            </a:r>
          </a:p>
        </p:txBody>
      </p:sp>
      <p:sp>
        <p:nvSpPr>
          <p:cNvPr id="33" name="Rounded Rectangle 32"/>
          <p:cNvSpPr/>
          <p:nvPr/>
        </p:nvSpPr>
        <p:spPr>
          <a:xfrm>
            <a:off x="8595359" y="5257800"/>
            <a:ext cx="384048" cy="219456"/>
          </a:xfrm>
          <a:prstGeom prst="roundRect">
            <a:avLst/>
          </a:prstGeom>
          <a:solidFill>
            <a:srgbClr val="E69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ounded Rectangle 33"/>
          <p:cNvSpPr/>
          <p:nvPr/>
        </p:nvSpPr>
        <p:spPr>
          <a:xfrm>
            <a:off x="9098280" y="5257800"/>
            <a:ext cx="384048" cy="219456"/>
          </a:xfrm>
          <a:prstGeom prst="roundRect">
            <a:avLst/>
          </a:prstGeom>
          <a:solidFill>
            <a:srgbClr val="E69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34"/>
          <p:cNvSpPr/>
          <p:nvPr/>
        </p:nvSpPr>
        <p:spPr>
          <a:xfrm>
            <a:off x="9601199" y="5257800"/>
            <a:ext cx="384048" cy="219456"/>
          </a:xfrm>
          <a:prstGeom prst="roundRect">
            <a:avLst/>
          </a:prstGeom>
          <a:solidFill>
            <a:srgbClr val="E69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ounded Rectangle 35"/>
          <p:cNvSpPr/>
          <p:nvPr/>
        </p:nvSpPr>
        <p:spPr>
          <a:xfrm>
            <a:off x="10104119" y="5257800"/>
            <a:ext cx="384048" cy="219456"/>
          </a:xfrm>
          <a:prstGeom prst="roundRect">
            <a:avLst/>
          </a:prstGeom>
          <a:solidFill>
            <a:srgbClr val="E69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ounded Rectangle 36"/>
          <p:cNvSpPr/>
          <p:nvPr/>
        </p:nvSpPr>
        <p:spPr>
          <a:xfrm>
            <a:off x="10607039" y="5257800"/>
            <a:ext cx="384048" cy="219456"/>
          </a:xfrm>
          <a:prstGeom prst="roundRect">
            <a:avLst/>
          </a:prstGeom>
          <a:solidFill>
            <a:srgbClr val="E69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14400" y="5806440"/>
            <a:ext cx="10241280" cy="320040"/>
          </a:xfrm>
          <a:prstGeom prst="rect">
            <a:avLst/>
          </a:prstGeom>
          <a:noFill/>
        </p:spPr>
        <p:txBody>
          <a:bodyPr wrap="square" lIns="54864" tIns="54864" rIns="54864" bIns="54864" anchor="t">
            <a:spAutoFit/>
          </a:bodyPr>
          <a:lstStyle/>
          <a:p>
            <a:pPr algn="ctr">
              <a:spcAft>
                <a:spcPts val="0"/>
              </a:spcAft>
            </a:pPr>
            <a:r>
              <a:rPr sz="1100" b="1">
                <a:solidFill>
                  <a:srgbClr val="132645"/>
                </a:solidFill>
                <a:latin typeface="Aptos"/>
              </a:rPr>
              <a:t>λ is generally selected by validation or cross-validation; weights are optimized for each chosen λ.</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256032"/>
            <a:ext cx="10972800" cy="502920"/>
          </a:xfrm>
          <a:prstGeom prst="rect">
            <a:avLst/>
          </a:prstGeom>
          <a:noFill/>
        </p:spPr>
        <p:txBody>
          <a:bodyPr wrap="square" lIns="54864" tIns="54864" rIns="54864" bIns="54864" anchor="t">
            <a:spAutoFit/>
          </a:bodyPr>
          <a:lstStyle/>
          <a:p>
            <a:pPr algn="l">
              <a:spcAft>
                <a:spcPts val="0"/>
              </a:spcAft>
            </a:pPr>
            <a:r>
              <a:rPr sz="2700" b="1">
                <a:solidFill>
                  <a:srgbClr val="132645"/>
                </a:solidFill>
                <a:latin typeface="Aptos"/>
              </a:rPr>
              <a:t>How Do We Select the Best Lambda?</a:t>
            </a:r>
          </a:p>
        </p:txBody>
      </p:sp>
      <p:sp>
        <p:nvSpPr>
          <p:cNvPr id="4" name="Rectangle 3"/>
          <p:cNvSpPr/>
          <p:nvPr/>
        </p:nvSpPr>
        <p:spPr>
          <a:xfrm>
            <a:off x="585216" y="832104"/>
            <a:ext cx="731520" cy="50292"/>
          </a:xfrm>
          <a:prstGeom prst="rect">
            <a:avLst/>
          </a:prstGeom>
          <a:solidFill>
            <a:srgbClr val="1C9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464040" y="292608"/>
            <a:ext cx="2103120" cy="274320"/>
          </a:xfrm>
          <a:prstGeom prst="rect">
            <a:avLst/>
          </a:prstGeom>
          <a:noFill/>
        </p:spPr>
        <p:txBody>
          <a:bodyPr wrap="square" lIns="54864" tIns="54864" rIns="54864" bIns="54864" anchor="t">
            <a:spAutoFit/>
          </a:bodyPr>
          <a:lstStyle/>
          <a:p>
            <a:pPr algn="r">
              <a:spcAft>
                <a:spcPts val="0"/>
              </a:spcAft>
            </a:pPr>
            <a:r>
              <a:rPr sz="900" b="1">
                <a:solidFill>
                  <a:srgbClr val="657384"/>
                </a:solidFill>
                <a:latin typeface="Aptos"/>
              </a:rPr>
              <a:t>HYPERPARAMETERS</a:t>
            </a:r>
          </a:p>
        </p:txBody>
      </p:sp>
      <p:sp>
        <p:nvSpPr>
          <p:cNvPr id="6" name="TextBox 5"/>
          <p:cNvSpPr txBox="1"/>
          <p:nvPr/>
        </p:nvSpPr>
        <p:spPr>
          <a:xfrm>
            <a:off x="594360" y="6510528"/>
            <a:ext cx="8961120" cy="164592"/>
          </a:xfrm>
          <a:prstGeom prst="rect">
            <a:avLst/>
          </a:prstGeom>
          <a:noFill/>
        </p:spPr>
        <p:txBody>
          <a:bodyPr wrap="square" lIns="54864" tIns="54864" rIns="54864" bIns="54864" anchor="t">
            <a:spAutoFit/>
          </a:bodyPr>
          <a:lstStyle/>
          <a:p>
            <a:pPr algn="l">
              <a:spcAft>
                <a:spcPts val="0"/>
              </a:spcAft>
            </a:pPr>
            <a:r>
              <a:rPr sz="800" b="0">
                <a:solidFill>
                  <a:srgbClr val="657384"/>
                </a:solidFill>
                <a:latin typeface="Aptos"/>
              </a:rPr>
              <a:t>UNDERSTANDING MACHINE LEARNING  •  TECHNICAL SEMINAR</a:t>
            </a:r>
          </a:p>
        </p:txBody>
      </p:sp>
      <p:sp>
        <p:nvSpPr>
          <p:cNvPr id="7" name="TextBox 6"/>
          <p:cNvSpPr txBox="1"/>
          <p:nvPr/>
        </p:nvSpPr>
        <p:spPr>
          <a:xfrm>
            <a:off x="11064240" y="6473952"/>
            <a:ext cx="502920" cy="201168"/>
          </a:xfrm>
          <a:prstGeom prst="rect">
            <a:avLst/>
          </a:prstGeom>
          <a:noFill/>
        </p:spPr>
        <p:txBody>
          <a:bodyPr wrap="square" lIns="54864" tIns="54864" rIns="54864" bIns="54864" anchor="t">
            <a:spAutoFit/>
          </a:bodyPr>
          <a:lstStyle/>
          <a:p>
            <a:pPr algn="r">
              <a:spcAft>
                <a:spcPts val="0"/>
              </a:spcAft>
            </a:pPr>
            <a:r>
              <a:rPr sz="900" b="1">
                <a:solidFill>
                  <a:srgbClr val="657384"/>
                </a:solidFill>
                <a:latin typeface="Aptos"/>
              </a:rPr>
              <a:t>17</a:t>
            </a:r>
          </a:p>
        </p:txBody>
      </p:sp>
      <p:sp>
        <p:nvSpPr>
          <p:cNvPr id="8" name="Rounded Rectangle 7"/>
          <p:cNvSpPr/>
          <p:nvPr/>
        </p:nvSpPr>
        <p:spPr>
          <a:xfrm>
            <a:off x="640080" y="1508760"/>
            <a:ext cx="1783080" cy="1051560"/>
          </a:xfrm>
          <a:prstGeom prst="roundRect">
            <a:avLst/>
          </a:prstGeom>
          <a:solidFill>
            <a:srgbClr val="FFFFFF"/>
          </a:solidFill>
          <a:ln w="12700">
            <a:solidFill>
              <a:srgbClr val="DEE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40080" y="1508760"/>
            <a:ext cx="73152" cy="1051560"/>
          </a:xfrm>
          <a:prstGeom prst="rect">
            <a:avLst/>
          </a:prstGeom>
          <a:solidFill>
            <a:srgbClr val="2D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41247" y="1655063"/>
            <a:ext cx="1435607" cy="310896"/>
          </a:xfrm>
          <a:prstGeom prst="rect">
            <a:avLst/>
          </a:prstGeom>
          <a:noFill/>
        </p:spPr>
        <p:txBody>
          <a:bodyPr wrap="square" lIns="54864" tIns="54864" rIns="54864" bIns="54864" anchor="t">
            <a:spAutoFit/>
          </a:bodyPr>
          <a:lstStyle/>
          <a:p>
            <a:pPr algn="l">
              <a:spcAft>
                <a:spcPts val="0"/>
              </a:spcAft>
            </a:pPr>
            <a:r>
              <a:rPr sz="1300" b="1">
                <a:solidFill>
                  <a:srgbClr val="132645"/>
                </a:solidFill>
                <a:latin typeface="Aptos"/>
              </a:rPr>
              <a:t>Candidate λ
values</a:t>
            </a:r>
          </a:p>
        </p:txBody>
      </p:sp>
      <p:sp>
        <p:nvSpPr>
          <p:cNvPr id="11" name="TextBox 10"/>
          <p:cNvSpPr txBox="1"/>
          <p:nvPr/>
        </p:nvSpPr>
        <p:spPr>
          <a:xfrm>
            <a:off x="841247" y="2039112"/>
            <a:ext cx="1435607" cy="429767"/>
          </a:xfrm>
          <a:prstGeom prst="rect">
            <a:avLst/>
          </a:prstGeom>
          <a:noFill/>
        </p:spPr>
        <p:txBody>
          <a:bodyPr wrap="square" lIns="54864" tIns="54864" rIns="54864" bIns="54864" anchor="t">
            <a:spAutoFit/>
          </a:bodyPr>
          <a:lstStyle/>
          <a:p>
            <a:pPr algn="l">
              <a:spcAft>
                <a:spcPts val="0"/>
              </a:spcAft>
            </a:pPr>
            <a:endParaRPr/>
          </a:p>
        </p:txBody>
      </p:sp>
      <p:cxnSp>
        <p:nvCxnSpPr>
          <p:cNvPr id="12" name="Connector 11"/>
          <p:cNvCxnSpPr/>
          <p:nvPr/>
        </p:nvCxnSpPr>
        <p:spPr>
          <a:xfrm>
            <a:off x="2441448" y="2039112"/>
            <a:ext cx="320040" cy="0"/>
          </a:xfrm>
          <a:prstGeom prst="line">
            <a:avLst/>
          </a:prstGeom>
          <a:ln w="16510">
            <a:solidFill>
              <a:srgbClr val="657384"/>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834640" y="1508760"/>
            <a:ext cx="1783080" cy="1051560"/>
          </a:xfrm>
          <a:prstGeom prst="roundRect">
            <a:avLst/>
          </a:prstGeom>
          <a:solidFill>
            <a:srgbClr val="FFFFFF"/>
          </a:solidFill>
          <a:ln w="12700">
            <a:solidFill>
              <a:srgbClr val="DEE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2834640" y="1508760"/>
            <a:ext cx="73152" cy="1051560"/>
          </a:xfrm>
          <a:prstGeom prst="rect">
            <a:avLst/>
          </a:prstGeom>
          <a:solidFill>
            <a:srgbClr val="2D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035808" y="1655063"/>
            <a:ext cx="1435607" cy="310896"/>
          </a:xfrm>
          <a:prstGeom prst="rect">
            <a:avLst/>
          </a:prstGeom>
          <a:noFill/>
        </p:spPr>
        <p:txBody>
          <a:bodyPr wrap="square" lIns="54864" tIns="54864" rIns="54864" bIns="54864" anchor="t">
            <a:spAutoFit/>
          </a:bodyPr>
          <a:lstStyle/>
          <a:p>
            <a:pPr algn="l">
              <a:spcAft>
                <a:spcPts val="0"/>
              </a:spcAft>
            </a:pPr>
            <a:r>
              <a:rPr sz="1300" b="1">
                <a:solidFill>
                  <a:srgbClr val="132645"/>
                </a:solidFill>
                <a:latin typeface="Aptos"/>
              </a:rPr>
              <a:t>Train a model
for each</a:t>
            </a:r>
          </a:p>
        </p:txBody>
      </p:sp>
      <p:sp>
        <p:nvSpPr>
          <p:cNvPr id="16" name="TextBox 15"/>
          <p:cNvSpPr txBox="1"/>
          <p:nvPr/>
        </p:nvSpPr>
        <p:spPr>
          <a:xfrm>
            <a:off x="3035808" y="2039112"/>
            <a:ext cx="1435607" cy="429767"/>
          </a:xfrm>
          <a:prstGeom prst="rect">
            <a:avLst/>
          </a:prstGeom>
          <a:noFill/>
        </p:spPr>
        <p:txBody>
          <a:bodyPr wrap="square" lIns="54864" tIns="54864" rIns="54864" bIns="54864" anchor="t">
            <a:spAutoFit/>
          </a:bodyPr>
          <a:lstStyle/>
          <a:p>
            <a:pPr algn="l">
              <a:spcAft>
                <a:spcPts val="0"/>
              </a:spcAft>
            </a:pPr>
            <a:endParaRPr/>
          </a:p>
        </p:txBody>
      </p:sp>
      <p:cxnSp>
        <p:nvCxnSpPr>
          <p:cNvPr id="17" name="Connector 16"/>
          <p:cNvCxnSpPr/>
          <p:nvPr/>
        </p:nvCxnSpPr>
        <p:spPr>
          <a:xfrm>
            <a:off x="4636008" y="2039112"/>
            <a:ext cx="320040" cy="0"/>
          </a:xfrm>
          <a:prstGeom prst="line">
            <a:avLst/>
          </a:prstGeom>
          <a:ln w="16510">
            <a:solidFill>
              <a:srgbClr val="657384"/>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5029200" y="1508760"/>
            <a:ext cx="1783080" cy="1051560"/>
          </a:xfrm>
          <a:prstGeom prst="roundRect">
            <a:avLst/>
          </a:prstGeom>
          <a:solidFill>
            <a:srgbClr val="FFFFFF"/>
          </a:solidFill>
          <a:ln w="12700">
            <a:solidFill>
              <a:srgbClr val="DEE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029200" y="1508760"/>
            <a:ext cx="73152" cy="1051560"/>
          </a:xfrm>
          <a:prstGeom prst="rect">
            <a:avLst/>
          </a:prstGeom>
          <a:solidFill>
            <a:srgbClr val="E69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230368" y="1655063"/>
            <a:ext cx="1435607" cy="310896"/>
          </a:xfrm>
          <a:prstGeom prst="rect">
            <a:avLst/>
          </a:prstGeom>
          <a:noFill/>
        </p:spPr>
        <p:txBody>
          <a:bodyPr wrap="square" lIns="54864" tIns="54864" rIns="54864" bIns="54864" anchor="t">
            <a:spAutoFit/>
          </a:bodyPr>
          <a:lstStyle/>
          <a:p>
            <a:pPr algn="l">
              <a:spcAft>
                <a:spcPts val="0"/>
              </a:spcAft>
            </a:pPr>
            <a:r>
              <a:rPr sz="1300" b="1">
                <a:solidFill>
                  <a:srgbClr val="132645"/>
                </a:solidFill>
                <a:latin typeface="Aptos"/>
              </a:rPr>
              <a:t>Evaluate on
validation data</a:t>
            </a:r>
          </a:p>
        </p:txBody>
      </p:sp>
      <p:sp>
        <p:nvSpPr>
          <p:cNvPr id="21" name="TextBox 20"/>
          <p:cNvSpPr txBox="1"/>
          <p:nvPr/>
        </p:nvSpPr>
        <p:spPr>
          <a:xfrm>
            <a:off x="5230368" y="2039112"/>
            <a:ext cx="1435607" cy="429767"/>
          </a:xfrm>
          <a:prstGeom prst="rect">
            <a:avLst/>
          </a:prstGeom>
          <a:noFill/>
        </p:spPr>
        <p:txBody>
          <a:bodyPr wrap="square" lIns="54864" tIns="54864" rIns="54864" bIns="54864" anchor="t">
            <a:spAutoFit/>
          </a:bodyPr>
          <a:lstStyle/>
          <a:p>
            <a:pPr algn="l">
              <a:spcAft>
                <a:spcPts val="0"/>
              </a:spcAft>
            </a:pPr>
            <a:endParaRPr/>
          </a:p>
        </p:txBody>
      </p:sp>
      <p:cxnSp>
        <p:nvCxnSpPr>
          <p:cNvPr id="22" name="Connector 21"/>
          <p:cNvCxnSpPr/>
          <p:nvPr/>
        </p:nvCxnSpPr>
        <p:spPr>
          <a:xfrm>
            <a:off x="6830568" y="2039112"/>
            <a:ext cx="320040" cy="0"/>
          </a:xfrm>
          <a:prstGeom prst="line">
            <a:avLst/>
          </a:prstGeom>
          <a:ln w="16510">
            <a:solidFill>
              <a:srgbClr val="657384"/>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7223760" y="1508760"/>
            <a:ext cx="1783080" cy="1051560"/>
          </a:xfrm>
          <a:prstGeom prst="roundRect">
            <a:avLst/>
          </a:prstGeom>
          <a:solidFill>
            <a:srgbClr val="FFFFFF"/>
          </a:solidFill>
          <a:ln w="12700">
            <a:solidFill>
              <a:srgbClr val="DEE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7223760" y="1508760"/>
            <a:ext cx="73152" cy="1051560"/>
          </a:xfrm>
          <a:prstGeom prst="rect">
            <a:avLst/>
          </a:prstGeom>
          <a:solidFill>
            <a:srgbClr val="1C9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424928" y="1655063"/>
            <a:ext cx="1435607" cy="310896"/>
          </a:xfrm>
          <a:prstGeom prst="rect">
            <a:avLst/>
          </a:prstGeom>
          <a:noFill/>
        </p:spPr>
        <p:txBody>
          <a:bodyPr wrap="square" lIns="54864" tIns="54864" rIns="54864" bIns="54864" anchor="t">
            <a:spAutoFit/>
          </a:bodyPr>
          <a:lstStyle/>
          <a:p>
            <a:pPr algn="l">
              <a:spcAft>
                <a:spcPts val="0"/>
              </a:spcAft>
            </a:pPr>
            <a:r>
              <a:rPr sz="1300" b="1">
                <a:solidFill>
                  <a:srgbClr val="132645"/>
                </a:solidFill>
                <a:latin typeface="Aptos"/>
              </a:rPr>
              <a:t>Compare and
select</a:t>
            </a:r>
          </a:p>
        </p:txBody>
      </p:sp>
      <p:sp>
        <p:nvSpPr>
          <p:cNvPr id="26" name="TextBox 25"/>
          <p:cNvSpPr txBox="1"/>
          <p:nvPr/>
        </p:nvSpPr>
        <p:spPr>
          <a:xfrm>
            <a:off x="7424928" y="2039112"/>
            <a:ext cx="1435607" cy="429767"/>
          </a:xfrm>
          <a:prstGeom prst="rect">
            <a:avLst/>
          </a:prstGeom>
          <a:noFill/>
        </p:spPr>
        <p:txBody>
          <a:bodyPr wrap="square" lIns="54864" tIns="54864" rIns="54864" bIns="54864" anchor="t">
            <a:spAutoFit/>
          </a:bodyPr>
          <a:lstStyle/>
          <a:p>
            <a:pPr algn="l">
              <a:spcAft>
                <a:spcPts val="0"/>
              </a:spcAft>
            </a:pPr>
            <a:endParaRPr/>
          </a:p>
        </p:txBody>
      </p:sp>
      <p:cxnSp>
        <p:nvCxnSpPr>
          <p:cNvPr id="27" name="Connector 26"/>
          <p:cNvCxnSpPr/>
          <p:nvPr/>
        </p:nvCxnSpPr>
        <p:spPr>
          <a:xfrm>
            <a:off x="9025128" y="2039112"/>
            <a:ext cx="320040" cy="0"/>
          </a:xfrm>
          <a:prstGeom prst="line">
            <a:avLst/>
          </a:prstGeom>
          <a:ln w="16510">
            <a:solidFill>
              <a:srgbClr val="657384"/>
            </a:solidFill>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418320" y="1508760"/>
            <a:ext cx="1783080" cy="1051560"/>
          </a:xfrm>
          <a:prstGeom prst="roundRect">
            <a:avLst/>
          </a:prstGeom>
          <a:solidFill>
            <a:srgbClr val="FFFFFF"/>
          </a:solidFill>
          <a:ln w="12700">
            <a:solidFill>
              <a:srgbClr val="DEE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9418320" y="1508760"/>
            <a:ext cx="73152" cy="1051560"/>
          </a:xfrm>
          <a:prstGeom prst="rect">
            <a:avLst/>
          </a:prstGeom>
          <a:solidFill>
            <a:srgbClr val="1326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619488" y="1655063"/>
            <a:ext cx="1435607" cy="310896"/>
          </a:xfrm>
          <a:prstGeom prst="rect">
            <a:avLst/>
          </a:prstGeom>
          <a:noFill/>
        </p:spPr>
        <p:txBody>
          <a:bodyPr wrap="square" lIns="54864" tIns="54864" rIns="54864" bIns="54864" anchor="t">
            <a:spAutoFit/>
          </a:bodyPr>
          <a:lstStyle/>
          <a:p>
            <a:pPr algn="l">
              <a:spcAft>
                <a:spcPts val="0"/>
              </a:spcAft>
            </a:pPr>
            <a:r>
              <a:rPr sz="1300" b="1">
                <a:solidFill>
                  <a:srgbClr val="132645"/>
                </a:solidFill>
                <a:latin typeface="Aptos"/>
              </a:rPr>
              <a:t>Final test
once</a:t>
            </a:r>
          </a:p>
        </p:txBody>
      </p:sp>
      <p:sp>
        <p:nvSpPr>
          <p:cNvPr id="31" name="TextBox 30"/>
          <p:cNvSpPr txBox="1"/>
          <p:nvPr/>
        </p:nvSpPr>
        <p:spPr>
          <a:xfrm>
            <a:off x="9619488" y="2039112"/>
            <a:ext cx="1435607" cy="429767"/>
          </a:xfrm>
          <a:prstGeom prst="rect">
            <a:avLst/>
          </a:prstGeom>
          <a:noFill/>
        </p:spPr>
        <p:txBody>
          <a:bodyPr wrap="square" lIns="54864" tIns="54864" rIns="54864" bIns="54864" anchor="t">
            <a:spAutoFit/>
          </a:bodyPr>
          <a:lstStyle/>
          <a:p>
            <a:pPr algn="l">
              <a:spcAft>
                <a:spcPts val="0"/>
              </a:spcAft>
            </a:pPr>
            <a:endParaRPr/>
          </a:p>
        </p:txBody>
      </p:sp>
      <p:sp>
        <p:nvSpPr>
          <p:cNvPr id="32" name="TextBox 31"/>
          <p:cNvSpPr txBox="1"/>
          <p:nvPr/>
        </p:nvSpPr>
        <p:spPr>
          <a:xfrm>
            <a:off x="822960" y="3063240"/>
            <a:ext cx="4389120" cy="320040"/>
          </a:xfrm>
          <a:prstGeom prst="rect">
            <a:avLst/>
          </a:prstGeom>
          <a:noFill/>
        </p:spPr>
        <p:txBody>
          <a:bodyPr wrap="square" lIns="54864" tIns="54864" rIns="54864" bIns="54864" anchor="t">
            <a:spAutoFit/>
          </a:bodyPr>
          <a:lstStyle/>
          <a:p>
            <a:pPr algn="l">
              <a:spcAft>
                <a:spcPts val="0"/>
              </a:spcAft>
            </a:pPr>
            <a:r>
              <a:rPr sz="1400" b="1">
                <a:solidFill>
                  <a:srgbClr val="132645"/>
                </a:solidFill>
                <a:latin typeface="Aptos"/>
              </a:rPr>
              <a:t>Illustrative validation error by λ</a:t>
            </a:r>
          </a:p>
        </p:txBody>
      </p:sp>
      <p:sp>
        <p:nvSpPr>
          <p:cNvPr id="33" name="Rectangle 32"/>
          <p:cNvSpPr/>
          <p:nvPr/>
        </p:nvSpPr>
        <p:spPr>
          <a:xfrm>
            <a:off x="1051560" y="3683203"/>
            <a:ext cx="566928" cy="1757476"/>
          </a:xfrm>
          <a:prstGeom prst="rect">
            <a:avLst/>
          </a:prstGeom>
          <a:solidFill>
            <a:srgbClr val="2D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1005839" y="5486400"/>
            <a:ext cx="658368" cy="201168"/>
          </a:xfrm>
          <a:prstGeom prst="rect">
            <a:avLst/>
          </a:prstGeom>
          <a:noFill/>
        </p:spPr>
        <p:txBody>
          <a:bodyPr wrap="square" lIns="54864" tIns="54864" rIns="54864" bIns="54864" anchor="t">
            <a:spAutoFit/>
          </a:bodyPr>
          <a:lstStyle/>
          <a:p>
            <a:pPr algn="ctr">
              <a:spcAft>
                <a:spcPts val="0"/>
              </a:spcAft>
            </a:pPr>
            <a:r>
              <a:rPr sz="900" b="0">
                <a:solidFill>
                  <a:srgbClr val="657384"/>
                </a:solidFill>
                <a:latin typeface="Aptos"/>
              </a:rPr>
              <a:t>0.01</a:t>
            </a:r>
          </a:p>
        </p:txBody>
      </p:sp>
      <p:sp>
        <p:nvSpPr>
          <p:cNvPr id="35" name="TextBox 34"/>
          <p:cNvSpPr txBox="1"/>
          <p:nvPr/>
        </p:nvSpPr>
        <p:spPr>
          <a:xfrm>
            <a:off x="1005839" y="3427171"/>
            <a:ext cx="658368" cy="201168"/>
          </a:xfrm>
          <a:prstGeom prst="rect">
            <a:avLst/>
          </a:prstGeom>
          <a:noFill/>
        </p:spPr>
        <p:txBody>
          <a:bodyPr wrap="square" lIns="54864" tIns="54864" rIns="54864" bIns="54864" anchor="t">
            <a:spAutoFit/>
          </a:bodyPr>
          <a:lstStyle/>
          <a:p>
            <a:pPr algn="ctr">
              <a:spcAft>
                <a:spcPts val="0"/>
              </a:spcAft>
            </a:pPr>
            <a:r>
              <a:rPr sz="900" b="1">
                <a:solidFill>
                  <a:srgbClr val="132645"/>
                </a:solidFill>
                <a:latin typeface="Aptos"/>
              </a:rPr>
              <a:t>6.2</a:t>
            </a:r>
          </a:p>
        </p:txBody>
      </p:sp>
      <p:sp>
        <p:nvSpPr>
          <p:cNvPr id="36" name="Rectangle 35"/>
          <p:cNvSpPr/>
          <p:nvPr/>
        </p:nvSpPr>
        <p:spPr>
          <a:xfrm>
            <a:off x="1874519" y="4080052"/>
            <a:ext cx="566928" cy="1360627"/>
          </a:xfrm>
          <a:prstGeom prst="rect">
            <a:avLst/>
          </a:prstGeom>
          <a:solidFill>
            <a:srgbClr val="2D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1828799" y="5486400"/>
            <a:ext cx="658368" cy="201168"/>
          </a:xfrm>
          <a:prstGeom prst="rect">
            <a:avLst/>
          </a:prstGeom>
          <a:noFill/>
        </p:spPr>
        <p:txBody>
          <a:bodyPr wrap="square" lIns="54864" tIns="54864" rIns="54864" bIns="54864" anchor="t">
            <a:spAutoFit/>
          </a:bodyPr>
          <a:lstStyle/>
          <a:p>
            <a:pPr algn="ctr">
              <a:spcAft>
                <a:spcPts val="0"/>
              </a:spcAft>
            </a:pPr>
            <a:r>
              <a:rPr sz="900" b="0">
                <a:solidFill>
                  <a:srgbClr val="657384"/>
                </a:solidFill>
                <a:latin typeface="Aptos"/>
              </a:rPr>
              <a:t>0.1</a:t>
            </a:r>
          </a:p>
        </p:txBody>
      </p:sp>
      <p:sp>
        <p:nvSpPr>
          <p:cNvPr id="38" name="TextBox 37"/>
          <p:cNvSpPr txBox="1"/>
          <p:nvPr/>
        </p:nvSpPr>
        <p:spPr>
          <a:xfrm>
            <a:off x="1828799" y="3824020"/>
            <a:ext cx="658368" cy="201168"/>
          </a:xfrm>
          <a:prstGeom prst="rect">
            <a:avLst/>
          </a:prstGeom>
          <a:noFill/>
        </p:spPr>
        <p:txBody>
          <a:bodyPr wrap="square" lIns="54864" tIns="54864" rIns="54864" bIns="54864" anchor="t">
            <a:spAutoFit/>
          </a:bodyPr>
          <a:lstStyle/>
          <a:p>
            <a:pPr algn="ctr">
              <a:spcAft>
                <a:spcPts val="0"/>
              </a:spcAft>
            </a:pPr>
            <a:r>
              <a:rPr sz="900" b="1">
                <a:solidFill>
                  <a:srgbClr val="132645"/>
                </a:solidFill>
                <a:latin typeface="Aptos"/>
              </a:rPr>
              <a:t>4.8</a:t>
            </a:r>
          </a:p>
        </p:txBody>
      </p:sp>
      <p:sp>
        <p:nvSpPr>
          <p:cNvPr id="39" name="Rectangle 38"/>
          <p:cNvSpPr/>
          <p:nvPr/>
        </p:nvSpPr>
        <p:spPr>
          <a:xfrm>
            <a:off x="2697480" y="4420209"/>
            <a:ext cx="566928" cy="1020470"/>
          </a:xfrm>
          <a:prstGeom prst="rect">
            <a:avLst/>
          </a:prstGeom>
          <a:solidFill>
            <a:srgbClr val="1C9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2651760" y="5486400"/>
            <a:ext cx="658368" cy="201168"/>
          </a:xfrm>
          <a:prstGeom prst="rect">
            <a:avLst/>
          </a:prstGeom>
          <a:noFill/>
        </p:spPr>
        <p:txBody>
          <a:bodyPr wrap="square" lIns="54864" tIns="54864" rIns="54864" bIns="54864" anchor="t">
            <a:spAutoFit/>
          </a:bodyPr>
          <a:lstStyle/>
          <a:p>
            <a:pPr algn="ctr">
              <a:spcAft>
                <a:spcPts val="0"/>
              </a:spcAft>
            </a:pPr>
            <a:r>
              <a:rPr sz="900" b="0">
                <a:solidFill>
                  <a:srgbClr val="657384"/>
                </a:solidFill>
                <a:latin typeface="Aptos"/>
              </a:rPr>
              <a:t>1</a:t>
            </a:r>
          </a:p>
        </p:txBody>
      </p:sp>
      <p:sp>
        <p:nvSpPr>
          <p:cNvPr id="41" name="TextBox 40"/>
          <p:cNvSpPr txBox="1"/>
          <p:nvPr/>
        </p:nvSpPr>
        <p:spPr>
          <a:xfrm>
            <a:off x="2651760" y="4164177"/>
            <a:ext cx="658368" cy="201168"/>
          </a:xfrm>
          <a:prstGeom prst="rect">
            <a:avLst/>
          </a:prstGeom>
          <a:noFill/>
        </p:spPr>
        <p:txBody>
          <a:bodyPr wrap="square" lIns="54864" tIns="54864" rIns="54864" bIns="54864" anchor="t">
            <a:spAutoFit/>
          </a:bodyPr>
          <a:lstStyle/>
          <a:p>
            <a:pPr algn="ctr">
              <a:spcAft>
                <a:spcPts val="0"/>
              </a:spcAft>
            </a:pPr>
            <a:r>
              <a:rPr sz="900" b="1">
                <a:solidFill>
                  <a:srgbClr val="132645"/>
                </a:solidFill>
                <a:latin typeface="Aptos"/>
              </a:rPr>
              <a:t>3.6</a:t>
            </a:r>
          </a:p>
        </p:txBody>
      </p:sp>
      <p:sp>
        <p:nvSpPr>
          <p:cNvPr id="42" name="Rectangle 41"/>
          <p:cNvSpPr/>
          <p:nvPr/>
        </p:nvSpPr>
        <p:spPr>
          <a:xfrm>
            <a:off x="3520440" y="4278477"/>
            <a:ext cx="566928" cy="1162202"/>
          </a:xfrm>
          <a:prstGeom prst="rect">
            <a:avLst/>
          </a:prstGeom>
          <a:solidFill>
            <a:srgbClr val="2D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3474720" y="5486400"/>
            <a:ext cx="658368" cy="201168"/>
          </a:xfrm>
          <a:prstGeom prst="rect">
            <a:avLst/>
          </a:prstGeom>
          <a:noFill/>
        </p:spPr>
        <p:txBody>
          <a:bodyPr wrap="square" lIns="54864" tIns="54864" rIns="54864" bIns="54864" anchor="t">
            <a:spAutoFit/>
          </a:bodyPr>
          <a:lstStyle/>
          <a:p>
            <a:pPr algn="ctr">
              <a:spcAft>
                <a:spcPts val="0"/>
              </a:spcAft>
            </a:pPr>
            <a:r>
              <a:rPr sz="900" b="0">
                <a:solidFill>
                  <a:srgbClr val="657384"/>
                </a:solidFill>
                <a:latin typeface="Aptos"/>
              </a:rPr>
              <a:t>10</a:t>
            </a:r>
          </a:p>
        </p:txBody>
      </p:sp>
      <p:sp>
        <p:nvSpPr>
          <p:cNvPr id="44" name="TextBox 43"/>
          <p:cNvSpPr txBox="1"/>
          <p:nvPr/>
        </p:nvSpPr>
        <p:spPr>
          <a:xfrm>
            <a:off x="3474720" y="4022445"/>
            <a:ext cx="658368" cy="201168"/>
          </a:xfrm>
          <a:prstGeom prst="rect">
            <a:avLst/>
          </a:prstGeom>
          <a:noFill/>
        </p:spPr>
        <p:txBody>
          <a:bodyPr wrap="square" lIns="54864" tIns="54864" rIns="54864" bIns="54864" anchor="t">
            <a:spAutoFit/>
          </a:bodyPr>
          <a:lstStyle/>
          <a:p>
            <a:pPr algn="ctr">
              <a:spcAft>
                <a:spcPts val="0"/>
              </a:spcAft>
            </a:pPr>
            <a:r>
              <a:rPr sz="900" b="1">
                <a:solidFill>
                  <a:srgbClr val="132645"/>
                </a:solidFill>
                <a:latin typeface="Aptos"/>
              </a:rPr>
              <a:t>4.1</a:t>
            </a:r>
          </a:p>
        </p:txBody>
      </p:sp>
      <p:sp>
        <p:nvSpPr>
          <p:cNvPr id="45" name="Rectangle 44"/>
          <p:cNvSpPr/>
          <p:nvPr/>
        </p:nvSpPr>
        <p:spPr>
          <a:xfrm>
            <a:off x="4343400" y="3598164"/>
            <a:ext cx="566928" cy="1842516"/>
          </a:xfrm>
          <a:prstGeom prst="rect">
            <a:avLst/>
          </a:prstGeom>
          <a:solidFill>
            <a:srgbClr val="2D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4297680" y="5486400"/>
            <a:ext cx="658368" cy="201168"/>
          </a:xfrm>
          <a:prstGeom prst="rect">
            <a:avLst/>
          </a:prstGeom>
          <a:noFill/>
        </p:spPr>
        <p:txBody>
          <a:bodyPr wrap="square" lIns="54864" tIns="54864" rIns="54864" bIns="54864" anchor="t">
            <a:spAutoFit/>
          </a:bodyPr>
          <a:lstStyle/>
          <a:p>
            <a:pPr algn="ctr">
              <a:spcAft>
                <a:spcPts val="0"/>
              </a:spcAft>
            </a:pPr>
            <a:r>
              <a:rPr sz="900" b="0">
                <a:solidFill>
                  <a:srgbClr val="657384"/>
                </a:solidFill>
                <a:latin typeface="Aptos"/>
              </a:rPr>
              <a:t>100</a:t>
            </a:r>
          </a:p>
        </p:txBody>
      </p:sp>
      <p:sp>
        <p:nvSpPr>
          <p:cNvPr id="47" name="TextBox 46"/>
          <p:cNvSpPr txBox="1"/>
          <p:nvPr/>
        </p:nvSpPr>
        <p:spPr>
          <a:xfrm>
            <a:off x="4297680" y="3342132"/>
            <a:ext cx="658368" cy="201168"/>
          </a:xfrm>
          <a:prstGeom prst="rect">
            <a:avLst/>
          </a:prstGeom>
          <a:noFill/>
        </p:spPr>
        <p:txBody>
          <a:bodyPr wrap="square" lIns="54864" tIns="54864" rIns="54864" bIns="54864" anchor="t">
            <a:spAutoFit/>
          </a:bodyPr>
          <a:lstStyle/>
          <a:p>
            <a:pPr algn="ctr">
              <a:spcAft>
                <a:spcPts val="0"/>
              </a:spcAft>
            </a:pPr>
            <a:r>
              <a:rPr sz="900" b="1">
                <a:solidFill>
                  <a:srgbClr val="132645"/>
                </a:solidFill>
                <a:latin typeface="Aptos"/>
              </a:rPr>
              <a:t>6.5</a:t>
            </a:r>
          </a:p>
        </p:txBody>
      </p:sp>
      <p:sp>
        <p:nvSpPr>
          <p:cNvPr id="48" name="TextBox 47"/>
          <p:cNvSpPr txBox="1"/>
          <p:nvPr/>
        </p:nvSpPr>
        <p:spPr>
          <a:xfrm>
            <a:off x="5852160" y="3246120"/>
            <a:ext cx="5120640" cy="594360"/>
          </a:xfrm>
          <a:prstGeom prst="rect">
            <a:avLst/>
          </a:prstGeom>
          <a:noFill/>
        </p:spPr>
        <p:txBody>
          <a:bodyPr wrap="square" lIns="54864" tIns="54864" rIns="54864" bIns="54864" anchor="t">
            <a:spAutoFit/>
          </a:bodyPr>
          <a:lstStyle/>
          <a:p>
            <a:pPr algn="l">
              <a:spcAft>
                <a:spcPts val="0"/>
              </a:spcAft>
            </a:pPr>
            <a:r>
              <a:rPr sz="1300" b="0">
                <a:solidFill>
                  <a:srgbClr val="273343"/>
                </a:solidFill>
                <a:latin typeface="Aptos"/>
              </a:rPr>
              <a:t>Example candidate values: 0.01, 0.1, 1, 10, 100</a:t>
            </a:r>
          </a:p>
        </p:txBody>
      </p:sp>
      <p:sp>
        <p:nvSpPr>
          <p:cNvPr id="49" name="TextBox 48"/>
          <p:cNvSpPr txBox="1"/>
          <p:nvPr/>
        </p:nvSpPr>
        <p:spPr>
          <a:xfrm>
            <a:off x="5852160" y="4069080"/>
            <a:ext cx="5120640" cy="822960"/>
          </a:xfrm>
          <a:prstGeom prst="rect">
            <a:avLst/>
          </a:prstGeom>
          <a:noFill/>
        </p:spPr>
        <p:txBody>
          <a:bodyPr wrap="square" lIns="54864" tIns="54864" rIns="54864" bIns="54864" anchor="t">
            <a:spAutoFit/>
          </a:bodyPr>
          <a:lstStyle/>
          <a:p>
            <a:pPr algn="l">
              <a:spcAft>
                <a:spcPts val="0"/>
              </a:spcAft>
            </a:pPr>
            <a:r>
              <a:rPr sz="1300" b="1">
                <a:solidFill>
                  <a:srgbClr val="1C968C"/>
                </a:solidFill>
                <a:latin typeface="Aptos"/>
              </a:rPr>
              <a:t>Choose using validation performance and practical constraints. Then evaluate once on the untouched test set.</a:t>
            </a:r>
          </a:p>
        </p:txBody>
      </p:sp>
      <p:sp>
        <p:nvSpPr>
          <p:cNvPr id="50" name="TextBox 49"/>
          <p:cNvSpPr txBox="1"/>
          <p:nvPr/>
        </p:nvSpPr>
        <p:spPr>
          <a:xfrm>
            <a:off x="822960" y="5897880"/>
            <a:ext cx="10332720" cy="228600"/>
          </a:xfrm>
          <a:prstGeom prst="rect">
            <a:avLst/>
          </a:prstGeom>
          <a:noFill/>
        </p:spPr>
        <p:txBody>
          <a:bodyPr wrap="square" lIns="54864" tIns="54864" rIns="54864" bIns="54864" anchor="t">
            <a:spAutoFit/>
          </a:bodyPr>
          <a:lstStyle/>
          <a:p>
            <a:pPr algn="l">
              <a:spcAft>
                <a:spcPts val="0"/>
              </a:spcAft>
            </a:pPr>
            <a:r>
              <a:rPr sz="900" b="0">
                <a:solidFill>
                  <a:srgbClr val="657384"/>
                </a:solidFill>
                <a:latin typeface="Aptos"/>
              </a:rPr>
              <a:t>Validation errors shown are hypothetical illustrations, not experimental results.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256032"/>
            <a:ext cx="10972800" cy="502920"/>
          </a:xfrm>
          <a:prstGeom prst="rect">
            <a:avLst/>
          </a:prstGeom>
          <a:noFill/>
        </p:spPr>
        <p:txBody>
          <a:bodyPr wrap="square" lIns="54864" tIns="54864" rIns="54864" bIns="54864" anchor="t">
            <a:spAutoFit/>
          </a:bodyPr>
          <a:lstStyle/>
          <a:p>
            <a:pPr algn="l">
              <a:spcAft>
                <a:spcPts val="0"/>
              </a:spcAft>
            </a:pPr>
            <a:r>
              <a:rPr sz="2700" b="1">
                <a:solidFill>
                  <a:srgbClr val="132645"/>
                </a:solidFill>
                <a:latin typeface="Aptos"/>
              </a:rPr>
              <a:t>Feature Scaling vs Regularization</a:t>
            </a:r>
          </a:p>
        </p:txBody>
      </p:sp>
      <p:sp>
        <p:nvSpPr>
          <p:cNvPr id="4" name="Rectangle 3"/>
          <p:cNvSpPr/>
          <p:nvPr/>
        </p:nvSpPr>
        <p:spPr>
          <a:xfrm>
            <a:off x="585216" y="832104"/>
            <a:ext cx="731520" cy="50292"/>
          </a:xfrm>
          <a:prstGeom prst="rect">
            <a:avLst/>
          </a:prstGeom>
          <a:solidFill>
            <a:srgbClr val="1C9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464040" y="292608"/>
            <a:ext cx="2103120" cy="274320"/>
          </a:xfrm>
          <a:prstGeom prst="rect">
            <a:avLst/>
          </a:prstGeom>
          <a:noFill/>
        </p:spPr>
        <p:txBody>
          <a:bodyPr wrap="square" lIns="54864" tIns="54864" rIns="54864" bIns="54864" anchor="t">
            <a:spAutoFit/>
          </a:bodyPr>
          <a:lstStyle/>
          <a:p>
            <a:pPr algn="r">
              <a:spcAft>
                <a:spcPts val="0"/>
              </a:spcAft>
            </a:pPr>
            <a:r>
              <a:rPr sz="900" b="1">
                <a:solidFill>
                  <a:srgbClr val="657384"/>
                </a:solidFill>
                <a:latin typeface="Aptos"/>
              </a:rPr>
              <a:t>PREPROCESSING</a:t>
            </a:r>
          </a:p>
        </p:txBody>
      </p:sp>
      <p:sp>
        <p:nvSpPr>
          <p:cNvPr id="6" name="TextBox 5"/>
          <p:cNvSpPr txBox="1"/>
          <p:nvPr/>
        </p:nvSpPr>
        <p:spPr>
          <a:xfrm>
            <a:off x="594360" y="6510528"/>
            <a:ext cx="8961120" cy="164592"/>
          </a:xfrm>
          <a:prstGeom prst="rect">
            <a:avLst/>
          </a:prstGeom>
          <a:noFill/>
        </p:spPr>
        <p:txBody>
          <a:bodyPr wrap="square" lIns="54864" tIns="54864" rIns="54864" bIns="54864" anchor="t">
            <a:spAutoFit/>
          </a:bodyPr>
          <a:lstStyle/>
          <a:p>
            <a:pPr algn="l">
              <a:spcAft>
                <a:spcPts val="0"/>
              </a:spcAft>
            </a:pPr>
            <a:r>
              <a:rPr sz="800" b="0">
                <a:solidFill>
                  <a:srgbClr val="657384"/>
                </a:solidFill>
                <a:latin typeface="Aptos"/>
              </a:rPr>
              <a:t>UNDERSTANDING MACHINE LEARNING  •  TECHNICAL SEMINAR</a:t>
            </a:r>
          </a:p>
        </p:txBody>
      </p:sp>
      <p:sp>
        <p:nvSpPr>
          <p:cNvPr id="7" name="TextBox 6"/>
          <p:cNvSpPr txBox="1"/>
          <p:nvPr/>
        </p:nvSpPr>
        <p:spPr>
          <a:xfrm>
            <a:off x="11064240" y="6473952"/>
            <a:ext cx="502920" cy="201168"/>
          </a:xfrm>
          <a:prstGeom prst="rect">
            <a:avLst/>
          </a:prstGeom>
          <a:noFill/>
        </p:spPr>
        <p:txBody>
          <a:bodyPr wrap="square" lIns="54864" tIns="54864" rIns="54864" bIns="54864" anchor="t">
            <a:spAutoFit/>
          </a:bodyPr>
          <a:lstStyle/>
          <a:p>
            <a:pPr algn="r">
              <a:spcAft>
                <a:spcPts val="0"/>
              </a:spcAft>
            </a:pPr>
            <a:r>
              <a:rPr sz="900" b="1">
                <a:solidFill>
                  <a:srgbClr val="657384"/>
                </a:solidFill>
                <a:latin typeface="Aptos"/>
              </a:rPr>
              <a:t>18</a:t>
            </a:r>
          </a:p>
        </p:txBody>
      </p:sp>
      <p:sp>
        <p:nvSpPr>
          <p:cNvPr id="8" name="Rounded Rectangle 7"/>
          <p:cNvSpPr/>
          <p:nvPr/>
        </p:nvSpPr>
        <p:spPr>
          <a:xfrm>
            <a:off x="822960" y="1508760"/>
            <a:ext cx="4892040" cy="1554480"/>
          </a:xfrm>
          <a:prstGeom prst="roundRect">
            <a:avLst/>
          </a:prstGeom>
          <a:solidFill>
            <a:srgbClr val="E6EFFB"/>
          </a:solidFill>
          <a:ln w="12700">
            <a:solidFill>
              <a:srgbClr val="DEE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822960" y="1508760"/>
            <a:ext cx="73152" cy="1554480"/>
          </a:xfrm>
          <a:prstGeom prst="rect">
            <a:avLst/>
          </a:prstGeom>
          <a:solidFill>
            <a:srgbClr val="2D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24128" y="1655063"/>
            <a:ext cx="4544568" cy="310896"/>
          </a:xfrm>
          <a:prstGeom prst="rect">
            <a:avLst/>
          </a:prstGeom>
          <a:noFill/>
        </p:spPr>
        <p:txBody>
          <a:bodyPr wrap="square" lIns="54864" tIns="54864" rIns="54864" bIns="54864" anchor="t">
            <a:spAutoFit/>
          </a:bodyPr>
          <a:lstStyle/>
          <a:p>
            <a:pPr algn="l">
              <a:spcAft>
                <a:spcPts val="0"/>
              </a:spcAft>
            </a:pPr>
            <a:r>
              <a:rPr sz="1600" b="1">
                <a:solidFill>
                  <a:srgbClr val="132645"/>
                </a:solidFill>
                <a:latin typeface="Aptos"/>
              </a:rPr>
              <a:t>Feature scaling</a:t>
            </a:r>
          </a:p>
        </p:txBody>
      </p:sp>
      <p:sp>
        <p:nvSpPr>
          <p:cNvPr id="11" name="TextBox 10"/>
          <p:cNvSpPr txBox="1"/>
          <p:nvPr/>
        </p:nvSpPr>
        <p:spPr>
          <a:xfrm>
            <a:off x="1024128" y="2039112"/>
            <a:ext cx="4544568" cy="932688"/>
          </a:xfrm>
          <a:prstGeom prst="rect">
            <a:avLst/>
          </a:prstGeom>
          <a:noFill/>
        </p:spPr>
        <p:txBody>
          <a:bodyPr wrap="square" lIns="54864" tIns="54864" rIns="54864" bIns="54864" anchor="t">
            <a:spAutoFit/>
          </a:bodyPr>
          <a:lstStyle/>
          <a:p>
            <a:pPr algn="l">
              <a:spcAft>
                <a:spcPts val="0"/>
              </a:spcAft>
            </a:pPr>
            <a:r>
              <a:rPr sz="1400" b="0">
                <a:solidFill>
                  <a:srgbClr val="273343"/>
                </a:solidFill>
                <a:latin typeface="Aptos"/>
              </a:rPr>
              <a:t>Transforms input features to comparable numerical scales.
Examples: StandardScaler, Min-Max Scaling.</a:t>
            </a:r>
          </a:p>
        </p:txBody>
      </p:sp>
      <p:sp>
        <p:nvSpPr>
          <p:cNvPr id="12" name="Rounded Rectangle 11"/>
          <p:cNvSpPr/>
          <p:nvPr/>
        </p:nvSpPr>
        <p:spPr>
          <a:xfrm>
            <a:off x="6400800" y="1508760"/>
            <a:ext cx="4892040" cy="1554480"/>
          </a:xfrm>
          <a:prstGeom prst="roundRect">
            <a:avLst/>
          </a:prstGeom>
          <a:solidFill>
            <a:srgbClr val="E2F5F1"/>
          </a:solidFill>
          <a:ln w="12700">
            <a:solidFill>
              <a:srgbClr val="DEE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400800" y="1508760"/>
            <a:ext cx="73152" cy="1554480"/>
          </a:xfrm>
          <a:prstGeom prst="rect">
            <a:avLst/>
          </a:prstGeom>
          <a:solidFill>
            <a:srgbClr val="1C9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601968" y="1655063"/>
            <a:ext cx="4544568" cy="310896"/>
          </a:xfrm>
          <a:prstGeom prst="rect">
            <a:avLst/>
          </a:prstGeom>
          <a:noFill/>
        </p:spPr>
        <p:txBody>
          <a:bodyPr wrap="square" lIns="54864" tIns="54864" rIns="54864" bIns="54864" anchor="t">
            <a:spAutoFit/>
          </a:bodyPr>
          <a:lstStyle/>
          <a:p>
            <a:pPr algn="l">
              <a:spcAft>
                <a:spcPts val="0"/>
              </a:spcAft>
            </a:pPr>
            <a:r>
              <a:rPr sz="1600" b="1">
                <a:solidFill>
                  <a:srgbClr val="132645"/>
                </a:solidFill>
                <a:latin typeface="Aptos"/>
              </a:rPr>
              <a:t>Regularization</a:t>
            </a:r>
          </a:p>
        </p:txBody>
      </p:sp>
      <p:sp>
        <p:nvSpPr>
          <p:cNvPr id="15" name="TextBox 14"/>
          <p:cNvSpPr txBox="1"/>
          <p:nvPr/>
        </p:nvSpPr>
        <p:spPr>
          <a:xfrm>
            <a:off x="6601968" y="2039112"/>
            <a:ext cx="4544568" cy="932688"/>
          </a:xfrm>
          <a:prstGeom prst="rect">
            <a:avLst/>
          </a:prstGeom>
          <a:noFill/>
        </p:spPr>
        <p:txBody>
          <a:bodyPr wrap="square" lIns="54864" tIns="54864" rIns="54864" bIns="54864" anchor="t">
            <a:spAutoFit/>
          </a:bodyPr>
          <a:lstStyle/>
          <a:p>
            <a:pPr algn="l">
              <a:spcAft>
                <a:spcPts val="0"/>
              </a:spcAft>
            </a:pPr>
            <a:r>
              <a:rPr sz="1400" b="0">
                <a:solidFill>
                  <a:srgbClr val="273343"/>
                </a:solidFill>
                <a:latin typeface="Aptos"/>
              </a:rPr>
              <a:t>Adds a penalty to the training objective to control coefficient size or encourage sparsity.</a:t>
            </a:r>
          </a:p>
        </p:txBody>
      </p:sp>
      <p:sp>
        <p:nvSpPr>
          <p:cNvPr id="16" name="TextBox 15"/>
          <p:cNvSpPr txBox="1"/>
          <p:nvPr/>
        </p:nvSpPr>
        <p:spPr>
          <a:xfrm>
            <a:off x="914400" y="3474720"/>
            <a:ext cx="4389120" cy="320040"/>
          </a:xfrm>
          <a:prstGeom prst="rect">
            <a:avLst/>
          </a:prstGeom>
          <a:noFill/>
        </p:spPr>
        <p:txBody>
          <a:bodyPr wrap="square" lIns="54864" tIns="54864" rIns="54864" bIns="54864" anchor="t">
            <a:spAutoFit/>
          </a:bodyPr>
          <a:lstStyle/>
          <a:p>
            <a:pPr algn="l">
              <a:spcAft>
                <a:spcPts val="0"/>
              </a:spcAft>
            </a:pPr>
            <a:r>
              <a:rPr sz="1300" b="1">
                <a:solidFill>
                  <a:srgbClr val="132645"/>
                </a:solidFill>
                <a:latin typeface="Aptos"/>
              </a:rPr>
              <a:t>Before scaling</a:t>
            </a:r>
          </a:p>
        </p:txBody>
      </p:sp>
      <p:sp>
        <p:nvSpPr>
          <p:cNvPr id="17" name="TextBox 16"/>
          <p:cNvSpPr txBox="1"/>
          <p:nvPr/>
        </p:nvSpPr>
        <p:spPr>
          <a:xfrm>
            <a:off x="6400800" y="3474720"/>
            <a:ext cx="4389120" cy="320040"/>
          </a:xfrm>
          <a:prstGeom prst="rect">
            <a:avLst/>
          </a:prstGeom>
          <a:noFill/>
        </p:spPr>
        <p:txBody>
          <a:bodyPr wrap="square" lIns="54864" tIns="54864" rIns="54864" bIns="54864" anchor="t">
            <a:spAutoFit/>
          </a:bodyPr>
          <a:lstStyle/>
          <a:p>
            <a:pPr algn="l">
              <a:spcAft>
                <a:spcPts val="0"/>
              </a:spcAft>
            </a:pPr>
            <a:r>
              <a:rPr sz="1300" b="1">
                <a:solidFill>
                  <a:srgbClr val="132645"/>
                </a:solidFill>
                <a:latin typeface="Aptos"/>
              </a:rPr>
              <a:t>After scaling (conceptual)</a:t>
            </a:r>
          </a:p>
        </p:txBody>
      </p:sp>
      <p:sp>
        <p:nvSpPr>
          <p:cNvPr id="18" name="TextBox 17"/>
          <p:cNvSpPr txBox="1"/>
          <p:nvPr/>
        </p:nvSpPr>
        <p:spPr>
          <a:xfrm>
            <a:off x="914400" y="3931920"/>
            <a:ext cx="1234440" cy="201168"/>
          </a:xfrm>
          <a:prstGeom prst="rect">
            <a:avLst/>
          </a:prstGeom>
          <a:noFill/>
        </p:spPr>
        <p:txBody>
          <a:bodyPr wrap="square" lIns="54864" tIns="54864" rIns="54864" bIns="54864" anchor="t">
            <a:spAutoFit/>
          </a:bodyPr>
          <a:lstStyle/>
          <a:p>
            <a:pPr algn="l">
              <a:spcAft>
                <a:spcPts val="0"/>
              </a:spcAft>
            </a:pPr>
            <a:r>
              <a:rPr sz="1000" b="0">
                <a:solidFill>
                  <a:srgbClr val="657384"/>
                </a:solidFill>
                <a:latin typeface="Aptos"/>
              </a:rPr>
              <a:t>Study hours</a:t>
            </a:r>
          </a:p>
        </p:txBody>
      </p:sp>
      <p:sp>
        <p:nvSpPr>
          <p:cNvPr id="19" name="Rectangle 18"/>
          <p:cNvSpPr/>
          <p:nvPr/>
        </p:nvSpPr>
        <p:spPr>
          <a:xfrm>
            <a:off x="2240280" y="3950207"/>
            <a:ext cx="1280160" cy="146304"/>
          </a:xfrm>
          <a:prstGeom prst="rect">
            <a:avLst/>
          </a:prstGeom>
          <a:solidFill>
            <a:srgbClr val="2D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00800" y="3931920"/>
            <a:ext cx="1234440" cy="201168"/>
          </a:xfrm>
          <a:prstGeom prst="rect">
            <a:avLst/>
          </a:prstGeom>
          <a:noFill/>
        </p:spPr>
        <p:txBody>
          <a:bodyPr wrap="square" lIns="54864" tIns="54864" rIns="54864" bIns="54864" anchor="t">
            <a:spAutoFit/>
          </a:bodyPr>
          <a:lstStyle/>
          <a:p>
            <a:pPr algn="l">
              <a:spcAft>
                <a:spcPts val="0"/>
              </a:spcAft>
            </a:pPr>
            <a:r>
              <a:rPr sz="1000" b="0">
                <a:solidFill>
                  <a:srgbClr val="657384"/>
                </a:solidFill>
                <a:latin typeface="Aptos"/>
              </a:rPr>
              <a:t>Study hours</a:t>
            </a:r>
          </a:p>
        </p:txBody>
      </p:sp>
      <p:sp>
        <p:nvSpPr>
          <p:cNvPr id="21" name="Rectangle 20"/>
          <p:cNvSpPr/>
          <p:nvPr/>
        </p:nvSpPr>
        <p:spPr>
          <a:xfrm>
            <a:off x="7726679" y="3950207"/>
            <a:ext cx="1280160" cy="146304"/>
          </a:xfrm>
          <a:prstGeom prst="rect">
            <a:avLst/>
          </a:prstGeom>
          <a:solidFill>
            <a:srgbClr val="2D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14400" y="4370831"/>
            <a:ext cx="1234440" cy="201168"/>
          </a:xfrm>
          <a:prstGeom prst="rect">
            <a:avLst/>
          </a:prstGeom>
          <a:noFill/>
        </p:spPr>
        <p:txBody>
          <a:bodyPr wrap="square" lIns="54864" tIns="54864" rIns="54864" bIns="54864" anchor="t">
            <a:spAutoFit/>
          </a:bodyPr>
          <a:lstStyle/>
          <a:p>
            <a:pPr algn="l">
              <a:spcAft>
                <a:spcPts val="0"/>
              </a:spcAft>
            </a:pPr>
            <a:r>
              <a:rPr sz="1000" b="0">
                <a:solidFill>
                  <a:srgbClr val="657384"/>
                </a:solidFill>
                <a:latin typeface="Aptos"/>
              </a:rPr>
              <a:t>Attendance</a:t>
            </a:r>
          </a:p>
        </p:txBody>
      </p:sp>
      <p:sp>
        <p:nvSpPr>
          <p:cNvPr id="23" name="Rectangle 22"/>
          <p:cNvSpPr/>
          <p:nvPr/>
        </p:nvSpPr>
        <p:spPr>
          <a:xfrm>
            <a:off x="2240280" y="4389119"/>
            <a:ext cx="2743200" cy="146304"/>
          </a:xfrm>
          <a:prstGeom prst="rect">
            <a:avLst/>
          </a:prstGeom>
          <a:solidFill>
            <a:srgbClr val="E69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00800" y="4370831"/>
            <a:ext cx="1234440" cy="201168"/>
          </a:xfrm>
          <a:prstGeom prst="rect">
            <a:avLst/>
          </a:prstGeom>
          <a:noFill/>
        </p:spPr>
        <p:txBody>
          <a:bodyPr wrap="square" lIns="54864" tIns="54864" rIns="54864" bIns="54864" anchor="t">
            <a:spAutoFit/>
          </a:bodyPr>
          <a:lstStyle/>
          <a:p>
            <a:pPr algn="l">
              <a:spcAft>
                <a:spcPts val="0"/>
              </a:spcAft>
            </a:pPr>
            <a:r>
              <a:rPr sz="1000" b="0">
                <a:solidFill>
                  <a:srgbClr val="657384"/>
                </a:solidFill>
                <a:latin typeface="Aptos"/>
              </a:rPr>
              <a:t>Attendance</a:t>
            </a:r>
          </a:p>
        </p:txBody>
      </p:sp>
      <p:sp>
        <p:nvSpPr>
          <p:cNvPr id="25" name="Rectangle 24"/>
          <p:cNvSpPr/>
          <p:nvPr/>
        </p:nvSpPr>
        <p:spPr>
          <a:xfrm>
            <a:off x="7726679" y="4389119"/>
            <a:ext cx="1280160" cy="146304"/>
          </a:xfrm>
          <a:prstGeom prst="rect">
            <a:avLst/>
          </a:prstGeom>
          <a:solidFill>
            <a:srgbClr val="E69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14400" y="4809744"/>
            <a:ext cx="1234440" cy="201168"/>
          </a:xfrm>
          <a:prstGeom prst="rect">
            <a:avLst/>
          </a:prstGeom>
          <a:noFill/>
        </p:spPr>
        <p:txBody>
          <a:bodyPr wrap="square" lIns="54864" tIns="54864" rIns="54864" bIns="54864" anchor="t">
            <a:spAutoFit/>
          </a:bodyPr>
          <a:lstStyle/>
          <a:p>
            <a:pPr algn="l">
              <a:spcAft>
                <a:spcPts val="0"/>
              </a:spcAft>
            </a:pPr>
            <a:r>
              <a:rPr sz="1000" b="0">
                <a:solidFill>
                  <a:srgbClr val="657384"/>
                </a:solidFill>
                <a:latin typeface="Aptos"/>
              </a:rPr>
              <a:t>Fraction</a:t>
            </a:r>
          </a:p>
        </p:txBody>
      </p:sp>
      <p:sp>
        <p:nvSpPr>
          <p:cNvPr id="27" name="Rectangle 26"/>
          <p:cNvSpPr/>
          <p:nvPr/>
        </p:nvSpPr>
        <p:spPr>
          <a:xfrm>
            <a:off x="2240280" y="4828031"/>
            <a:ext cx="411480" cy="146304"/>
          </a:xfrm>
          <a:prstGeom prst="rect">
            <a:avLst/>
          </a:prstGeom>
          <a:solidFill>
            <a:srgbClr val="1C9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400800" y="4809744"/>
            <a:ext cx="1234440" cy="201168"/>
          </a:xfrm>
          <a:prstGeom prst="rect">
            <a:avLst/>
          </a:prstGeom>
          <a:noFill/>
        </p:spPr>
        <p:txBody>
          <a:bodyPr wrap="square" lIns="54864" tIns="54864" rIns="54864" bIns="54864" anchor="t">
            <a:spAutoFit/>
          </a:bodyPr>
          <a:lstStyle/>
          <a:p>
            <a:pPr algn="l">
              <a:spcAft>
                <a:spcPts val="0"/>
              </a:spcAft>
            </a:pPr>
            <a:r>
              <a:rPr sz="1000" b="0">
                <a:solidFill>
                  <a:srgbClr val="657384"/>
                </a:solidFill>
                <a:latin typeface="Aptos"/>
              </a:rPr>
              <a:t>Fraction</a:t>
            </a:r>
          </a:p>
        </p:txBody>
      </p:sp>
      <p:sp>
        <p:nvSpPr>
          <p:cNvPr id="29" name="Rectangle 28"/>
          <p:cNvSpPr/>
          <p:nvPr/>
        </p:nvSpPr>
        <p:spPr>
          <a:xfrm>
            <a:off x="7726679" y="4828031"/>
            <a:ext cx="914400" cy="146304"/>
          </a:xfrm>
          <a:prstGeom prst="rect">
            <a:avLst/>
          </a:prstGeom>
          <a:solidFill>
            <a:srgbClr val="1C9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68680" y="5577840"/>
            <a:ext cx="10515600" cy="411480"/>
          </a:xfrm>
          <a:prstGeom prst="rect">
            <a:avLst/>
          </a:prstGeom>
          <a:noFill/>
        </p:spPr>
        <p:txBody>
          <a:bodyPr wrap="square" lIns="54864" tIns="54864" rIns="54864" bIns="54864" anchor="t">
            <a:spAutoFit/>
          </a:bodyPr>
          <a:lstStyle/>
          <a:p>
            <a:pPr algn="ctr">
              <a:spcAft>
                <a:spcPts val="0"/>
              </a:spcAft>
            </a:pPr>
            <a:r>
              <a:rPr sz="1200" b="1">
                <a:solidFill>
                  <a:srgbClr val="C34949"/>
                </a:solidFill>
                <a:latin typeface="Aptos"/>
              </a:rPr>
              <a:t>Fit the scaler on training data only; apply that same fitted transformation to validation and test data.</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256032"/>
            <a:ext cx="10972800" cy="502920"/>
          </a:xfrm>
          <a:prstGeom prst="rect">
            <a:avLst/>
          </a:prstGeom>
          <a:noFill/>
        </p:spPr>
        <p:txBody>
          <a:bodyPr wrap="square" lIns="54864" tIns="54864" rIns="54864" bIns="54864" anchor="t">
            <a:spAutoFit/>
          </a:bodyPr>
          <a:lstStyle/>
          <a:p>
            <a:pPr algn="l">
              <a:spcAft>
                <a:spcPts val="0"/>
              </a:spcAft>
            </a:pPr>
            <a:r>
              <a:rPr sz="2700" b="1">
                <a:solidFill>
                  <a:srgbClr val="132645"/>
                </a:solidFill>
                <a:latin typeface="Aptos"/>
              </a:rPr>
              <a:t>Early Stopping</a:t>
            </a:r>
          </a:p>
        </p:txBody>
      </p:sp>
      <p:sp>
        <p:nvSpPr>
          <p:cNvPr id="4" name="Rectangle 3"/>
          <p:cNvSpPr/>
          <p:nvPr/>
        </p:nvSpPr>
        <p:spPr>
          <a:xfrm>
            <a:off x="585216" y="832104"/>
            <a:ext cx="731520" cy="50292"/>
          </a:xfrm>
          <a:prstGeom prst="rect">
            <a:avLst/>
          </a:prstGeom>
          <a:solidFill>
            <a:srgbClr val="1C9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464040" y="292608"/>
            <a:ext cx="2103120" cy="274320"/>
          </a:xfrm>
          <a:prstGeom prst="rect">
            <a:avLst/>
          </a:prstGeom>
          <a:noFill/>
        </p:spPr>
        <p:txBody>
          <a:bodyPr wrap="square" lIns="54864" tIns="54864" rIns="54864" bIns="54864" anchor="t">
            <a:spAutoFit/>
          </a:bodyPr>
          <a:lstStyle/>
          <a:p>
            <a:pPr algn="r">
              <a:spcAft>
                <a:spcPts val="0"/>
              </a:spcAft>
            </a:pPr>
            <a:r>
              <a:rPr sz="900" b="1">
                <a:solidFill>
                  <a:srgbClr val="657384"/>
                </a:solidFill>
                <a:latin typeface="Aptos"/>
              </a:rPr>
              <a:t>MODEL TRAINING</a:t>
            </a:r>
          </a:p>
        </p:txBody>
      </p:sp>
      <p:sp>
        <p:nvSpPr>
          <p:cNvPr id="6" name="TextBox 5"/>
          <p:cNvSpPr txBox="1"/>
          <p:nvPr/>
        </p:nvSpPr>
        <p:spPr>
          <a:xfrm>
            <a:off x="594360" y="6510528"/>
            <a:ext cx="8961120" cy="164592"/>
          </a:xfrm>
          <a:prstGeom prst="rect">
            <a:avLst/>
          </a:prstGeom>
          <a:noFill/>
        </p:spPr>
        <p:txBody>
          <a:bodyPr wrap="square" lIns="54864" tIns="54864" rIns="54864" bIns="54864" anchor="t">
            <a:spAutoFit/>
          </a:bodyPr>
          <a:lstStyle/>
          <a:p>
            <a:pPr algn="l">
              <a:spcAft>
                <a:spcPts val="0"/>
              </a:spcAft>
            </a:pPr>
            <a:r>
              <a:rPr sz="800" b="0">
                <a:solidFill>
                  <a:srgbClr val="657384"/>
                </a:solidFill>
                <a:latin typeface="Aptos"/>
              </a:rPr>
              <a:t>UNDERSTANDING MACHINE LEARNING  •  TECHNICAL SEMINAR</a:t>
            </a:r>
          </a:p>
        </p:txBody>
      </p:sp>
      <p:sp>
        <p:nvSpPr>
          <p:cNvPr id="7" name="TextBox 6"/>
          <p:cNvSpPr txBox="1"/>
          <p:nvPr/>
        </p:nvSpPr>
        <p:spPr>
          <a:xfrm>
            <a:off x="11064240" y="6473952"/>
            <a:ext cx="502920" cy="201168"/>
          </a:xfrm>
          <a:prstGeom prst="rect">
            <a:avLst/>
          </a:prstGeom>
          <a:noFill/>
        </p:spPr>
        <p:txBody>
          <a:bodyPr wrap="square" lIns="54864" tIns="54864" rIns="54864" bIns="54864" anchor="t">
            <a:spAutoFit/>
          </a:bodyPr>
          <a:lstStyle/>
          <a:p>
            <a:pPr algn="r">
              <a:spcAft>
                <a:spcPts val="0"/>
              </a:spcAft>
            </a:pPr>
            <a:r>
              <a:rPr sz="900" b="1">
                <a:solidFill>
                  <a:srgbClr val="657384"/>
                </a:solidFill>
                <a:latin typeface="Aptos"/>
              </a:rPr>
              <a:t>19</a:t>
            </a:r>
          </a:p>
        </p:txBody>
      </p:sp>
      <p:sp>
        <p:nvSpPr>
          <p:cNvPr id="8" name="TextBox 7"/>
          <p:cNvSpPr txBox="1"/>
          <p:nvPr/>
        </p:nvSpPr>
        <p:spPr>
          <a:xfrm>
            <a:off x="777240" y="1143000"/>
            <a:ext cx="4572000" cy="411480"/>
          </a:xfrm>
          <a:prstGeom prst="rect">
            <a:avLst/>
          </a:prstGeom>
          <a:noFill/>
        </p:spPr>
        <p:txBody>
          <a:bodyPr wrap="square" lIns="54864" tIns="54864" rIns="54864" bIns="54864" anchor="t">
            <a:spAutoFit/>
          </a:bodyPr>
          <a:lstStyle/>
          <a:p>
            <a:pPr algn="l">
              <a:spcAft>
                <a:spcPts val="0"/>
              </a:spcAft>
            </a:pPr>
            <a:r>
              <a:rPr sz="1500" b="1">
                <a:solidFill>
                  <a:srgbClr val="132645"/>
                </a:solidFill>
                <a:latin typeface="Aptos"/>
              </a:rPr>
              <a:t>A practical checkpoint strategy for iterative training</a:t>
            </a:r>
          </a:p>
        </p:txBody>
      </p:sp>
      <p:sp>
        <p:nvSpPr>
          <p:cNvPr id="9" name="Oval 8"/>
          <p:cNvSpPr/>
          <p:nvPr/>
        </p:nvSpPr>
        <p:spPr>
          <a:xfrm>
            <a:off x="886968" y="1737360"/>
            <a:ext cx="329184" cy="329184"/>
          </a:xfrm>
          <a:prstGeom prst="ellipse">
            <a:avLst/>
          </a:prstGeom>
          <a:solidFill>
            <a:srgbClr val="1C9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60120" y="1801368"/>
            <a:ext cx="182880" cy="201168"/>
          </a:xfrm>
          <a:prstGeom prst="rect">
            <a:avLst/>
          </a:prstGeom>
          <a:noFill/>
        </p:spPr>
        <p:txBody>
          <a:bodyPr wrap="square" lIns="54864" tIns="54864" rIns="54864" bIns="54864" anchor="t">
            <a:spAutoFit/>
          </a:bodyPr>
          <a:lstStyle/>
          <a:p>
            <a:pPr algn="ctr">
              <a:spcAft>
                <a:spcPts val="0"/>
              </a:spcAft>
            </a:pPr>
            <a:r>
              <a:rPr sz="900" b="1">
                <a:solidFill>
                  <a:srgbClr val="FFFFFF"/>
                </a:solidFill>
                <a:latin typeface="Aptos"/>
              </a:rPr>
              <a:t>1</a:t>
            </a:r>
          </a:p>
        </p:txBody>
      </p:sp>
      <p:sp>
        <p:nvSpPr>
          <p:cNvPr id="11" name="TextBox 10"/>
          <p:cNvSpPr txBox="1"/>
          <p:nvPr/>
        </p:nvSpPr>
        <p:spPr>
          <a:xfrm>
            <a:off x="1417320" y="1737360"/>
            <a:ext cx="3840480" cy="365760"/>
          </a:xfrm>
          <a:prstGeom prst="rect">
            <a:avLst/>
          </a:prstGeom>
          <a:noFill/>
        </p:spPr>
        <p:txBody>
          <a:bodyPr wrap="square" lIns="54864" tIns="54864" rIns="54864" bIns="54864" anchor="t">
            <a:spAutoFit/>
          </a:bodyPr>
          <a:lstStyle/>
          <a:p>
            <a:pPr algn="l">
              <a:spcAft>
                <a:spcPts val="0"/>
              </a:spcAft>
            </a:pPr>
            <a:r>
              <a:rPr sz="1300" b="1">
                <a:solidFill>
                  <a:srgbClr val="273343"/>
                </a:solidFill>
                <a:latin typeface="Aptos"/>
              </a:rPr>
              <a:t>Train for an epoch</a:t>
            </a:r>
          </a:p>
        </p:txBody>
      </p:sp>
      <p:sp>
        <p:nvSpPr>
          <p:cNvPr id="12" name="Oval 11"/>
          <p:cNvSpPr/>
          <p:nvPr/>
        </p:nvSpPr>
        <p:spPr>
          <a:xfrm>
            <a:off x="886968" y="2487168"/>
            <a:ext cx="329184" cy="329184"/>
          </a:xfrm>
          <a:prstGeom prst="ellipse">
            <a:avLst/>
          </a:prstGeom>
          <a:solidFill>
            <a:srgbClr val="1C9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60120" y="2551175"/>
            <a:ext cx="182880" cy="201168"/>
          </a:xfrm>
          <a:prstGeom prst="rect">
            <a:avLst/>
          </a:prstGeom>
          <a:noFill/>
        </p:spPr>
        <p:txBody>
          <a:bodyPr wrap="square" lIns="54864" tIns="54864" rIns="54864" bIns="54864" anchor="t">
            <a:spAutoFit/>
          </a:bodyPr>
          <a:lstStyle/>
          <a:p>
            <a:pPr algn="ctr">
              <a:spcAft>
                <a:spcPts val="0"/>
              </a:spcAft>
            </a:pPr>
            <a:r>
              <a:rPr sz="900" b="1">
                <a:solidFill>
                  <a:srgbClr val="FFFFFF"/>
                </a:solidFill>
                <a:latin typeface="Aptos"/>
              </a:rPr>
              <a:t>2</a:t>
            </a:r>
          </a:p>
        </p:txBody>
      </p:sp>
      <p:sp>
        <p:nvSpPr>
          <p:cNvPr id="14" name="TextBox 13"/>
          <p:cNvSpPr txBox="1"/>
          <p:nvPr/>
        </p:nvSpPr>
        <p:spPr>
          <a:xfrm>
            <a:off x="1417320" y="2487168"/>
            <a:ext cx="3840480" cy="365760"/>
          </a:xfrm>
          <a:prstGeom prst="rect">
            <a:avLst/>
          </a:prstGeom>
          <a:noFill/>
        </p:spPr>
        <p:txBody>
          <a:bodyPr wrap="square" lIns="54864" tIns="54864" rIns="54864" bIns="54864" anchor="t">
            <a:spAutoFit/>
          </a:bodyPr>
          <a:lstStyle/>
          <a:p>
            <a:pPr algn="l">
              <a:spcAft>
                <a:spcPts val="0"/>
              </a:spcAft>
            </a:pPr>
            <a:r>
              <a:rPr sz="1300" b="1">
                <a:solidFill>
                  <a:srgbClr val="273343"/>
                </a:solidFill>
                <a:latin typeface="Aptos"/>
              </a:rPr>
              <a:t>Measure validation performance</a:t>
            </a:r>
          </a:p>
        </p:txBody>
      </p:sp>
      <p:sp>
        <p:nvSpPr>
          <p:cNvPr id="15" name="Oval 14"/>
          <p:cNvSpPr/>
          <p:nvPr/>
        </p:nvSpPr>
        <p:spPr>
          <a:xfrm>
            <a:off x="886968" y="3236976"/>
            <a:ext cx="329184" cy="329184"/>
          </a:xfrm>
          <a:prstGeom prst="ellipse">
            <a:avLst/>
          </a:prstGeom>
          <a:solidFill>
            <a:srgbClr val="1C9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60120" y="3300984"/>
            <a:ext cx="182880" cy="201168"/>
          </a:xfrm>
          <a:prstGeom prst="rect">
            <a:avLst/>
          </a:prstGeom>
          <a:noFill/>
        </p:spPr>
        <p:txBody>
          <a:bodyPr wrap="square" lIns="54864" tIns="54864" rIns="54864" bIns="54864" anchor="t">
            <a:spAutoFit/>
          </a:bodyPr>
          <a:lstStyle/>
          <a:p>
            <a:pPr algn="ctr">
              <a:spcAft>
                <a:spcPts val="0"/>
              </a:spcAft>
            </a:pPr>
            <a:r>
              <a:rPr sz="900" b="1">
                <a:solidFill>
                  <a:srgbClr val="FFFFFF"/>
                </a:solidFill>
                <a:latin typeface="Aptos"/>
              </a:rPr>
              <a:t>3</a:t>
            </a:r>
          </a:p>
        </p:txBody>
      </p:sp>
      <p:sp>
        <p:nvSpPr>
          <p:cNvPr id="17" name="TextBox 16"/>
          <p:cNvSpPr txBox="1"/>
          <p:nvPr/>
        </p:nvSpPr>
        <p:spPr>
          <a:xfrm>
            <a:off x="1417320" y="3236976"/>
            <a:ext cx="3840480" cy="365760"/>
          </a:xfrm>
          <a:prstGeom prst="rect">
            <a:avLst/>
          </a:prstGeom>
          <a:noFill/>
        </p:spPr>
        <p:txBody>
          <a:bodyPr wrap="square" lIns="54864" tIns="54864" rIns="54864" bIns="54864" anchor="t">
            <a:spAutoFit/>
          </a:bodyPr>
          <a:lstStyle/>
          <a:p>
            <a:pPr algn="l">
              <a:spcAft>
                <a:spcPts val="0"/>
              </a:spcAft>
            </a:pPr>
            <a:r>
              <a:rPr sz="1300" b="1">
                <a:solidFill>
                  <a:srgbClr val="273343"/>
                </a:solidFill>
                <a:latin typeface="Aptos"/>
              </a:rPr>
              <a:t>Save best checkpoint</a:t>
            </a:r>
          </a:p>
        </p:txBody>
      </p:sp>
      <p:sp>
        <p:nvSpPr>
          <p:cNvPr id="18" name="Oval 17"/>
          <p:cNvSpPr/>
          <p:nvPr/>
        </p:nvSpPr>
        <p:spPr>
          <a:xfrm>
            <a:off x="886968" y="3986783"/>
            <a:ext cx="329184" cy="329184"/>
          </a:xfrm>
          <a:prstGeom prst="ellipse">
            <a:avLst/>
          </a:prstGeom>
          <a:solidFill>
            <a:srgbClr val="E69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60120" y="4050791"/>
            <a:ext cx="182880" cy="201168"/>
          </a:xfrm>
          <a:prstGeom prst="rect">
            <a:avLst/>
          </a:prstGeom>
          <a:noFill/>
        </p:spPr>
        <p:txBody>
          <a:bodyPr wrap="square" lIns="54864" tIns="54864" rIns="54864" bIns="54864" anchor="t">
            <a:spAutoFit/>
          </a:bodyPr>
          <a:lstStyle/>
          <a:p>
            <a:pPr algn="ctr">
              <a:spcAft>
                <a:spcPts val="0"/>
              </a:spcAft>
            </a:pPr>
            <a:r>
              <a:rPr sz="900" b="1">
                <a:solidFill>
                  <a:srgbClr val="FFFFFF"/>
                </a:solidFill>
                <a:latin typeface="Aptos"/>
              </a:rPr>
              <a:t>4</a:t>
            </a:r>
          </a:p>
        </p:txBody>
      </p:sp>
      <p:sp>
        <p:nvSpPr>
          <p:cNvPr id="20" name="TextBox 19"/>
          <p:cNvSpPr txBox="1"/>
          <p:nvPr/>
        </p:nvSpPr>
        <p:spPr>
          <a:xfrm>
            <a:off x="1417320" y="3986783"/>
            <a:ext cx="3840480" cy="365760"/>
          </a:xfrm>
          <a:prstGeom prst="rect">
            <a:avLst/>
          </a:prstGeom>
          <a:noFill/>
        </p:spPr>
        <p:txBody>
          <a:bodyPr wrap="square" lIns="54864" tIns="54864" rIns="54864" bIns="54864" anchor="t">
            <a:spAutoFit/>
          </a:bodyPr>
          <a:lstStyle/>
          <a:p>
            <a:pPr algn="l">
              <a:spcAft>
                <a:spcPts val="0"/>
              </a:spcAft>
            </a:pPr>
            <a:r>
              <a:rPr sz="1300" b="1">
                <a:solidFill>
                  <a:srgbClr val="273343"/>
                </a:solidFill>
                <a:latin typeface="Aptos"/>
              </a:rPr>
              <a:t>Stop after patience expires</a:t>
            </a:r>
          </a:p>
        </p:txBody>
      </p:sp>
      <p:sp>
        <p:nvSpPr>
          <p:cNvPr id="21" name="Oval 20"/>
          <p:cNvSpPr/>
          <p:nvPr/>
        </p:nvSpPr>
        <p:spPr>
          <a:xfrm>
            <a:off x="886968" y="4736592"/>
            <a:ext cx="329184" cy="329184"/>
          </a:xfrm>
          <a:prstGeom prst="ellipse">
            <a:avLst/>
          </a:prstGeom>
          <a:solidFill>
            <a:srgbClr val="E69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60120" y="4800600"/>
            <a:ext cx="182880" cy="201168"/>
          </a:xfrm>
          <a:prstGeom prst="rect">
            <a:avLst/>
          </a:prstGeom>
          <a:noFill/>
        </p:spPr>
        <p:txBody>
          <a:bodyPr wrap="square" lIns="54864" tIns="54864" rIns="54864" bIns="54864" anchor="t">
            <a:spAutoFit/>
          </a:bodyPr>
          <a:lstStyle/>
          <a:p>
            <a:pPr algn="ctr">
              <a:spcAft>
                <a:spcPts val="0"/>
              </a:spcAft>
            </a:pPr>
            <a:r>
              <a:rPr sz="900" b="1">
                <a:solidFill>
                  <a:srgbClr val="FFFFFF"/>
                </a:solidFill>
                <a:latin typeface="Aptos"/>
              </a:rPr>
              <a:t>5</a:t>
            </a:r>
          </a:p>
        </p:txBody>
      </p:sp>
      <p:sp>
        <p:nvSpPr>
          <p:cNvPr id="23" name="TextBox 22"/>
          <p:cNvSpPr txBox="1"/>
          <p:nvPr/>
        </p:nvSpPr>
        <p:spPr>
          <a:xfrm>
            <a:off x="1417320" y="4736592"/>
            <a:ext cx="3840480" cy="365760"/>
          </a:xfrm>
          <a:prstGeom prst="rect">
            <a:avLst/>
          </a:prstGeom>
          <a:noFill/>
        </p:spPr>
        <p:txBody>
          <a:bodyPr wrap="square" lIns="54864" tIns="54864" rIns="54864" bIns="54864" anchor="t">
            <a:spAutoFit/>
          </a:bodyPr>
          <a:lstStyle/>
          <a:p>
            <a:pPr algn="l">
              <a:spcAft>
                <a:spcPts val="0"/>
              </a:spcAft>
            </a:pPr>
            <a:r>
              <a:rPr sz="1300" b="1">
                <a:solidFill>
                  <a:srgbClr val="273343"/>
                </a:solidFill>
                <a:latin typeface="Aptos"/>
              </a:rPr>
              <a:t>Restore best checkpoint</a:t>
            </a:r>
          </a:p>
        </p:txBody>
      </p:sp>
      <p:cxnSp>
        <p:nvCxnSpPr>
          <p:cNvPr id="24" name="Connector 23"/>
          <p:cNvCxnSpPr/>
          <p:nvPr/>
        </p:nvCxnSpPr>
        <p:spPr>
          <a:xfrm>
            <a:off x="6400800" y="5120640"/>
            <a:ext cx="4389120" cy="0"/>
          </a:xfrm>
          <a:prstGeom prst="line">
            <a:avLst/>
          </a:prstGeom>
          <a:ln w="17780">
            <a:solidFill>
              <a:srgbClr val="132645"/>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6400800" y="1645920"/>
            <a:ext cx="0" cy="3474720"/>
          </a:xfrm>
          <a:prstGeom prst="line">
            <a:avLst/>
          </a:prstGeom>
          <a:ln w="17780">
            <a:solidFill>
              <a:srgbClr val="132645"/>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7863840" y="5193792"/>
            <a:ext cx="1645920" cy="228600"/>
          </a:xfrm>
          <a:prstGeom prst="rect">
            <a:avLst/>
          </a:prstGeom>
          <a:noFill/>
        </p:spPr>
        <p:txBody>
          <a:bodyPr wrap="square" lIns="54864" tIns="54864" rIns="54864" bIns="54864" anchor="t">
            <a:spAutoFit/>
          </a:bodyPr>
          <a:lstStyle/>
          <a:p>
            <a:pPr algn="ctr">
              <a:spcAft>
                <a:spcPts val="0"/>
              </a:spcAft>
            </a:pPr>
            <a:r>
              <a:rPr sz="1000" b="0">
                <a:solidFill>
                  <a:srgbClr val="657384"/>
                </a:solidFill>
                <a:latin typeface="Aptos"/>
              </a:rPr>
              <a:t>Epochs</a:t>
            </a:r>
          </a:p>
        </p:txBody>
      </p:sp>
      <p:sp>
        <p:nvSpPr>
          <p:cNvPr id="27" name="TextBox 26"/>
          <p:cNvSpPr txBox="1"/>
          <p:nvPr/>
        </p:nvSpPr>
        <p:spPr>
          <a:xfrm>
            <a:off x="5897880" y="3017520"/>
            <a:ext cx="411480" cy="731520"/>
          </a:xfrm>
          <a:prstGeom prst="rect">
            <a:avLst/>
          </a:prstGeom>
          <a:noFill/>
        </p:spPr>
        <p:txBody>
          <a:bodyPr wrap="square" lIns="54864" tIns="54864" rIns="54864" bIns="54864" anchor="ctr">
            <a:spAutoFit/>
          </a:bodyPr>
          <a:lstStyle/>
          <a:p>
            <a:pPr algn="ctr">
              <a:spcAft>
                <a:spcPts val="0"/>
              </a:spcAft>
            </a:pPr>
            <a:r>
              <a:rPr sz="900" b="0">
                <a:solidFill>
                  <a:srgbClr val="657384"/>
                </a:solidFill>
                <a:latin typeface="Aptos"/>
              </a:rPr>
              <a:t>Error</a:t>
            </a:r>
          </a:p>
        </p:txBody>
      </p:sp>
      <p:cxnSp>
        <p:nvCxnSpPr>
          <p:cNvPr id="28" name="Connector 27"/>
          <p:cNvCxnSpPr/>
          <p:nvPr/>
        </p:nvCxnSpPr>
        <p:spPr>
          <a:xfrm>
            <a:off x="6400800" y="2340863"/>
            <a:ext cx="548640" cy="521209"/>
          </a:xfrm>
          <a:prstGeom prst="line">
            <a:avLst/>
          </a:prstGeom>
          <a:ln w="31750">
            <a:solidFill>
              <a:srgbClr val="2D69BE"/>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6949440" y="2862072"/>
            <a:ext cx="548639" cy="521207"/>
          </a:xfrm>
          <a:prstGeom prst="line">
            <a:avLst/>
          </a:prstGeom>
          <a:ln w="31750">
            <a:solidFill>
              <a:srgbClr val="2D69BE"/>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7498079" y="3383279"/>
            <a:ext cx="548641" cy="347473"/>
          </a:xfrm>
          <a:prstGeom prst="line">
            <a:avLst/>
          </a:prstGeom>
          <a:ln w="31750">
            <a:solidFill>
              <a:srgbClr val="2D69BE"/>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8046720" y="3730752"/>
            <a:ext cx="548640" cy="277977"/>
          </a:xfrm>
          <a:prstGeom prst="line">
            <a:avLst/>
          </a:prstGeom>
          <a:ln w="31750">
            <a:solidFill>
              <a:srgbClr val="2D69BE"/>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8595360" y="4008729"/>
            <a:ext cx="548640" cy="173736"/>
          </a:xfrm>
          <a:prstGeom prst="line">
            <a:avLst/>
          </a:prstGeom>
          <a:ln w="31750">
            <a:solidFill>
              <a:srgbClr val="2D69BE"/>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9144000" y="4182465"/>
            <a:ext cx="548640" cy="173736"/>
          </a:xfrm>
          <a:prstGeom prst="line">
            <a:avLst/>
          </a:prstGeom>
          <a:ln w="31750">
            <a:solidFill>
              <a:srgbClr val="2D69BE"/>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9692640" y="4356201"/>
            <a:ext cx="548640" cy="104242"/>
          </a:xfrm>
          <a:prstGeom prst="line">
            <a:avLst/>
          </a:prstGeom>
          <a:ln w="31750">
            <a:solidFill>
              <a:srgbClr val="2D69BE"/>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0241280" y="4460443"/>
            <a:ext cx="548640" cy="104241"/>
          </a:xfrm>
          <a:prstGeom prst="line">
            <a:avLst/>
          </a:prstGeom>
          <a:ln w="31750">
            <a:solidFill>
              <a:srgbClr val="2D69BE"/>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6400800" y="2167127"/>
            <a:ext cx="548640" cy="590703"/>
          </a:xfrm>
          <a:prstGeom prst="line">
            <a:avLst/>
          </a:prstGeom>
          <a:ln w="31750">
            <a:solidFill>
              <a:srgbClr val="C34949"/>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6949440" y="2757830"/>
            <a:ext cx="548639" cy="521208"/>
          </a:xfrm>
          <a:prstGeom prst="line">
            <a:avLst/>
          </a:prstGeom>
          <a:ln w="31750">
            <a:solidFill>
              <a:srgbClr val="C34949"/>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7498079" y="3279038"/>
            <a:ext cx="548641" cy="382219"/>
          </a:xfrm>
          <a:prstGeom prst="line">
            <a:avLst/>
          </a:prstGeom>
          <a:ln w="31750">
            <a:solidFill>
              <a:srgbClr val="C34949"/>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8046720" y="3661257"/>
            <a:ext cx="548640" cy="173736"/>
          </a:xfrm>
          <a:prstGeom prst="line">
            <a:avLst/>
          </a:prstGeom>
          <a:ln w="31750">
            <a:solidFill>
              <a:srgbClr val="C34949"/>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8595360" y="3834993"/>
            <a:ext cx="548640" cy="69494"/>
          </a:xfrm>
          <a:prstGeom prst="line">
            <a:avLst/>
          </a:prstGeom>
          <a:ln w="31750">
            <a:solidFill>
              <a:srgbClr val="C34949"/>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9144000" y="3834993"/>
            <a:ext cx="548640" cy="69494"/>
          </a:xfrm>
          <a:prstGeom prst="line">
            <a:avLst/>
          </a:prstGeom>
          <a:ln w="31750">
            <a:solidFill>
              <a:srgbClr val="C34949"/>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9692640" y="3626510"/>
            <a:ext cx="548640" cy="208483"/>
          </a:xfrm>
          <a:prstGeom prst="line">
            <a:avLst/>
          </a:prstGeom>
          <a:ln w="31750">
            <a:solidFill>
              <a:srgbClr val="C34949"/>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10241280" y="3383279"/>
            <a:ext cx="548640" cy="243231"/>
          </a:xfrm>
          <a:prstGeom prst="line">
            <a:avLst/>
          </a:prstGeom>
          <a:ln w="31750">
            <a:solidFill>
              <a:srgbClr val="C34949"/>
            </a:solidFill>
          </a:ln>
        </p:spPr>
        <p:style>
          <a:lnRef idx="2">
            <a:schemeClr val="accent1"/>
          </a:lnRef>
          <a:fillRef idx="0">
            <a:schemeClr val="accent1"/>
          </a:fillRef>
          <a:effectRef idx="1">
            <a:schemeClr val="accent1"/>
          </a:effectRef>
          <a:fontRef idx="minor">
            <a:schemeClr val="tx1"/>
          </a:fontRef>
        </p:style>
      </p:cxnSp>
      <p:sp>
        <p:nvSpPr>
          <p:cNvPr id="44" name="Oval 43"/>
          <p:cNvSpPr/>
          <p:nvPr/>
        </p:nvSpPr>
        <p:spPr>
          <a:xfrm>
            <a:off x="9061704" y="3822191"/>
            <a:ext cx="164592" cy="164592"/>
          </a:xfrm>
          <a:prstGeom prst="ellipse">
            <a:avLst/>
          </a:prstGeom>
          <a:solidFill>
            <a:srgbClr val="1C9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6537960" y="5349240"/>
            <a:ext cx="4114800" cy="320040"/>
          </a:xfrm>
          <a:prstGeom prst="rect">
            <a:avLst/>
          </a:prstGeom>
          <a:noFill/>
        </p:spPr>
        <p:txBody>
          <a:bodyPr wrap="square" lIns="54864" tIns="54864" rIns="54864" bIns="54864" anchor="t">
            <a:spAutoFit/>
          </a:bodyPr>
          <a:lstStyle/>
          <a:p>
            <a:pPr algn="ctr">
              <a:spcAft>
                <a:spcPts val="0"/>
              </a:spcAft>
            </a:pPr>
            <a:r>
              <a:rPr sz="1100" b="1">
                <a:solidFill>
                  <a:srgbClr val="1C968C"/>
                </a:solidFill>
                <a:latin typeface="Aptos"/>
              </a:rPr>
              <a:t>Best validation checkpoint</a:t>
            </a:r>
          </a:p>
        </p:txBody>
      </p:sp>
      <p:sp>
        <p:nvSpPr>
          <p:cNvPr id="46" name="TextBox 45"/>
          <p:cNvSpPr txBox="1"/>
          <p:nvPr/>
        </p:nvSpPr>
        <p:spPr>
          <a:xfrm>
            <a:off x="822960" y="5897880"/>
            <a:ext cx="10515600" cy="256032"/>
          </a:xfrm>
          <a:prstGeom prst="rect">
            <a:avLst/>
          </a:prstGeom>
          <a:noFill/>
        </p:spPr>
        <p:txBody>
          <a:bodyPr wrap="square" lIns="54864" tIns="54864" rIns="54864" bIns="54864" anchor="t">
            <a:spAutoFit/>
          </a:bodyPr>
          <a:lstStyle/>
          <a:p>
            <a:pPr algn="l">
              <a:spcAft>
                <a:spcPts val="0"/>
              </a:spcAft>
            </a:pPr>
            <a:r>
              <a:rPr sz="1000" b="0">
                <a:solidFill>
                  <a:srgbClr val="657384"/>
                </a:solidFill>
                <a:latin typeface="Aptos"/>
              </a:rPr>
              <a:t>Common in neural networks and iterative optimization; not a usual control for closed-form least squares.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256032"/>
            <a:ext cx="10972800" cy="502920"/>
          </a:xfrm>
          <a:prstGeom prst="rect">
            <a:avLst/>
          </a:prstGeom>
          <a:noFill/>
        </p:spPr>
        <p:txBody>
          <a:bodyPr wrap="square" lIns="54864" tIns="54864" rIns="54864" bIns="54864" anchor="t">
            <a:spAutoFit/>
          </a:bodyPr>
          <a:lstStyle/>
          <a:p>
            <a:pPr algn="l">
              <a:spcAft>
                <a:spcPts val="0"/>
              </a:spcAft>
            </a:pPr>
            <a:r>
              <a:rPr sz="2700" b="1">
                <a:solidFill>
                  <a:srgbClr val="132645"/>
                </a:solidFill>
                <a:latin typeface="Aptos"/>
              </a:rPr>
              <a:t>What Is Generalization?</a:t>
            </a:r>
          </a:p>
        </p:txBody>
      </p:sp>
      <p:sp>
        <p:nvSpPr>
          <p:cNvPr id="4" name="Rectangle 3"/>
          <p:cNvSpPr/>
          <p:nvPr/>
        </p:nvSpPr>
        <p:spPr>
          <a:xfrm>
            <a:off x="585216" y="832104"/>
            <a:ext cx="731520" cy="50292"/>
          </a:xfrm>
          <a:prstGeom prst="rect">
            <a:avLst/>
          </a:prstGeom>
          <a:solidFill>
            <a:srgbClr val="1C9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464040" y="292608"/>
            <a:ext cx="2103120" cy="274320"/>
          </a:xfrm>
          <a:prstGeom prst="rect">
            <a:avLst/>
          </a:prstGeom>
          <a:noFill/>
        </p:spPr>
        <p:txBody>
          <a:bodyPr wrap="square" lIns="54864" tIns="54864" rIns="54864" bIns="54864" anchor="t">
            <a:spAutoFit/>
          </a:bodyPr>
          <a:lstStyle/>
          <a:p>
            <a:pPr algn="r">
              <a:spcAft>
                <a:spcPts val="0"/>
              </a:spcAft>
            </a:pPr>
            <a:r>
              <a:rPr sz="900" b="1">
                <a:solidFill>
                  <a:srgbClr val="657384"/>
                </a:solidFill>
                <a:latin typeface="Aptos"/>
              </a:rPr>
              <a:t>EVALUATION</a:t>
            </a:r>
          </a:p>
        </p:txBody>
      </p:sp>
      <p:sp>
        <p:nvSpPr>
          <p:cNvPr id="6" name="TextBox 5"/>
          <p:cNvSpPr txBox="1"/>
          <p:nvPr/>
        </p:nvSpPr>
        <p:spPr>
          <a:xfrm>
            <a:off x="594360" y="6510528"/>
            <a:ext cx="8961120" cy="164592"/>
          </a:xfrm>
          <a:prstGeom prst="rect">
            <a:avLst/>
          </a:prstGeom>
          <a:noFill/>
        </p:spPr>
        <p:txBody>
          <a:bodyPr wrap="square" lIns="54864" tIns="54864" rIns="54864" bIns="54864" anchor="t">
            <a:spAutoFit/>
          </a:bodyPr>
          <a:lstStyle/>
          <a:p>
            <a:pPr algn="l">
              <a:spcAft>
                <a:spcPts val="0"/>
              </a:spcAft>
            </a:pPr>
            <a:r>
              <a:rPr sz="800" b="0">
                <a:solidFill>
                  <a:srgbClr val="657384"/>
                </a:solidFill>
                <a:latin typeface="Aptos"/>
              </a:rPr>
              <a:t>UNDERSTANDING MACHINE LEARNING  •  TECHNICAL SEMINAR</a:t>
            </a:r>
          </a:p>
        </p:txBody>
      </p:sp>
      <p:sp>
        <p:nvSpPr>
          <p:cNvPr id="7" name="TextBox 6"/>
          <p:cNvSpPr txBox="1"/>
          <p:nvPr/>
        </p:nvSpPr>
        <p:spPr>
          <a:xfrm>
            <a:off x="11064240" y="6473952"/>
            <a:ext cx="502920" cy="201168"/>
          </a:xfrm>
          <a:prstGeom prst="rect">
            <a:avLst/>
          </a:prstGeom>
          <a:noFill/>
        </p:spPr>
        <p:txBody>
          <a:bodyPr wrap="square" lIns="54864" tIns="54864" rIns="54864" bIns="54864" anchor="t">
            <a:spAutoFit/>
          </a:bodyPr>
          <a:lstStyle/>
          <a:p>
            <a:pPr algn="r">
              <a:spcAft>
                <a:spcPts val="0"/>
              </a:spcAft>
            </a:pPr>
            <a:r>
              <a:rPr sz="900" b="1">
                <a:solidFill>
                  <a:srgbClr val="657384"/>
                </a:solidFill>
                <a:latin typeface="Aptos"/>
              </a:rPr>
              <a:t>20</a:t>
            </a:r>
          </a:p>
        </p:txBody>
      </p:sp>
      <p:sp>
        <p:nvSpPr>
          <p:cNvPr id="8" name="TextBox 7"/>
          <p:cNvSpPr txBox="1"/>
          <p:nvPr/>
        </p:nvSpPr>
        <p:spPr>
          <a:xfrm>
            <a:off x="822960" y="1143000"/>
            <a:ext cx="10515600" cy="411480"/>
          </a:xfrm>
          <a:prstGeom prst="rect">
            <a:avLst/>
          </a:prstGeom>
          <a:noFill/>
        </p:spPr>
        <p:txBody>
          <a:bodyPr wrap="square" lIns="54864" tIns="54864" rIns="54864" bIns="54864" anchor="t">
            <a:spAutoFit/>
          </a:bodyPr>
          <a:lstStyle/>
          <a:p>
            <a:pPr algn="ctr">
              <a:spcAft>
                <a:spcPts val="0"/>
              </a:spcAft>
            </a:pPr>
            <a:r>
              <a:rPr sz="2000" b="1">
                <a:solidFill>
                  <a:srgbClr val="132645"/>
                </a:solidFill>
                <a:latin typeface="Aptos"/>
              </a:rPr>
              <a:t>Generalization = performing well on new, unseen data</a:t>
            </a:r>
          </a:p>
        </p:txBody>
      </p:sp>
      <p:sp>
        <p:nvSpPr>
          <p:cNvPr id="9" name="Rounded Rectangle 8"/>
          <p:cNvSpPr/>
          <p:nvPr/>
        </p:nvSpPr>
        <p:spPr>
          <a:xfrm>
            <a:off x="822960" y="1920240"/>
            <a:ext cx="3246120" cy="1371600"/>
          </a:xfrm>
          <a:prstGeom prst="roundRect">
            <a:avLst/>
          </a:prstGeom>
          <a:solidFill>
            <a:srgbClr val="E6EFFB"/>
          </a:solidFill>
          <a:ln w="12700">
            <a:solidFill>
              <a:srgbClr val="DEE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822960" y="1920240"/>
            <a:ext cx="73152" cy="1371600"/>
          </a:xfrm>
          <a:prstGeom prst="rect">
            <a:avLst/>
          </a:prstGeom>
          <a:solidFill>
            <a:srgbClr val="2D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24128" y="2066544"/>
            <a:ext cx="2898648" cy="310896"/>
          </a:xfrm>
          <a:prstGeom prst="rect">
            <a:avLst/>
          </a:prstGeom>
          <a:noFill/>
        </p:spPr>
        <p:txBody>
          <a:bodyPr wrap="square" lIns="54864" tIns="54864" rIns="54864" bIns="54864" anchor="t">
            <a:spAutoFit/>
          </a:bodyPr>
          <a:lstStyle/>
          <a:p>
            <a:pPr algn="l">
              <a:spcAft>
                <a:spcPts val="0"/>
              </a:spcAft>
            </a:pPr>
            <a:r>
              <a:rPr sz="1500" b="1">
                <a:solidFill>
                  <a:srgbClr val="132645"/>
                </a:solidFill>
                <a:latin typeface="Aptos"/>
              </a:rPr>
              <a:t>Training performance</a:t>
            </a:r>
          </a:p>
        </p:txBody>
      </p:sp>
      <p:sp>
        <p:nvSpPr>
          <p:cNvPr id="12" name="TextBox 11"/>
          <p:cNvSpPr txBox="1"/>
          <p:nvPr/>
        </p:nvSpPr>
        <p:spPr>
          <a:xfrm>
            <a:off x="1024128" y="2450592"/>
            <a:ext cx="2898648" cy="749808"/>
          </a:xfrm>
          <a:prstGeom prst="rect">
            <a:avLst/>
          </a:prstGeom>
          <a:noFill/>
        </p:spPr>
        <p:txBody>
          <a:bodyPr wrap="square" lIns="54864" tIns="54864" rIns="54864" bIns="54864" anchor="t">
            <a:spAutoFit/>
          </a:bodyPr>
          <a:lstStyle/>
          <a:p>
            <a:pPr algn="l">
              <a:spcAft>
                <a:spcPts val="0"/>
              </a:spcAft>
            </a:pPr>
            <a:r>
              <a:rPr sz="1300" b="0">
                <a:solidFill>
                  <a:srgbClr val="273343"/>
                </a:solidFill>
                <a:latin typeface="Aptos"/>
              </a:rPr>
              <a:t>How well the model fits data used to learn parameters.</a:t>
            </a:r>
          </a:p>
        </p:txBody>
      </p:sp>
      <p:sp>
        <p:nvSpPr>
          <p:cNvPr id="13" name="Rounded Rectangle 12"/>
          <p:cNvSpPr/>
          <p:nvPr/>
        </p:nvSpPr>
        <p:spPr>
          <a:xfrm>
            <a:off x="4480560" y="1920240"/>
            <a:ext cx="3246120" cy="1371600"/>
          </a:xfrm>
          <a:prstGeom prst="roundRect">
            <a:avLst/>
          </a:prstGeom>
          <a:solidFill>
            <a:srgbClr val="FCF1E1"/>
          </a:solidFill>
          <a:ln w="12700">
            <a:solidFill>
              <a:srgbClr val="DEE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480560" y="1920240"/>
            <a:ext cx="73152" cy="1371600"/>
          </a:xfrm>
          <a:prstGeom prst="rect">
            <a:avLst/>
          </a:prstGeom>
          <a:solidFill>
            <a:srgbClr val="E69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681728" y="2066544"/>
            <a:ext cx="2898648" cy="310896"/>
          </a:xfrm>
          <a:prstGeom prst="rect">
            <a:avLst/>
          </a:prstGeom>
          <a:noFill/>
        </p:spPr>
        <p:txBody>
          <a:bodyPr wrap="square" lIns="54864" tIns="54864" rIns="54864" bIns="54864" anchor="t">
            <a:spAutoFit/>
          </a:bodyPr>
          <a:lstStyle/>
          <a:p>
            <a:pPr algn="l">
              <a:spcAft>
                <a:spcPts val="0"/>
              </a:spcAft>
            </a:pPr>
            <a:r>
              <a:rPr sz="1500" b="1">
                <a:solidFill>
                  <a:srgbClr val="132645"/>
                </a:solidFill>
                <a:latin typeface="Aptos"/>
              </a:rPr>
              <a:t>Validation performance</a:t>
            </a:r>
          </a:p>
        </p:txBody>
      </p:sp>
      <p:sp>
        <p:nvSpPr>
          <p:cNvPr id="16" name="TextBox 15"/>
          <p:cNvSpPr txBox="1"/>
          <p:nvPr/>
        </p:nvSpPr>
        <p:spPr>
          <a:xfrm>
            <a:off x="4681728" y="2450592"/>
            <a:ext cx="2898648" cy="749808"/>
          </a:xfrm>
          <a:prstGeom prst="rect">
            <a:avLst/>
          </a:prstGeom>
          <a:noFill/>
        </p:spPr>
        <p:txBody>
          <a:bodyPr wrap="square" lIns="54864" tIns="54864" rIns="54864" bIns="54864" anchor="t">
            <a:spAutoFit/>
          </a:bodyPr>
          <a:lstStyle/>
          <a:p>
            <a:pPr algn="l">
              <a:spcAft>
                <a:spcPts val="0"/>
              </a:spcAft>
            </a:pPr>
            <a:r>
              <a:rPr sz="1200" b="0">
                <a:solidFill>
                  <a:srgbClr val="273343"/>
                </a:solidFill>
                <a:latin typeface="Aptos"/>
              </a:rPr>
              <a:t>How candidate models perform on held-out data used for selection.</a:t>
            </a:r>
          </a:p>
        </p:txBody>
      </p:sp>
      <p:sp>
        <p:nvSpPr>
          <p:cNvPr id="17" name="Rounded Rectangle 16"/>
          <p:cNvSpPr/>
          <p:nvPr/>
        </p:nvSpPr>
        <p:spPr>
          <a:xfrm>
            <a:off x="8138160" y="1920240"/>
            <a:ext cx="3246120" cy="1371600"/>
          </a:xfrm>
          <a:prstGeom prst="roundRect">
            <a:avLst/>
          </a:prstGeom>
          <a:solidFill>
            <a:srgbClr val="E2F5F1"/>
          </a:solidFill>
          <a:ln w="12700">
            <a:solidFill>
              <a:srgbClr val="DEE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138160" y="1920240"/>
            <a:ext cx="73152" cy="1371600"/>
          </a:xfrm>
          <a:prstGeom prst="rect">
            <a:avLst/>
          </a:prstGeom>
          <a:solidFill>
            <a:srgbClr val="1C9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339328" y="2066544"/>
            <a:ext cx="2898648" cy="310896"/>
          </a:xfrm>
          <a:prstGeom prst="rect">
            <a:avLst/>
          </a:prstGeom>
          <a:noFill/>
        </p:spPr>
        <p:txBody>
          <a:bodyPr wrap="square" lIns="54864" tIns="54864" rIns="54864" bIns="54864" anchor="t">
            <a:spAutoFit/>
          </a:bodyPr>
          <a:lstStyle/>
          <a:p>
            <a:pPr algn="l">
              <a:spcAft>
                <a:spcPts val="0"/>
              </a:spcAft>
            </a:pPr>
            <a:r>
              <a:rPr sz="1500" b="1">
                <a:solidFill>
                  <a:srgbClr val="132645"/>
                </a:solidFill>
                <a:latin typeface="Aptos"/>
              </a:rPr>
              <a:t>Test performance</a:t>
            </a:r>
          </a:p>
        </p:txBody>
      </p:sp>
      <p:sp>
        <p:nvSpPr>
          <p:cNvPr id="20" name="TextBox 19"/>
          <p:cNvSpPr txBox="1"/>
          <p:nvPr/>
        </p:nvSpPr>
        <p:spPr>
          <a:xfrm>
            <a:off x="8339328" y="2450592"/>
            <a:ext cx="2898648" cy="749808"/>
          </a:xfrm>
          <a:prstGeom prst="rect">
            <a:avLst/>
          </a:prstGeom>
          <a:noFill/>
        </p:spPr>
        <p:txBody>
          <a:bodyPr wrap="square" lIns="54864" tIns="54864" rIns="54864" bIns="54864" anchor="t">
            <a:spAutoFit/>
          </a:bodyPr>
          <a:lstStyle/>
          <a:p>
            <a:pPr algn="l">
              <a:spcAft>
                <a:spcPts val="0"/>
              </a:spcAft>
            </a:pPr>
            <a:r>
              <a:rPr sz="1300" b="0">
                <a:solidFill>
                  <a:srgbClr val="273343"/>
                </a:solidFill>
                <a:latin typeface="Aptos"/>
              </a:rPr>
              <a:t>Final estimate on data kept untouched during selection.</a:t>
            </a:r>
          </a:p>
        </p:txBody>
      </p:sp>
      <p:cxnSp>
        <p:nvCxnSpPr>
          <p:cNvPr id="21" name="Connector 20"/>
          <p:cNvCxnSpPr/>
          <p:nvPr/>
        </p:nvCxnSpPr>
        <p:spPr>
          <a:xfrm>
            <a:off x="1828800" y="5440680"/>
            <a:ext cx="4572000" cy="0"/>
          </a:xfrm>
          <a:prstGeom prst="line">
            <a:avLst/>
          </a:prstGeom>
          <a:ln w="17780">
            <a:solidFill>
              <a:srgbClr val="132645"/>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1828800" y="3886200"/>
            <a:ext cx="0" cy="1554480"/>
          </a:xfrm>
          <a:prstGeom prst="line">
            <a:avLst/>
          </a:prstGeom>
          <a:ln w="17780">
            <a:solidFill>
              <a:srgbClr val="132645"/>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3383280" y="5513832"/>
            <a:ext cx="1645920" cy="228600"/>
          </a:xfrm>
          <a:prstGeom prst="rect">
            <a:avLst/>
          </a:prstGeom>
          <a:noFill/>
        </p:spPr>
        <p:txBody>
          <a:bodyPr wrap="square" lIns="54864" tIns="54864" rIns="54864" bIns="54864" anchor="t">
            <a:spAutoFit/>
          </a:bodyPr>
          <a:lstStyle/>
          <a:p>
            <a:pPr algn="ctr">
              <a:spcAft>
                <a:spcPts val="0"/>
              </a:spcAft>
            </a:pPr>
            <a:r>
              <a:rPr sz="1000" b="0">
                <a:solidFill>
                  <a:srgbClr val="657384"/>
                </a:solidFill>
                <a:latin typeface="Aptos"/>
              </a:rPr>
              <a:t>Feature</a:t>
            </a:r>
          </a:p>
        </p:txBody>
      </p:sp>
      <p:sp>
        <p:nvSpPr>
          <p:cNvPr id="24" name="TextBox 23"/>
          <p:cNvSpPr txBox="1"/>
          <p:nvPr/>
        </p:nvSpPr>
        <p:spPr>
          <a:xfrm>
            <a:off x="1325880" y="4297679"/>
            <a:ext cx="411480" cy="731520"/>
          </a:xfrm>
          <a:prstGeom prst="rect">
            <a:avLst/>
          </a:prstGeom>
          <a:noFill/>
        </p:spPr>
        <p:txBody>
          <a:bodyPr wrap="square" lIns="54864" tIns="54864" rIns="54864" bIns="54864" anchor="ctr">
            <a:spAutoFit/>
          </a:bodyPr>
          <a:lstStyle/>
          <a:p>
            <a:pPr algn="ctr">
              <a:spcAft>
                <a:spcPts val="0"/>
              </a:spcAft>
            </a:pPr>
            <a:r>
              <a:rPr sz="900" b="0">
                <a:solidFill>
                  <a:srgbClr val="657384"/>
                </a:solidFill>
                <a:latin typeface="Aptos"/>
              </a:rPr>
              <a:t>Score</a:t>
            </a:r>
          </a:p>
        </p:txBody>
      </p:sp>
      <p:sp>
        <p:nvSpPr>
          <p:cNvPr id="25" name="Oval 24"/>
          <p:cNvSpPr/>
          <p:nvPr/>
        </p:nvSpPr>
        <p:spPr>
          <a:xfrm>
            <a:off x="2048255" y="5157216"/>
            <a:ext cx="109728" cy="109728"/>
          </a:xfrm>
          <a:prstGeom prst="ellipse">
            <a:avLst/>
          </a:prstGeom>
          <a:solidFill>
            <a:srgbClr val="2D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2505456" y="4882896"/>
            <a:ext cx="109728" cy="109728"/>
          </a:xfrm>
          <a:prstGeom prst="ellipse">
            <a:avLst/>
          </a:prstGeom>
          <a:solidFill>
            <a:srgbClr val="2D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3054096" y="4837176"/>
            <a:ext cx="109728" cy="109728"/>
          </a:xfrm>
          <a:prstGeom prst="ellipse">
            <a:avLst/>
          </a:prstGeom>
          <a:solidFill>
            <a:srgbClr val="2D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3602736" y="4562856"/>
            <a:ext cx="109728" cy="109728"/>
          </a:xfrm>
          <a:prstGeom prst="ellipse">
            <a:avLst/>
          </a:prstGeom>
          <a:solidFill>
            <a:srgbClr val="2D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4242816" y="4471416"/>
            <a:ext cx="109728" cy="109728"/>
          </a:xfrm>
          <a:prstGeom prst="ellipse">
            <a:avLst/>
          </a:prstGeom>
          <a:solidFill>
            <a:srgbClr val="2D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4974336" y="4288536"/>
            <a:ext cx="109728" cy="109728"/>
          </a:xfrm>
          <a:prstGeom prst="ellipse">
            <a:avLst/>
          </a:prstGeom>
          <a:solidFill>
            <a:srgbClr val="2D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5614416" y="4151376"/>
            <a:ext cx="109728" cy="109728"/>
          </a:xfrm>
          <a:prstGeom prst="ellipse">
            <a:avLst/>
          </a:prstGeom>
          <a:solidFill>
            <a:srgbClr val="2D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2" name="Connector 31"/>
          <p:cNvCxnSpPr/>
          <p:nvPr/>
        </p:nvCxnSpPr>
        <p:spPr>
          <a:xfrm flipV="1">
            <a:off x="1828800" y="5088636"/>
            <a:ext cx="457200" cy="123444"/>
          </a:xfrm>
          <a:prstGeom prst="line">
            <a:avLst/>
          </a:prstGeom>
          <a:ln w="29209">
            <a:solidFill>
              <a:srgbClr val="1C968C"/>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2286000" y="4965192"/>
            <a:ext cx="457200" cy="123444"/>
          </a:xfrm>
          <a:prstGeom prst="line">
            <a:avLst/>
          </a:prstGeom>
          <a:ln w="29209">
            <a:solidFill>
              <a:srgbClr val="1C968C"/>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2743200" y="4841748"/>
            <a:ext cx="457200" cy="123444"/>
          </a:xfrm>
          <a:prstGeom prst="line">
            <a:avLst/>
          </a:prstGeom>
          <a:ln w="29209">
            <a:solidFill>
              <a:srgbClr val="1C968C"/>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3200400" y="4718304"/>
            <a:ext cx="457200" cy="123444"/>
          </a:xfrm>
          <a:prstGeom prst="line">
            <a:avLst/>
          </a:prstGeom>
          <a:ln w="29209">
            <a:solidFill>
              <a:srgbClr val="1C968C"/>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3657600" y="4594860"/>
            <a:ext cx="457200" cy="123444"/>
          </a:xfrm>
          <a:prstGeom prst="line">
            <a:avLst/>
          </a:prstGeom>
          <a:ln w="29209">
            <a:solidFill>
              <a:srgbClr val="1C968C"/>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4114800" y="4471416"/>
            <a:ext cx="457200" cy="123444"/>
          </a:xfrm>
          <a:prstGeom prst="line">
            <a:avLst/>
          </a:prstGeom>
          <a:ln w="29209">
            <a:solidFill>
              <a:srgbClr val="1C968C"/>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4572000" y="4347972"/>
            <a:ext cx="457200" cy="123444"/>
          </a:xfrm>
          <a:prstGeom prst="line">
            <a:avLst/>
          </a:prstGeom>
          <a:ln w="29209">
            <a:solidFill>
              <a:srgbClr val="1C968C"/>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5029200" y="4224528"/>
            <a:ext cx="457200" cy="123444"/>
          </a:xfrm>
          <a:prstGeom prst="line">
            <a:avLst/>
          </a:prstGeom>
          <a:ln w="29209">
            <a:solidFill>
              <a:srgbClr val="1C968C"/>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5486400" y="4101084"/>
            <a:ext cx="457200" cy="123444"/>
          </a:xfrm>
          <a:prstGeom prst="line">
            <a:avLst/>
          </a:prstGeom>
          <a:ln w="29209">
            <a:solidFill>
              <a:srgbClr val="1C968C"/>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7086600" y="3977639"/>
            <a:ext cx="4023360" cy="1097280"/>
          </a:xfrm>
          <a:prstGeom prst="rect">
            <a:avLst/>
          </a:prstGeom>
          <a:noFill/>
        </p:spPr>
        <p:txBody>
          <a:bodyPr wrap="square" lIns="54864" tIns="54864" rIns="54864" bIns="54864" anchor="t">
            <a:spAutoFit/>
          </a:bodyPr>
          <a:lstStyle/>
          <a:p>
            <a:pPr algn="l">
              <a:spcAft>
                <a:spcPts val="0"/>
              </a:spcAft>
            </a:pPr>
            <a:r>
              <a:rPr sz="1500" b="1">
                <a:solidFill>
                  <a:srgbClr val="1C968C"/>
                </a:solidFill>
                <a:latin typeface="Aptos"/>
              </a:rPr>
              <a:t>A low training error is not enough. The model must also perform well on held-out examples.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256032"/>
            <a:ext cx="10972800" cy="502920"/>
          </a:xfrm>
          <a:prstGeom prst="rect">
            <a:avLst/>
          </a:prstGeom>
          <a:noFill/>
        </p:spPr>
        <p:txBody>
          <a:bodyPr wrap="square" lIns="54864" tIns="54864" rIns="54864" bIns="54864" anchor="t">
            <a:spAutoFit/>
          </a:bodyPr>
          <a:lstStyle/>
          <a:p>
            <a:pPr algn="l">
              <a:spcAft>
                <a:spcPts val="0"/>
              </a:spcAft>
            </a:pPr>
            <a:r>
              <a:rPr sz="2700" b="1">
                <a:solidFill>
                  <a:srgbClr val="132645"/>
                </a:solidFill>
                <a:latin typeface="Aptos"/>
              </a:rPr>
              <a:t>What Is Data Leakage?</a:t>
            </a:r>
          </a:p>
        </p:txBody>
      </p:sp>
      <p:sp>
        <p:nvSpPr>
          <p:cNvPr id="4" name="Rectangle 3"/>
          <p:cNvSpPr/>
          <p:nvPr/>
        </p:nvSpPr>
        <p:spPr>
          <a:xfrm>
            <a:off x="585216" y="832104"/>
            <a:ext cx="731520" cy="50292"/>
          </a:xfrm>
          <a:prstGeom prst="rect">
            <a:avLst/>
          </a:prstGeom>
          <a:solidFill>
            <a:srgbClr val="1C9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464040" y="292608"/>
            <a:ext cx="2103120" cy="274320"/>
          </a:xfrm>
          <a:prstGeom prst="rect">
            <a:avLst/>
          </a:prstGeom>
          <a:noFill/>
        </p:spPr>
        <p:txBody>
          <a:bodyPr wrap="square" lIns="54864" tIns="54864" rIns="54864" bIns="54864" anchor="t">
            <a:spAutoFit/>
          </a:bodyPr>
          <a:lstStyle/>
          <a:p>
            <a:pPr algn="r">
              <a:spcAft>
                <a:spcPts val="0"/>
              </a:spcAft>
            </a:pPr>
            <a:r>
              <a:rPr sz="900" b="1">
                <a:solidFill>
                  <a:srgbClr val="657384"/>
                </a:solidFill>
                <a:latin typeface="Aptos"/>
              </a:rPr>
              <a:t>EVALUATION</a:t>
            </a:r>
          </a:p>
        </p:txBody>
      </p:sp>
      <p:sp>
        <p:nvSpPr>
          <p:cNvPr id="6" name="TextBox 5"/>
          <p:cNvSpPr txBox="1"/>
          <p:nvPr/>
        </p:nvSpPr>
        <p:spPr>
          <a:xfrm>
            <a:off x="594360" y="6510528"/>
            <a:ext cx="8961120" cy="164592"/>
          </a:xfrm>
          <a:prstGeom prst="rect">
            <a:avLst/>
          </a:prstGeom>
          <a:noFill/>
        </p:spPr>
        <p:txBody>
          <a:bodyPr wrap="square" lIns="54864" tIns="54864" rIns="54864" bIns="54864" anchor="t">
            <a:spAutoFit/>
          </a:bodyPr>
          <a:lstStyle/>
          <a:p>
            <a:pPr algn="l">
              <a:spcAft>
                <a:spcPts val="0"/>
              </a:spcAft>
            </a:pPr>
            <a:r>
              <a:rPr sz="800" b="0">
                <a:solidFill>
                  <a:srgbClr val="657384"/>
                </a:solidFill>
                <a:latin typeface="Aptos"/>
              </a:rPr>
              <a:t>UNDERSTANDING MACHINE LEARNING  •  TECHNICAL SEMINAR</a:t>
            </a:r>
          </a:p>
        </p:txBody>
      </p:sp>
      <p:sp>
        <p:nvSpPr>
          <p:cNvPr id="7" name="TextBox 6"/>
          <p:cNvSpPr txBox="1"/>
          <p:nvPr/>
        </p:nvSpPr>
        <p:spPr>
          <a:xfrm>
            <a:off x="11064240" y="6473952"/>
            <a:ext cx="502920" cy="201168"/>
          </a:xfrm>
          <a:prstGeom prst="rect">
            <a:avLst/>
          </a:prstGeom>
          <a:noFill/>
        </p:spPr>
        <p:txBody>
          <a:bodyPr wrap="square" lIns="54864" tIns="54864" rIns="54864" bIns="54864" anchor="t">
            <a:spAutoFit/>
          </a:bodyPr>
          <a:lstStyle/>
          <a:p>
            <a:pPr algn="r">
              <a:spcAft>
                <a:spcPts val="0"/>
              </a:spcAft>
            </a:pPr>
            <a:r>
              <a:rPr sz="900" b="1">
                <a:solidFill>
                  <a:srgbClr val="657384"/>
                </a:solidFill>
                <a:latin typeface="Aptos"/>
              </a:rPr>
              <a:t>21</a:t>
            </a:r>
          </a:p>
        </p:txBody>
      </p:sp>
      <p:sp>
        <p:nvSpPr>
          <p:cNvPr id="8" name="TextBox 7"/>
          <p:cNvSpPr txBox="1"/>
          <p:nvPr/>
        </p:nvSpPr>
        <p:spPr>
          <a:xfrm>
            <a:off x="822960" y="1097280"/>
            <a:ext cx="10607040" cy="411480"/>
          </a:xfrm>
          <a:prstGeom prst="rect">
            <a:avLst/>
          </a:prstGeom>
          <a:noFill/>
        </p:spPr>
        <p:txBody>
          <a:bodyPr wrap="square" lIns="54864" tIns="54864" rIns="54864" bIns="54864" anchor="t">
            <a:spAutoFit/>
          </a:bodyPr>
          <a:lstStyle/>
          <a:p>
            <a:pPr algn="l">
              <a:spcAft>
                <a:spcPts val="0"/>
              </a:spcAft>
            </a:pPr>
            <a:r>
              <a:rPr sz="1500" b="1">
                <a:solidFill>
                  <a:srgbClr val="132645"/>
                </a:solidFill>
                <a:latin typeface="Aptos"/>
              </a:rPr>
              <a:t>Leakage occurs when information enters training or selection that would not legitimately be available.</a:t>
            </a:r>
          </a:p>
        </p:txBody>
      </p:sp>
      <p:sp>
        <p:nvSpPr>
          <p:cNvPr id="9" name="Rounded Rectangle 8"/>
          <p:cNvSpPr/>
          <p:nvPr/>
        </p:nvSpPr>
        <p:spPr>
          <a:xfrm>
            <a:off x="777240" y="1737360"/>
            <a:ext cx="3383280" cy="1463040"/>
          </a:xfrm>
          <a:prstGeom prst="roundRect">
            <a:avLst/>
          </a:prstGeom>
          <a:solidFill>
            <a:srgbClr val="FAE8E8"/>
          </a:solidFill>
          <a:ln w="12700">
            <a:solidFill>
              <a:srgbClr val="DEE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777240" y="1737360"/>
            <a:ext cx="73152" cy="1463040"/>
          </a:xfrm>
          <a:prstGeom prst="rect">
            <a:avLst/>
          </a:prstGeom>
          <a:solidFill>
            <a:srgbClr val="C349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78408" y="1883664"/>
            <a:ext cx="3035808" cy="310896"/>
          </a:xfrm>
          <a:prstGeom prst="rect">
            <a:avLst/>
          </a:prstGeom>
          <a:noFill/>
        </p:spPr>
        <p:txBody>
          <a:bodyPr wrap="square" lIns="54864" tIns="54864" rIns="54864" bIns="54864" anchor="t">
            <a:spAutoFit/>
          </a:bodyPr>
          <a:lstStyle/>
          <a:p>
            <a:pPr algn="l">
              <a:spcAft>
                <a:spcPts val="0"/>
              </a:spcAft>
            </a:pPr>
            <a:r>
              <a:rPr sz="1400" b="1">
                <a:solidFill>
                  <a:srgbClr val="132645"/>
                </a:solidFill>
                <a:latin typeface="Aptos"/>
              </a:rPr>
              <a:t>Target leakage</a:t>
            </a:r>
          </a:p>
        </p:txBody>
      </p:sp>
      <p:sp>
        <p:nvSpPr>
          <p:cNvPr id="12" name="TextBox 11"/>
          <p:cNvSpPr txBox="1"/>
          <p:nvPr/>
        </p:nvSpPr>
        <p:spPr>
          <a:xfrm>
            <a:off x="978408" y="2267712"/>
            <a:ext cx="3035808" cy="841248"/>
          </a:xfrm>
          <a:prstGeom prst="rect">
            <a:avLst/>
          </a:prstGeom>
          <a:noFill/>
        </p:spPr>
        <p:txBody>
          <a:bodyPr wrap="square" lIns="54864" tIns="54864" rIns="54864" bIns="54864" anchor="t">
            <a:spAutoFit/>
          </a:bodyPr>
          <a:lstStyle/>
          <a:p>
            <a:pPr algn="l">
              <a:spcAft>
                <a:spcPts val="0"/>
              </a:spcAft>
            </a:pPr>
            <a:r>
              <a:rPr sz="1200" b="0">
                <a:solidFill>
                  <a:srgbClr val="273343"/>
                </a:solidFill>
                <a:latin typeface="Aptos"/>
              </a:rPr>
              <a:t>Using final score to predict pass/fail when pass/fail is directly determined by that score.</a:t>
            </a:r>
          </a:p>
        </p:txBody>
      </p:sp>
      <p:sp>
        <p:nvSpPr>
          <p:cNvPr id="13" name="Rounded Rectangle 12"/>
          <p:cNvSpPr/>
          <p:nvPr/>
        </p:nvSpPr>
        <p:spPr>
          <a:xfrm>
            <a:off x="4434840" y="1737360"/>
            <a:ext cx="3383280" cy="1463040"/>
          </a:xfrm>
          <a:prstGeom prst="roundRect">
            <a:avLst/>
          </a:prstGeom>
          <a:solidFill>
            <a:srgbClr val="FCF1E1"/>
          </a:solidFill>
          <a:ln w="12700">
            <a:solidFill>
              <a:srgbClr val="DEE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434840" y="1737360"/>
            <a:ext cx="73152" cy="1463040"/>
          </a:xfrm>
          <a:prstGeom prst="rect">
            <a:avLst/>
          </a:prstGeom>
          <a:solidFill>
            <a:srgbClr val="E69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636007" y="1883664"/>
            <a:ext cx="3035808" cy="310896"/>
          </a:xfrm>
          <a:prstGeom prst="rect">
            <a:avLst/>
          </a:prstGeom>
          <a:noFill/>
        </p:spPr>
        <p:txBody>
          <a:bodyPr wrap="square" lIns="54864" tIns="54864" rIns="54864" bIns="54864" anchor="t">
            <a:spAutoFit/>
          </a:bodyPr>
          <a:lstStyle/>
          <a:p>
            <a:pPr algn="l">
              <a:spcAft>
                <a:spcPts val="0"/>
              </a:spcAft>
            </a:pPr>
            <a:r>
              <a:rPr sz="1400" b="1">
                <a:solidFill>
                  <a:srgbClr val="132645"/>
                </a:solidFill>
                <a:latin typeface="Aptos"/>
              </a:rPr>
              <a:t>Preprocessing leakage</a:t>
            </a:r>
          </a:p>
        </p:txBody>
      </p:sp>
      <p:sp>
        <p:nvSpPr>
          <p:cNvPr id="16" name="TextBox 15"/>
          <p:cNvSpPr txBox="1"/>
          <p:nvPr/>
        </p:nvSpPr>
        <p:spPr>
          <a:xfrm>
            <a:off x="4636007" y="2267712"/>
            <a:ext cx="3035808" cy="841248"/>
          </a:xfrm>
          <a:prstGeom prst="rect">
            <a:avLst/>
          </a:prstGeom>
          <a:noFill/>
        </p:spPr>
        <p:txBody>
          <a:bodyPr wrap="square" lIns="54864" tIns="54864" rIns="54864" bIns="54864" anchor="t">
            <a:spAutoFit/>
          </a:bodyPr>
          <a:lstStyle/>
          <a:p>
            <a:pPr algn="l">
              <a:spcAft>
                <a:spcPts val="0"/>
              </a:spcAft>
            </a:pPr>
            <a:r>
              <a:rPr sz="1200" b="0">
                <a:solidFill>
                  <a:srgbClr val="273343"/>
                </a:solidFill>
                <a:latin typeface="Aptos"/>
              </a:rPr>
              <a:t>Fitting a scaler or imputer on the full dataset before splitting.</a:t>
            </a:r>
          </a:p>
        </p:txBody>
      </p:sp>
      <p:sp>
        <p:nvSpPr>
          <p:cNvPr id="17" name="Rounded Rectangle 16"/>
          <p:cNvSpPr/>
          <p:nvPr/>
        </p:nvSpPr>
        <p:spPr>
          <a:xfrm>
            <a:off x="8092440" y="1737360"/>
            <a:ext cx="3383280" cy="1463040"/>
          </a:xfrm>
          <a:prstGeom prst="roundRect">
            <a:avLst/>
          </a:prstGeom>
          <a:solidFill>
            <a:srgbClr val="E6EFFB"/>
          </a:solidFill>
          <a:ln w="12700">
            <a:solidFill>
              <a:srgbClr val="DEE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092440" y="1737360"/>
            <a:ext cx="73152" cy="1463040"/>
          </a:xfrm>
          <a:prstGeom prst="rect">
            <a:avLst/>
          </a:prstGeom>
          <a:solidFill>
            <a:srgbClr val="2D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293608" y="1883664"/>
            <a:ext cx="3035808" cy="310896"/>
          </a:xfrm>
          <a:prstGeom prst="rect">
            <a:avLst/>
          </a:prstGeom>
          <a:noFill/>
        </p:spPr>
        <p:txBody>
          <a:bodyPr wrap="square" lIns="54864" tIns="54864" rIns="54864" bIns="54864" anchor="t">
            <a:spAutoFit/>
          </a:bodyPr>
          <a:lstStyle/>
          <a:p>
            <a:pPr algn="l">
              <a:spcAft>
                <a:spcPts val="0"/>
              </a:spcAft>
            </a:pPr>
            <a:r>
              <a:rPr sz="1400" b="1">
                <a:solidFill>
                  <a:srgbClr val="132645"/>
                </a:solidFill>
                <a:latin typeface="Aptos"/>
              </a:rPr>
              <a:t>Time leakage</a:t>
            </a:r>
          </a:p>
        </p:txBody>
      </p:sp>
      <p:sp>
        <p:nvSpPr>
          <p:cNvPr id="20" name="TextBox 19"/>
          <p:cNvSpPr txBox="1"/>
          <p:nvPr/>
        </p:nvSpPr>
        <p:spPr>
          <a:xfrm>
            <a:off x="8293608" y="2267712"/>
            <a:ext cx="3035808" cy="841248"/>
          </a:xfrm>
          <a:prstGeom prst="rect">
            <a:avLst/>
          </a:prstGeom>
          <a:noFill/>
        </p:spPr>
        <p:txBody>
          <a:bodyPr wrap="square" lIns="54864" tIns="54864" rIns="54864" bIns="54864" anchor="t">
            <a:spAutoFit/>
          </a:bodyPr>
          <a:lstStyle/>
          <a:p>
            <a:pPr algn="l">
              <a:spcAft>
                <a:spcPts val="0"/>
              </a:spcAft>
            </a:pPr>
            <a:r>
              <a:rPr sz="1200" b="0">
                <a:solidFill>
                  <a:srgbClr val="273343"/>
                </a:solidFill>
                <a:latin typeface="Aptos"/>
              </a:rPr>
              <a:t>Using future information to predict an earlier outcome.</a:t>
            </a:r>
          </a:p>
        </p:txBody>
      </p:sp>
      <p:sp>
        <p:nvSpPr>
          <p:cNvPr id="21" name="TextBox 20"/>
          <p:cNvSpPr txBox="1"/>
          <p:nvPr/>
        </p:nvSpPr>
        <p:spPr>
          <a:xfrm>
            <a:off x="914400" y="3886200"/>
            <a:ext cx="2011680" cy="502920"/>
          </a:xfrm>
          <a:prstGeom prst="rect">
            <a:avLst/>
          </a:prstGeom>
          <a:noFill/>
        </p:spPr>
        <p:txBody>
          <a:bodyPr wrap="square" lIns="54864" tIns="54864" rIns="54864" bIns="54864" anchor="ctr">
            <a:spAutoFit/>
          </a:bodyPr>
          <a:lstStyle/>
          <a:p>
            <a:pPr algn="ctr">
              <a:spcAft>
                <a:spcPts val="0"/>
              </a:spcAft>
            </a:pPr>
            <a:r>
              <a:rPr sz="1400" b="1">
                <a:solidFill>
                  <a:srgbClr val="FFFFFF"/>
                </a:solidFill>
                <a:latin typeface="Aptos"/>
              </a:rPr>
              <a:t>TEST DATA</a:t>
            </a:r>
          </a:p>
        </p:txBody>
      </p:sp>
      <p:sp>
        <p:nvSpPr>
          <p:cNvPr id="22" name="Rounded Rectangle 21"/>
          <p:cNvSpPr/>
          <p:nvPr/>
        </p:nvSpPr>
        <p:spPr>
          <a:xfrm>
            <a:off x="822960" y="3794760"/>
            <a:ext cx="2194560" cy="731520"/>
          </a:xfrm>
          <a:prstGeom prst="roundRect">
            <a:avLst/>
          </a:prstGeom>
          <a:solidFill>
            <a:srgbClr val="C349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657600" y="3886200"/>
            <a:ext cx="2286000" cy="502920"/>
          </a:xfrm>
          <a:prstGeom prst="rect">
            <a:avLst/>
          </a:prstGeom>
          <a:noFill/>
        </p:spPr>
        <p:txBody>
          <a:bodyPr wrap="square" lIns="54864" tIns="54864" rIns="54864" bIns="54864" anchor="ctr">
            <a:spAutoFit/>
          </a:bodyPr>
          <a:lstStyle/>
          <a:p>
            <a:pPr algn="ctr">
              <a:spcAft>
                <a:spcPts val="0"/>
              </a:spcAft>
            </a:pPr>
            <a:r>
              <a:rPr sz="1400" b="1">
                <a:solidFill>
                  <a:srgbClr val="FFFFFF"/>
                </a:solidFill>
                <a:latin typeface="Aptos"/>
              </a:rPr>
              <a:t>TRAINING</a:t>
            </a:r>
          </a:p>
        </p:txBody>
      </p:sp>
      <p:sp>
        <p:nvSpPr>
          <p:cNvPr id="24" name="Rounded Rectangle 23"/>
          <p:cNvSpPr/>
          <p:nvPr/>
        </p:nvSpPr>
        <p:spPr>
          <a:xfrm>
            <a:off x="3566160" y="3794760"/>
            <a:ext cx="2468880" cy="731520"/>
          </a:xfrm>
          <a:prstGeom prst="roundRect">
            <a:avLst/>
          </a:prstGeom>
          <a:solidFill>
            <a:srgbClr val="2D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5" name="Connector 24"/>
          <p:cNvCxnSpPr/>
          <p:nvPr/>
        </p:nvCxnSpPr>
        <p:spPr>
          <a:xfrm>
            <a:off x="3063240" y="4160520"/>
            <a:ext cx="411480" cy="0"/>
          </a:xfrm>
          <a:prstGeom prst="line">
            <a:avLst/>
          </a:prstGeom>
          <a:ln w="25400">
            <a:solidFill>
              <a:srgbClr val="C34949"/>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6400800" y="3840480"/>
            <a:ext cx="4663440" cy="822960"/>
          </a:xfrm>
          <a:prstGeom prst="rect">
            <a:avLst/>
          </a:prstGeom>
          <a:noFill/>
        </p:spPr>
        <p:txBody>
          <a:bodyPr wrap="square" lIns="54864" tIns="54864" rIns="54864" bIns="54864" anchor="t">
            <a:spAutoFit/>
          </a:bodyPr>
          <a:lstStyle/>
          <a:p>
            <a:pPr algn="l">
              <a:spcAft>
                <a:spcPts val="0"/>
              </a:spcAft>
            </a:pPr>
            <a:r>
              <a:rPr sz="1400" b="1">
                <a:solidFill>
                  <a:srgbClr val="C34949"/>
                </a:solidFill>
                <a:latin typeface="Aptos"/>
              </a:rPr>
              <a:t>Keep held-out information out of fitting and model selection.</a:t>
            </a:r>
          </a:p>
        </p:txBody>
      </p:sp>
      <p:sp>
        <p:nvSpPr>
          <p:cNvPr id="27" name="TextBox 26"/>
          <p:cNvSpPr txBox="1"/>
          <p:nvPr/>
        </p:nvSpPr>
        <p:spPr>
          <a:xfrm>
            <a:off x="868680" y="5166360"/>
            <a:ext cx="10424160" cy="502920"/>
          </a:xfrm>
          <a:prstGeom prst="rect">
            <a:avLst/>
          </a:prstGeom>
          <a:noFill/>
        </p:spPr>
        <p:txBody>
          <a:bodyPr wrap="square" lIns="54864" tIns="54864" rIns="54864" bIns="54864" anchor="t">
            <a:spAutoFit/>
          </a:bodyPr>
          <a:lstStyle/>
          <a:p>
            <a:pPr algn="l">
              <a:spcAft>
                <a:spcPts val="0"/>
              </a:spcAft>
            </a:pPr>
            <a:r>
              <a:rPr sz="1200" b="0">
                <a:solidFill>
                  <a:srgbClr val="273343"/>
                </a:solidFill>
                <a:latin typeface="Aptos"/>
              </a:rPr>
              <a:t>Leakage can make evaluation look unrealistically good. It is different from overfitting, though both can mislead us.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256032"/>
            <a:ext cx="10972800" cy="502920"/>
          </a:xfrm>
          <a:prstGeom prst="rect">
            <a:avLst/>
          </a:prstGeom>
          <a:noFill/>
        </p:spPr>
        <p:txBody>
          <a:bodyPr wrap="square" lIns="54864" tIns="54864" rIns="54864" bIns="54864" anchor="t">
            <a:spAutoFit/>
          </a:bodyPr>
          <a:lstStyle/>
          <a:p>
            <a:pPr algn="l">
              <a:spcAft>
                <a:spcPts val="0"/>
              </a:spcAft>
            </a:pPr>
            <a:r>
              <a:rPr sz="2700" b="1">
                <a:solidFill>
                  <a:srgbClr val="132645"/>
                </a:solidFill>
                <a:latin typeface="Aptos"/>
              </a:rPr>
              <a:t>Complete Machine-Learning Workflow</a:t>
            </a:r>
          </a:p>
        </p:txBody>
      </p:sp>
      <p:sp>
        <p:nvSpPr>
          <p:cNvPr id="4" name="Rectangle 3"/>
          <p:cNvSpPr/>
          <p:nvPr/>
        </p:nvSpPr>
        <p:spPr>
          <a:xfrm>
            <a:off x="585216" y="832104"/>
            <a:ext cx="731520" cy="50292"/>
          </a:xfrm>
          <a:prstGeom prst="rect">
            <a:avLst/>
          </a:prstGeom>
          <a:solidFill>
            <a:srgbClr val="1C9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464040" y="292608"/>
            <a:ext cx="2103120" cy="274320"/>
          </a:xfrm>
          <a:prstGeom prst="rect">
            <a:avLst/>
          </a:prstGeom>
          <a:noFill/>
        </p:spPr>
        <p:txBody>
          <a:bodyPr wrap="square" lIns="54864" tIns="54864" rIns="54864" bIns="54864" anchor="t">
            <a:spAutoFit/>
          </a:bodyPr>
          <a:lstStyle/>
          <a:p>
            <a:pPr algn="r">
              <a:spcAft>
                <a:spcPts val="0"/>
              </a:spcAft>
            </a:pPr>
            <a:r>
              <a:rPr sz="900" b="1">
                <a:solidFill>
                  <a:srgbClr val="657384"/>
                </a:solidFill>
                <a:latin typeface="Aptos"/>
              </a:rPr>
              <a:t>PUTTING IT TOGETHER</a:t>
            </a:r>
          </a:p>
        </p:txBody>
      </p:sp>
      <p:sp>
        <p:nvSpPr>
          <p:cNvPr id="6" name="TextBox 5"/>
          <p:cNvSpPr txBox="1"/>
          <p:nvPr/>
        </p:nvSpPr>
        <p:spPr>
          <a:xfrm>
            <a:off x="594360" y="6510528"/>
            <a:ext cx="8961120" cy="164592"/>
          </a:xfrm>
          <a:prstGeom prst="rect">
            <a:avLst/>
          </a:prstGeom>
          <a:noFill/>
        </p:spPr>
        <p:txBody>
          <a:bodyPr wrap="square" lIns="54864" tIns="54864" rIns="54864" bIns="54864" anchor="t">
            <a:spAutoFit/>
          </a:bodyPr>
          <a:lstStyle/>
          <a:p>
            <a:pPr algn="l">
              <a:spcAft>
                <a:spcPts val="0"/>
              </a:spcAft>
            </a:pPr>
            <a:r>
              <a:rPr sz="800" b="0">
                <a:solidFill>
                  <a:srgbClr val="657384"/>
                </a:solidFill>
                <a:latin typeface="Aptos"/>
              </a:rPr>
              <a:t>UNDERSTANDING MACHINE LEARNING  •  TECHNICAL SEMINAR</a:t>
            </a:r>
          </a:p>
        </p:txBody>
      </p:sp>
      <p:sp>
        <p:nvSpPr>
          <p:cNvPr id="7" name="TextBox 6"/>
          <p:cNvSpPr txBox="1"/>
          <p:nvPr/>
        </p:nvSpPr>
        <p:spPr>
          <a:xfrm>
            <a:off x="11064240" y="6473952"/>
            <a:ext cx="502920" cy="201168"/>
          </a:xfrm>
          <a:prstGeom prst="rect">
            <a:avLst/>
          </a:prstGeom>
          <a:noFill/>
        </p:spPr>
        <p:txBody>
          <a:bodyPr wrap="square" lIns="54864" tIns="54864" rIns="54864" bIns="54864" anchor="t">
            <a:spAutoFit/>
          </a:bodyPr>
          <a:lstStyle/>
          <a:p>
            <a:pPr algn="r">
              <a:spcAft>
                <a:spcPts val="0"/>
              </a:spcAft>
            </a:pPr>
            <a:r>
              <a:rPr sz="900" b="1">
                <a:solidFill>
                  <a:srgbClr val="657384"/>
                </a:solidFill>
                <a:latin typeface="Aptos"/>
              </a:rPr>
              <a:t>22</a:t>
            </a:r>
          </a:p>
        </p:txBody>
      </p:sp>
      <p:sp>
        <p:nvSpPr>
          <p:cNvPr id="8" name="Rounded Rectangle 7"/>
          <p:cNvSpPr/>
          <p:nvPr/>
        </p:nvSpPr>
        <p:spPr>
          <a:xfrm>
            <a:off x="502920" y="1508760"/>
            <a:ext cx="1828800" cy="914400"/>
          </a:xfrm>
          <a:prstGeom prst="roundRect">
            <a:avLst/>
          </a:prstGeom>
          <a:solidFill>
            <a:srgbClr val="FFFFFF"/>
          </a:solidFill>
          <a:ln w="12700">
            <a:solidFill>
              <a:srgbClr val="DEE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02920" y="1508760"/>
            <a:ext cx="73152" cy="914400"/>
          </a:xfrm>
          <a:prstGeom prst="rect">
            <a:avLst/>
          </a:prstGeom>
          <a:solidFill>
            <a:srgbClr val="1326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04088" y="1655063"/>
            <a:ext cx="1481328" cy="310896"/>
          </a:xfrm>
          <a:prstGeom prst="rect">
            <a:avLst/>
          </a:prstGeom>
          <a:noFill/>
        </p:spPr>
        <p:txBody>
          <a:bodyPr wrap="square" lIns="54864" tIns="54864" rIns="54864" bIns="54864" anchor="t">
            <a:spAutoFit/>
          </a:bodyPr>
          <a:lstStyle/>
          <a:p>
            <a:pPr algn="l">
              <a:spcAft>
                <a:spcPts val="0"/>
              </a:spcAft>
            </a:pPr>
            <a:r>
              <a:rPr sz="1200" b="1">
                <a:solidFill>
                  <a:srgbClr val="132645"/>
                </a:solidFill>
                <a:latin typeface="Aptos"/>
              </a:rPr>
              <a:t>Problem
definition</a:t>
            </a:r>
          </a:p>
        </p:txBody>
      </p:sp>
      <p:sp>
        <p:nvSpPr>
          <p:cNvPr id="11" name="TextBox 10"/>
          <p:cNvSpPr txBox="1"/>
          <p:nvPr/>
        </p:nvSpPr>
        <p:spPr>
          <a:xfrm>
            <a:off x="704088" y="2039112"/>
            <a:ext cx="1481328" cy="292607"/>
          </a:xfrm>
          <a:prstGeom prst="rect">
            <a:avLst/>
          </a:prstGeom>
          <a:noFill/>
        </p:spPr>
        <p:txBody>
          <a:bodyPr wrap="square" lIns="54864" tIns="54864" rIns="54864" bIns="54864" anchor="t">
            <a:spAutoFit/>
          </a:bodyPr>
          <a:lstStyle/>
          <a:p>
            <a:pPr algn="l">
              <a:spcAft>
                <a:spcPts val="0"/>
              </a:spcAft>
            </a:pPr>
            <a:endParaRPr/>
          </a:p>
        </p:txBody>
      </p:sp>
      <p:sp>
        <p:nvSpPr>
          <p:cNvPr id="12" name="Rounded Rectangle 11"/>
          <p:cNvSpPr/>
          <p:nvPr/>
        </p:nvSpPr>
        <p:spPr>
          <a:xfrm>
            <a:off x="2788920" y="1508760"/>
            <a:ext cx="1828800" cy="914400"/>
          </a:xfrm>
          <a:prstGeom prst="roundRect">
            <a:avLst/>
          </a:prstGeom>
          <a:solidFill>
            <a:srgbClr val="FFFFFF"/>
          </a:solidFill>
          <a:ln w="12700">
            <a:solidFill>
              <a:srgbClr val="DEE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2788920" y="1508760"/>
            <a:ext cx="73152" cy="914400"/>
          </a:xfrm>
          <a:prstGeom prst="rect">
            <a:avLst/>
          </a:prstGeom>
          <a:solidFill>
            <a:srgbClr val="2D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990088" y="1655063"/>
            <a:ext cx="1481328" cy="310896"/>
          </a:xfrm>
          <a:prstGeom prst="rect">
            <a:avLst/>
          </a:prstGeom>
          <a:noFill/>
        </p:spPr>
        <p:txBody>
          <a:bodyPr wrap="square" lIns="54864" tIns="54864" rIns="54864" bIns="54864" anchor="t">
            <a:spAutoFit/>
          </a:bodyPr>
          <a:lstStyle/>
          <a:p>
            <a:pPr algn="l">
              <a:spcAft>
                <a:spcPts val="0"/>
              </a:spcAft>
            </a:pPr>
            <a:r>
              <a:rPr sz="1200" b="1">
                <a:solidFill>
                  <a:srgbClr val="132645"/>
                </a:solidFill>
                <a:latin typeface="Aptos"/>
              </a:rPr>
              <a:t>Collect &amp;
clean data</a:t>
            </a:r>
          </a:p>
        </p:txBody>
      </p:sp>
      <p:sp>
        <p:nvSpPr>
          <p:cNvPr id="15" name="TextBox 14"/>
          <p:cNvSpPr txBox="1"/>
          <p:nvPr/>
        </p:nvSpPr>
        <p:spPr>
          <a:xfrm>
            <a:off x="2990088" y="2039112"/>
            <a:ext cx="1481328" cy="292607"/>
          </a:xfrm>
          <a:prstGeom prst="rect">
            <a:avLst/>
          </a:prstGeom>
          <a:noFill/>
        </p:spPr>
        <p:txBody>
          <a:bodyPr wrap="square" lIns="54864" tIns="54864" rIns="54864" bIns="54864" anchor="t">
            <a:spAutoFit/>
          </a:bodyPr>
          <a:lstStyle/>
          <a:p>
            <a:pPr algn="l">
              <a:spcAft>
                <a:spcPts val="0"/>
              </a:spcAft>
            </a:pPr>
            <a:endParaRPr/>
          </a:p>
        </p:txBody>
      </p:sp>
      <p:sp>
        <p:nvSpPr>
          <p:cNvPr id="16" name="Rounded Rectangle 15"/>
          <p:cNvSpPr/>
          <p:nvPr/>
        </p:nvSpPr>
        <p:spPr>
          <a:xfrm>
            <a:off x="5074920" y="1508760"/>
            <a:ext cx="1828800" cy="914400"/>
          </a:xfrm>
          <a:prstGeom prst="roundRect">
            <a:avLst/>
          </a:prstGeom>
          <a:solidFill>
            <a:srgbClr val="FFFFFF"/>
          </a:solidFill>
          <a:ln w="12700">
            <a:solidFill>
              <a:srgbClr val="DEE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074920" y="1508760"/>
            <a:ext cx="73152" cy="914400"/>
          </a:xfrm>
          <a:prstGeom prst="rect">
            <a:avLst/>
          </a:prstGeom>
          <a:solidFill>
            <a:srgbClr val="2D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276088" y="1655063"/>
            <a:ext cx="1481328" cy="310896"/>
          </a:xfrm>
          <a:prstGeom prst="rect">
            <a:avLst/>
          </a:prstGeom>
          <a:noFill/>
        </p:spPr>
        <p:txBody>
          <a:bodyPr wrap="square" lIns="54864" tIns="54864" rIns="54864" bIns="54864" anchor="t">
            <a:spAutoFit/>
          </a:bodyPr>
          <a:lstStyle/>
          <a:p>
            <a:pPr algn="l">
              <a:spcAft>
                <a:spcPts val="0"/>
              </a:spcAft>
            </a:pPr>
            <a:r>
              <a:rPr sz="1200" b="1">
                <a:solidFill>
                  <a:srgbClr val="132645"/>
                </a:solidFill>
                <a:latin typeface="Aptos"/>
              </a:rPr>
              <a:t>Split data</a:t>
            </a:r>
          </a:p>
        </p:txBody>
      </p:sp>
      <p:sp>
        <p:nvSpPr>
          <p:cNvPr id="19" name="TextBox 18"/>
          <p:cNvSpPr txBox="1"/>
          <p:nvPr/>
        </p:nvSpPr>
        <p:spPr>
          <a:xfrm>
            <a:off x="5276088" y="2039112"/>
            <a:ext cx="1481328" cy="292607"/>
          </a:xfrm>
          <a:prstGeom prst="rect">
            <a:avLst/>
          </a:prstGeom>
          <a:noFill/>
        </p:spPr>
        <p:txBody>
          <a:bodyPr wrap="square" lIns="54864" tIns="54864" rIns="54864" bIns="54864" anchor="t">
            <a:spAutoFit/>
          </a:bodyPr>
          <a:lstStyle/>
          <a:p>
            <a:pPr algn="l">
              <a:spcAft>
                <a:spcPts val="0"/>
              </a:spcAft>
            </a:pPr>
            <a:endParaRPr/>
          </a:p>
        </p:txBody>
      </p:sp>
      <p:sp>
        <p:nvSpPr>
          <p:cNvPr id="20" name="Rounded Rectangle 19"/>
          <p:cNvSpPr/>
          <p:nvPr/>
        </p:nvSpPr>
        <p:spPr>
          <a:xfrm>
            <a:off x="7360920" y="1508760"/>
            <a:ext cx="1828800" cy="914400"/>
          </a:xfrm>
          <a:prstGeom prst="roundRect">
            <a:avLst/>
          </a:prstGeom>
          <a:solidFill>
            <a:srgbClr val="FFFFFF"/>
          </a:solidFill>
          <a:ln w="12700">
            <a:solidFill>
              <a:srgbClr val="DEE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7360920" y="1508760"/>
            <a:ext cx="73152" cy="914400"/>
          </a:xfrm>
          <a:prstGeom prst="rect">
            <a:avLst/>
          </a:prstGeom>
          <a:solidFill>
            <a:srgbClr val="1C9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562088" y="1655063"/>
            <a:ext cx="1481328" cy="310896"/>
          </a:xfrm>
          <a:prstGeom prst="rect">
            <a:avLst/>
          </a:prstGeom>
          <a:noFill/>
        </p:spPr>
        <p:txBody>
          <a:bodyPr wrap="square" lIns="54864" tIns="54864" rIns="54864" bIns="54864" anchor="t">
            <a:spAutoFit/>
          </a:bodyPr>
          <a:lstStyle/>
          <a:p>
            <a:pPr algn="l">
              <a:spcAft>
                <a:spcPts val="0"/>
              </a:spcAft>
            </a:pPr>
            <a:r>
              <a:rPr sz="1200" b="1">
                <a:solidFill>
                  <a:srgbClr val="132645"/>
                </a:solidFill>
                <a:latin typeface="Aptos"/>
              </a:rPr>
              <a:t>Fit preprocessing
on train only</a:t>
            </a:r>
          </a:p>
        </p:txBody>
      </p:sp>
      <p:sp>
        <p:nvSpPr>
          <p:cNvPr id="23" name="TextBox 22"/>
          <p:cNvSpPr txBox="1"/>
          <p:nvPr/>
        </p:nvSpPr>
        <p:spPr>
          <a:xfrm>
            <a:off x="7562088" y="2039112"/>
            <a:ext cx="1481328" cy="292607"/>
          </a:xfrm>
          <a:prstGeom prst="rect">
            <a:avLst/>
          </a:prstGeom>
          <a:noFill/>
        </p:spPr>
        <p:txBody>
          <a:bodyPr wrap="square" lIns="54864" tIns="54864" rIns="54864" bIns="54864" anchor="t">
            <a:spAutoFit/>
          </a:bodyPr>
          <a:lstStyle/>
          <a:p>
            <a:pPr algn="l">
              <a:spcAft>
                <a:spcPts val="0"/>
              </a:spcAft>
            </a:pPr>
            <a:endParaRPr/>
          </a:p>
        </p:txBody>
      </p:sp>
      <p:sp>
        <p:nvSpPr>
          <p:cNvPr id="24" name="Rounded Rectangle 23"/>
          <p:cNvSpPr/>
          <p:nvPr/>
        </p:nvSpPr>
        <p:spPr>
          <a:xfrm>
            <a:off x="9646920" y="1508760"/>
            <a:ext cx="1828800" cy="914400"/>
          </a:xfrm>
          <a:prstGeom prst="roundRect">
            <a:avLst/>
          </a:prstGeom>
          <a:solidFill>
            <a:srgbClr val="FFFFFF"/>
          </a:solidFill>
          <a:ln w="12700">
            <a:solidFill>
              <a:srgbClr val="DEE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9646920" y="1508760"/>
            <a:ext cx="73152" cy="914400"/>
          </a:xfrm>
          <a:prstGeom prst="rect">
            <a:avLst/>
          </a:prstGeom>
          <a:solidFill>
            <a:srgbClr val="1C9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848088" y="1655063"/>
            <a:ext cx="1481328" cy="310896"/>
          </a:xfrm>
          <a:prstGeom prst="rect">
            <a:avLst/>
          </a:prstGeom>
          <a:noFill/>
        </p:spPr>
        <p:txBody>
          <a:bodyPr wrap="square" lIns="54864" tIns="54864" rIns="54864" bIns="54864" anchor="t">
            <a:spAutoFit/>
          </a:bodyPr>
          <a:lstStyle/>
          <a:p>
            <a:pPr algn="l">
              <a:spcAft>
                <a:spcPts val="0"/>
              </a:spcAft>
            </a:pPr>
            <a:r>
              <a:rPr sz="1200" b="1">
                <a:solidFill>
                  <a:srgbClr val="132645"/>
                </a:solidFill>
                <a:latin typeface="Aptos"/>
              </a:rPr>
              <a:t>Train model
+ regularization</a:t>
            </a:r>
          </a:p>
        </p:txBody>
      </p:sp>
      <p:sp>
        <p:nvSpPr>
          <p:cNvPr id="27" name="TextBox 26"/>
          <p:cNvSpPr txBox="1"/>
          <p:nvPr/>
        </p:nvSpPr>
        <p:spPr>
          <a:xfrm>
            <a:off x="9848088" y="2039112"/>
            <a:ext cx="1481328" cy="292607"/>
          </a:xfrm>
          <a:prstGeom prst="rect">
            <a:avLst/>
          </a:prstGeom>
          <a:noFill/>
        </p:spPr>
        <p:txBody>
          <a:bodyPr wrap="square" lIns="54864" tIns="54864" rIns="54864" bIns="54864" anchor="t">
            <a:spAutoFit/>
          </a:bodyPr>
          <a:lstStyle/>
          <a:p>
            <a:pPr algn="l">
              <a:spcAft>
                <a:spcPts val="0"/>
              </a:spcAft>
            </a:pPr>
            <a:endParaRPr/>
          </a:p>
        </p:txBody>
      </p:sp>
      <p:sp>
        <p:nvSpPr>
          <p:cNvPr id="28" name="Rounded Rectangle 27"/>
          <p:cNvSpPr/>
          <p:nvPr/>
        </p:nvSpPr>
        <p:spPr>
          <a:xfrm>
            <a:off x="1645920" y="3657600"/>
            <a:ext cx="1828800" cy="914400"/>
          </a:xfrm>
          <a:prstGeom prst="roundRect">
            <a:avLst/>
          </a:prstGeom>
          <a:solidFill>
            <a:srgbClr val="FFFFFF"/>
          </a:solidFill>
          <a:ln w="12700">
            <a:solidFill>
              <a:srgbClr val="DEE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1645920" y="3657600"/>
            <a:ext cx="73152" cy="914400"/>
          </a:xfrm>
          <a:prstGeom prst="rect">
            <a:avLst/>
          </a:prstGeom>
          <a:solidFill>
            <a:srgbClr val="E69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847088" y="3803904"/>
            <a:ext cx="1481328" cy="310896"/>
          </a:xfrm>
          <a:prstGeom prst="rect">
            <a:avLst/>
          </a:prstGeom>
          <a:noFill/>
        </p:spPr>
        <p:txBody>
          <a:bodyPr wrap="square" lIns="54864" tIns="54864" rIns="54864" bIns="54864" anchor="t">
            <a:spAutoFit/>
          </a:bodyPr>
          <a:lstStyle/>
          <a:p>
            <a:pPr algn="l">
              <a:spcAft>
                <a:spcPts val="0"/>
              </a:spcAft>
            </a:pPr>
            <a:r>
              <a:rPr sz="1200" b="1">
                <a:solidFill>
                  <a:srgbClr val="132645"/>
                </a:solidFill>
                <a:latin typeface="Aptos"/>
              </a:rPr>
              <a:t>Tune with
validation</a:t>
            </a:r>
          </a:p>
        </p:txBody>
      </p:sp>
      <p:sp>
        <p:nvSpPr>
          <p:cNvPr id="31" name="TextBox 30"/>
          <p:cNvSpPr txBox="1"/>
          <p:nvPr/>
        </p:nvSpPr>
        <p:spPr>
          <a:xfrm>
            <a:off x="1847088" y="4187952"/>
            <a:ext cx="1481328" cy="292607"/>
          </a:xfrm>
          <a:prstGeom prst="rect">
            <a:avLst/>
          </a:prstGeom>
          <a:noFill/>
        </p:spPr>
        <p:txBody>
          <a:bodyPr wrap="square" lIns="54864" tIns="54864" rIns="54864" bIns="54864" anchor="t">
            <a:spAutoFit/>
          </a:bodyPr>
          <a:lstStyle/>
          <a:p>
            <a:pPr algn="l">
              <a:spcAft>
                <a:spcPts val="0"/>
              </a:spcAft>
            </a:pPr>
            <a:endParaRPr/>
          </a:p>
        </p:txBody>
      </p:sp>
      <p:sp>
        <p:nvSpPr>
          <p:cNvPr id="32" name="Rounded Rectangle 31"/>
          <p:cNvSpPr/>
          <p:nvPr/>
        </p:nvSpPr>
        <p:spPr>
          <a:xfrm>
            <a:off x="3931920" y="3657600"/>
            <a:ext cx="1828800" cy="914400"/>
          </a:xfrm>
          <a:prstGeom prst="roundRect">
            <a:avLst/>
          </a:prstGeom>
          <a:solidFill>
            <a:srgbClr val="FFFFFF"/>
          </a:solidFill>
          <a:ln w="12700">
            <a:solidFill>
              <a:srgbClr val="DEE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3931920" y="3657600"/>
            <a:ext cx="73152" cy="914400"/>
          </a:xfrm>
          <a:prstGeom prst="rect">
            <a:avLst/>
          </a:prstGeom>
          <a:solidFill>
            <a:srgbClr val="E69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133087" y="3803904"/>
            <a:ext cx="1481328" cy="310896"/>
          </a:xfrm>
          <a:prstGeom prst="rect">
            <a:avLst/>
          </a:prstGeom>
          <a:noFill/>
        </p:spPr>
        <p:txBody>
          <a:bodyPr wrap="square" lIns="54864" tIns="54864" rIns="54864" bIns="54864" anchor="t">
            <a:spAutoFit/>
          </a:bodyPr>
          <a:lstStyle/>
          <a:p>
            <a:pPr algn="l">
              <a:spcAft>
                <a:spcPts val="0"/>
              </a:spcAft>
            </a:pPr>
            <a:r>
              <a:rPr sz="1200" b="1">
                <a:solidFill>
                  <a:srgbClr val="132645"/>
                </a:solidFill>
                <a:latin typeface="Aptos"/>
              </a:rPr>
              <a:t>Select model</a:t>
            </a:r>
          </a:p>
        </p:txBody>
      </p:sp>
      <p:sp>
        <p:nvSpPr>
          <p:cNvPr id="35" name="TextBox 34"/>
          <p:cNvSpPr txBox="1"/>
          <p:nvPr/>
        </p:nvSpPr>
        <p:spPr>
          <a:xfrm>
            <a:off x="4133087" y="4187952"/>
            <a:ext cx="1481328" cy="292607"/>
          </a:xfrm>
          <a:prstGeom prst="rect">
            <a:avLst/>
          </a:prstGeom>
          <a:noFill/>
        </p:spPr>
        <p:txBody>
          <a:bodyPr wrap="square" lIns="54864" tIns="54864" rIns="54864" bIns="54864" anchor="t">
            <a:spAutoFit/>
          </a:bodyPr>
          <a:lstStyle/>
          <a:p>
            <a:pPr algn="l">
              <a:spcAft>
                <a:spcPts val="0"/>
              </a:spcAft>
            </a:pPr>
            <a:endParaRPr/>
          </a:p>
        </p:txBody>
      </p:sp>
      <p:sp>
        <p:nvSpPr>
          <p:cNvPr id="36" name="Rounded Rectangle 35"/>
          <p:cNvSpPr/>
          <p:nvPr/>
        </p:nvSpPr>
        <p:spPr>
          <a:xfrm>
            <a:off x="6217920" y="3657600"/>
            <a:ext cx="1828800" cy="914400"/>
          </a:xfrm>
          <a:prstGeom prst="roundRect">
            <a:avLst/>
          </a:prstGeom>
          <a:solidFill>
            <a:srgbClr val="FFFFFF"/>
          </a:solidFill>
          <a:ln w="12700">
            <a:solidFill>
              <a:srgbClr val="DEE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6217920" y="3657600"/>
            <a:ext cx="73152" cy="914400"/>
          </a:xfrm>
          <a:prstGeom prst="rect">
            <a:avLst/>
          </a:prstGeom>
          <a:solidFill>
            <a:srgbClr val="C349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419088" y="3803904"/>
            <a:ext cx="1481328" cy="310896"/>
          </a:xfrm>
          <a:prstGeom prst="rect">
            <a:avLst/>
          </a:prstGeom>
          <a:noFill/>
        </p:spPr>
        <p:txBody>
          <a:bodyPr wrap="square" lIns="54864" tIns="54864" rIns="54864" bIns="54864" anchor="t">
            <a:spAutoFit/>
          </a:bodyPr>
          <a:lstStyle/>
          <a:p>
            <a:pPr algn="l">
              <a:spcAft>
                <a:spcPts val="0"/>
              </a:spcAft>
            </a:pPr>
            <a:r>
              <a:rPr sz="1200" b="1">
                <a:solidFill>
                  <a:srgbClr val="132645"/>
                </a:solidFill>
                <a:latin typeface="Aptos"/>
              </a:rPr>
              <a:t>Final test
evaluation</a:t>
            </a:r>
          </a:p>
        </p:txBody>
      </p:sp>
      <p:sp>
        <p:nvSpPr>
          <p:cNvPr id="39" name="TextBox 38"/>
          <p:cNvSpPr txBox="1"/>
          <p:nvPr/>
        </p:nvSpPr>
        <p:spPr>
          <a:xfrm>
            <a:off x="6419088" y="4187952"/>
            <a:ext cx="1481328" cy="292607"/>
          </a:xfrm>
          <a:prstGeom prst="rect">
            <a:avLst/>
          </a:prstGeom>
          <a:noFill/>
        </p:spPr>
        <p:txBody>
          <a:bodyPr wrap="square" lIns="54864" tIns="54864" rIns="54864" bIns="54864" anchor="t">
            <a:spAutoFit/>
          </a:bodyPr>
          <a:lstStyle/>
          <a:p>
            <a:pPr algn="l">
              <a:spcAft>
                <a:spcPts val="0"/>
              </a:spcAft>
            </a:pPr>
            <a:endParaRPr/>
          </a:p>
        </p:txBody>
      </p:sp>
      <p:sp>
        <p:nvSpPr>
          <p:cNvPr id="40" name="Rounded Rectangle 39"/>
          <p:cNvSpPr/>
          <p:nvPr/>
        </p:nvSpPr>
        <p:spPr>
          <a:xfrm>
            <a:off x="8503920" y="3657600"/>
            <a:ext cx="1828800" cy="914400"/>
          </a:xfrm>
          <a:prstGeom prst="roundRect">
            <a:avLst/>
          </a:prstGeom>
          <a:solidFill>
            <a:srgbClr val="FFFFFF"/>
          </a:solidFill>
          <a:ln w="12700">
            <a:solidFill>
              <a:srgbClr val="DEE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8503920" y="3657600"/>
            <a:ext cx="73152" cy="914400"/>
          </a:xfrm>
          <a:prstGeom prst="rect">
            <a:avLst/>
          </a:prstGeom>
          <a:solidFill>
            <a:srgbClr val="1326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8705088" y="3803904"/>
            <a:ext cx="1481328" cy="310896"/>
          </a:xfrm>
          <a:prstGeom prst="rect">
            <a:avLst/>
          </a:prstGeom>
          <a:noFill/>
        </p:spPr>
        <p:txBody>
          <a:bodyPr wrap="square" lIns="54864" tIns="54864" rIns="54864" bIns="54864" anchor="t">
            <a:spAutoFit/>
          </a:bodyPr>
          <a:lstStyle/>
          <a:p>
            <a:pPr algn="l">
              <a:spcAft>
                <a:spcPts val="0"/>
              </a:spcAft>
            </a:pPr>
            <a:r>
              <a:rPr sz="1200" b="1">
                <a:solidFill>
                  <a:srgbClr val="132645"/>
                </a:solidFill>
                <a:latin typeface="Aptos"/>
              </a:rPr>
              <a:t>Deploy &amp;
monitor</a:t>
            </a:r>
          </a:p>
        </p:txBody>
      </p:sp>
      <p:sp>
        <p:nvSpPr>
          <p:cNvPr id="43" name="TextBox 42"/>
          <p:cNvSpPr txBox="1"/>
          <p:nvPr/>
        </p:nvSpPr>
        <p:spPr>
          <a:xfrm>
            <a:off x="8705088" y="4187952"/>
            <a:ext cx="1481328" cy="292607"/>
          </a:xfrm>
          <a:prstGeom prst="rect">
            <a:avLst/>
          </a:prstGeom>
          <a:noFill/>
        </p:spPr>
        <p:txBody>
          <a:bodyPr wrap="square" lIns="54864" tIns="54864" rIns="54864" bIns="54864" anchor="t">
            <a:spAutoFit/>
          </a:bodyPr>
          <a:lstStyle/>
          <a:p>
            <a:pPr algn="l">
              <a:spcAft>
                <a:spcPts val="0"/>
              </a:spcAft>
            </a:pPr>
            <a:endParaRPr/>
          </a:p>
        </p:txBody>
      </p:sp>
      <p:cxnSp>
        <p:nvCxnSpPr>
          <p:cNvPr id="44" name="Connector 43"/>
          <p:cNvCxnSpPr/>
          <p:nvPr/>
        </p:nvCxnSpPr>
        <p:spPr>
          <a:xfrm>
            <a:off x="2350008" y="1965960"/>
            <a:ext cx="365760" cy="0"/>
          </a:xfrm>
          <a:prstGeom prst="line">
            <a:avLst/>
          </a:prstGeom>
          <a:ln w="15240">
            <a:solidFill>
              <a:srgbClr val="657384"/>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4636008" y="1965960"/>
            <a:ext cx="365760" cy="0"/>
          </a:xfrm>
          <a:prstGeom prst="line">
            <a:avLst/>
          </a:prstGeom>
          <a:ln w="15240">
            <a:solidFill>
              <a:srgbClr val="657384"/>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6922008" y="1965960"/>
            <a:ext cx="365760" cy="0"/>
          </a:xfrm>
          <a:prstGeom prst="line">
            <a:avLst/>
          </a:prstGeom>
          <a:ln w="15240">
            <a:solidFill>
              <a:srgbClr val="657384"/>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9208008" y="1965960"/>
            <a:ext cx="365760" cy="0"/>
          </a:xfrm>
          <a:prstGeom prst="line">
            <a:avLst/>
          </a:prstGeom>
          <a:ln w="15240">
            <a:solidFill>
              <a:srgbClr val="657384"/>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10561320" y="2487168"/>
            <a:ext cx="0" cy="576072"/>
          </a:xfrm>
          <a:prstGeom prst="line">
            <a:avLst/>
          </a:prstGeom>
          <a:ln w="15240">
            <a:solidFill>
              <a:srgbClr val="657384"/>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a:off x="2560320" y="3063240"/>
            <a:ext cx="8001000" cy="0"/>
          </a:xfrm>
          <a:prstGeom prst="line">
            <a:avLst/>
          </a:prstGeom>
          <a:ln w="15240">
            <a:solidFill>
              <a:srgbClr val="657384"/>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2560320" y="3063240"/>
            <a:ext cx="0" cy="521208"/>
          </a:xfrm>
          <a:prstGeom prst="line">
            <a:avLst/>
          </a:prstGeom>
          <a:ln w="15240">
            <a:solidFill>
              <a:srgbClr val="657384"/>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3493008" y="4114800"/>
            <a:ext cx="365760" cy="0"/>
          </a:xfrm>
          <a:prstGeom prst="line">
            <a:avLst/>
          </a:prstGeom>
          <a:ln w="15240">
            <a:solidFill>
              <a:srgbClr val="657384"/>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5779008" y="4114800"/>
            <a:ext cx="365760" cy="0"/>
          </a:xfrm>
          <a:prstGeom prst="line">
            <a:avLst/>
          </a:prstGeom>
          <a:ln w="15240">
            <a:solidFill>
              <a:srgbClr val="657384"/>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8065008" y="4114800"/>
            <a:ext cx="365760" cy="0"/>
          </a:xfrm>
          <a:prstGeom prst="line">
            <a:avLst/>
          </a:prstGeom>
          <a:ln w="15240">
            <a:solidFill>
              <a:srgbClr val="657384"/>
            </a:solidFill>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914400" y="5166360"/>
            <a:ext cx="10332720" cy="548640"/>
          </a:xfrm>
          <a:prstGeom prst="rect">
            <a:avLst/>
          </a:prstGeom>
          <a:noFill/>
        </p:spPr>
        <p:txBody>
          <a:bodyPr wrap="square" lIns="54864" tIns="54864" rIns="54864" bIns="54864" anchor="t">
            <a:spAutoFit/>
          </a:bodyPr>
          <a:lstStyle/>
          <a:p>
            <a:pPr algn="ctr">
              <a:spcAft>
                <a:spcPts val="0"/>
              </a:spcAft>
            </a:pPr>
            <a:r>
              <a:rPr sz="1300" b="1">
                <a:solidFill>
                  <a:srgbClr val="C34949"/>
                </a:solidFill>
                <a:latin typeface="Aptos"/>
              </a:rPr>
              <a:t>Validation guides tuning and selection. The test set is reserved for the final evaluation.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256032"/>
            <a:ext cx="10972800" cy="502920"/>
          </a:xfrm>
          <a:prstGeom prst="rect">
            <a:avLst/>
          </a:prstGeom>
          <a:noFill/>
        </p:spPr>
        <p:txBody>
          <a:bodyPr wrap="square" lIns="54864" tIns="54864" rIns="54864" bIns="54864" anchor="t">
            <a:spAutoFit/>
          </a:bodyPr>
          <a:lstStyle/>
          <a:p>
            <a:pPr algn="l">
              <a:spcAft>
                <a:spcPts val="0"/>
              </a:spcAft>
            </a:pPr>
            <a:r>
              <a:rPr sz="2700" b="1">
                <a:solidFill>
                  <a:srgbClr val="132645"/>
                </a:solidFill>
                <a:latin typeface="Aptos"/>
              </a:rPr>
              <a:t>Key Takeaways</a:t>
            </a:r>
          </a:p>
        </p:txBody>
      </p:sp>
      <p:sp>
        <p:nvSpPr>
          <p:cNvPr id="4" name="Rectangle 3"/>
          <p:cNvSpPr/>
          <p:nvPr/>
        </p:nvSpPr>
        <p:spPr>
          <a:xfrm>
            <a:off x="585216" y="832104"/>
            <a:ext cx="731520" cy="50292"/>
          </a:xfrm>
          <a:prstGeom prst="rect">
            <a:avLst/>
          </a:prstGeom>
          <a:solidFill>
            <a:srgbClr val="1C9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464040" y="292608"/>
            <a:ext cx="2103120" cy="274320"/>
          </a:xfrm>
          <a:prstGeom prst="rect">
            <a:avLst/>
          </a:prstGeom>
          <a:noFill/>
        </p:spPr>
        <p:txBody>
          <a:bodyPr wrap="square" lIns="54864" tIns="54864" rIns="54864" bIns="54864" anchor="t">
            <a:spAutoFit/>
          </a:bodyPr>
          <a:lstStyle/>
          <a:p>
            <a:pPr algn="r">
              <a:spcAft>
                <a:spcPts val="0"/>
              </a:spcAft>
            </a:pPr>
            <a:r>
              <a:rPr sz="900" b="1">
                <a:solidFill>
                  <a:srgbClr val="657384"/>
                </a:solidFill>
                <a:latin typeface="Aptos"/>
              </a:rPr>
              <a:t>SUMMARY</a:t>
            </a:r>
          </a:p>
        </p:txBody>
      </p:sp>
      <p:sp>
        <p:nvSpPr>
          <p:cNvPr id="6" name="TextBox 5"/>
          <p:cNvSpPr txBox="1"/>
          <p:nvPr/>
        </p:nvSpPr>
        <p:spPr>
          <a:xfrm>
            <a:off x="594360" y="6510528"/>
            <a:ext cx="8961120" cy="164592"/>
          </a:xfrm>
          <a:prstGeom prst="rect">
            <a:avLst/>
          </a:prstGeom>
          <a:noFill/>
        </p:spPr>
        <p:txBody>
          <a:bodyPr wrap="square" lIns="54864" tIns="54864" rIns="54864" bIns="54864" anchor="t">
            <a:spAutoFit/>
          </a:bodyPr>
          <a:lstStyle/>
          <a:p>
            <a:pPr algn="l">
              <a:spcAft>
                <a:spcPts val="0"/>
              </a:spcAft>
            </a:pPr>
            <a:r>
              <a:rPr sz="800" b="0">
                <a:solidFill>
                  <a:srgbClr val="657384"/>
                </a:solidFill>
                <a:latin typeface="Aptos"/>
              </a:rPr>
              <a:t>UNDERSTANDING MACHINE LEARNING  •  TECHNICAL SEMINAR</a:t>
            </a:r>
          </a:p>
        </p:txBody>
      </p:sp>
      <p:sp>
        <p:nvSpPr>
          <p:cNvPr id="7" name="TextBox 6"/>
          <p:cNvSpPr txBox="1"/>
          <p:nvPr/>
        </p:nvSpPr>
        <p:spPr>
          <a:xfrm>
            <a:off x="11064240" y="6473952"/>
            <a:ext cx="502920" cy="201168"/>
          </a:xfrm>
          <a:prstGeom prst="rect">
            <a:avLst/>
          </a:prstGeom>
          <a:noFill/>
        </p:spPr>
        <p:txBody>
          <a:bodyPr wrap="square" lIns="54864" tIns="54864" rIns="54864" bIns="54864" anchor="t">
            <a:spAutoFit/>
          </a:bodyPr>
          <a:lstStyle/>
          <a:p>
            <a:pPr algn="r">
              <a:spcAft>
                <a:spcPts val="0"/>
              </a:spcAft>
            </a:pPr>
            <a:r>
              <a:rPr sz="900" b="1">
                <a:solidFill>
                  <a:srgbClr val="657384"/>
                </a:solidFill>
                <a:latin typeface="Aptos"/>
              </a:rPr>
              <a:t>23</a:t>
            </a:r>
          </a:p>
        </p:txBody>
      </p:sp>
      <p:sp>
        <p:nvSpPr>
          <p:cNvPr id="8" name="Rounded Rectangle 7"/>
          <p:cNvSpPr/>
          <p:nvPr/>
        </p:nvSpPr>
        <p:spPr>
          <a:xfrm>
            <a:off x="685800" y="1417320"/>
            <a:ext cx="3520440" cy="1508760"/>
          </a:xfrm>
          <a:prstGeom prst="roundRect">
            <a:avLst/>
          </a:prstGeom>
          <a:solidFill>
            <a:srgbClr val="FFFFFF"/>
          </a:solidFill>
          <a:ln w="12700">
            <a:solidFill>
              <a:srgbClr val="DEE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85800" y="1417320"/>
            <a:ext cx="73152" cy="1508760"/>
          </a:xfrm>
          <a:prstGeom prst="rect">
            <a:avLst/>
          </a:prstGeom>
          <a:solidFill>
            <a:srgbClr val="2D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86968" y="1563624"/>
            <a:ext cx="3172968" cy="310896"/>
          </a:xfrm>
          <a:prstGeom prst="rect">
            <a:avLst/>
          </a:prstGeom>
          <a:noFill/>
        </p:spPr>
        <p:txBody>
          <a:bodyPr wrap="square" lIns="54864" tIns="54864" rIns="54864" bIns="54864" anchor="t">
            <a:spAutoFit/>
          </a:bodyPr>
          <a:lstStyle/>
          <a:p>
            <a:pPr algn="l">
              <a:spcAft>
                <a:spcPts val="0"/>
              </a:spcAft>
            </a:pPr>
            <a:r>
              <a:rPr sz="1600" b="1">
                <a:solidFill>
                  <a:srgbClr val="132645"/>
                </a:solidFill>
                <a:latin typeface="Aptos"/>
              </a:rPr>
              <a:t>Learn</a:t>
            </a:r>
          </a:p>
        </p:txBody>
      </p:sp>
      <p:sp>
        <p:nvSpPr>
          <p:cNvPr id="11" name="TextBox 10"/>
          <p:cNvSpPr txBox="1"/>
          <p:nvPr/>
        </p:nvSpPr>
        <p:spPr>
          <a:xfrm>
            <a:off x="886968" y="1947672"/>
            <a:ext cx="3172968" cy="886967"/>
          </a:xfrm>
          <a:prstGeom prst="rect">
            <a:avLst/>
          </a:prstGeom>
          <a:noFill/>
        </p:spPr>
        <p:txBody>
          <a:bodyPr wrap="square" lIns="54864" tIns="54864" rIns="54864" bIns="54864" anchor="t">
            <a:spAutoFit/>
          </a:bodyPr>
          <a:lstStyle/>
          <a:p>
            <a:pPr algn="l">
              <a:spcAft>
                <a:spcPts val="0"/>
              </a:spcAft>
            </a:pPr>
            <a:r>
              <a:rPr sz="1300" b="0">
                <a:solidFill>
                  <a:srgbClr val="273343"/>
                </a:solidFill>
                <a:latin typeface="Aptos"/>
              </a:rPr>
              <a:t>Models learn parameters from training data.</a:t>
            </a:r>
          </a:p>
        </p:txBody>
      </p:sp>
      <p:sp>
        <p:nvSpPr>
          <p:cNvPr id="12" name="Rounded Rectangle 11"/>
          <p:cNvSpPr/>
          <p:nvPr/>
        </p:nvSpPr>
        <p:spPr>
          <a:xfrm>
            <a:off x="4526280" y="1417320"/>
            <a:ext cx="3520440" cy="1508760"/>
          </a:xfrm>
          <a:prstGeom prst="roundRect">
            <a:avLst/>
          </a:prstGeom>
          <a:solidFill>
            <a:srgbClr val="FFFFFF"/>
          </a:solidFill>
          <a:ln w="12700">
            <a:solidFill>
              <a:srgbClr val="DEE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526280" y="1417320"/>
            <a:ext cx="73152" cy="1508760"/>
          </a:xfrm>
          <a:prstGeom prst="rect">
            <a:avLst/>
          </a:prstGeom>
          <a:solidFill>
            <a:srgbClr val="E69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727448" y="1563624"/>
            <a:ext cx="3172968" cy="310896"/>
          </a:xfrm>
          <a:prstGeom prst="rect">
            <a:avLst/>
          </a:prstGeom>
          <a:noFill/>
        </p:spPr>
        <p:txBody>
          <a:bodyPr wrap="square" lIns="54864" tIns="54864" rIns="54864" bIns="54864" anchor="t">
            <a:spAutoFit/>
          </a:bodyPr>
          <a:lstStyle/>
          <a:p>
            <a:pPr algn="l">
              <a:spcAft>
                <a:spcPts val="0"/>
              </a:spcAft>
            </a:pPr>
            <a:r>
              <a:rPr sz="1600" b="1">
                <a:solidFill>
                  <a:srgbClr val="132645"/>
                </a:solidFill>
                <a:latin typeface="Aptos"/>
              </a:rPr>
              <a:t>Diagnose</a:t>
            </a:r>
          </a:p>
        </p:txBody>
      </p:sp>
      <p:sp>
        <p:nvSpPr>
          <p:cNvPr id="15" name="TextBox 14"/>
          <p:cNvSpPr txBox="1"/>
          <p:nvPr/>
        </p:nvSpPr>
        <p:spPr>
          <a:xfrm>
            <a:off x="4727448" y="1947672"/>
            <a:ext cx="3172968" cy="886967"/>
          </a:xfrm>
          <a:prstGeom prst="rect">
            <a:avLst/>
          </a:prstGeom>
          <a:noFill/>
        </p:spPr>
        <p:txBody>
          <a:bodyPr wrap="square" lIns="54864" tIns="54864" rIns="54864" bIns="54864" anchor="t">
            <a:spAutoFit/>
          </a:bodyPr>
          <a:lstStyle/>
          <a:p>
            <a:pPr algn="l">
              <a:spcAft>
                <a:spcPts val="0"/>
              </a:spcAft>
            </a:pPr>
            <a:r>
              <a:rPr sz="1300" b="0">
                <a:solidFill>
                  <a:srgbClr val="273343"/>
                </a:solidFill>
                <a:latin typeface="Aptos"/>
              </a:rPr>
              <a:t>Bias and variance help explain underfitting and overfitting.</a:t>
            </a:r>
          </a:p>
        </p:txBody>
      </p:sp>
      <p:sp>
        <p:nvSpPr>
          <p:cNvPr id="16" name="Rounded Rectangle 15"/>
          <p:cNvSpPr/>
          <p:nvPr/>
        </p:nvSpPr>
        <p:spPr>
          <a:xfrm>
            <a:off x="8366760" y="1417320"/>
            <a:ext cx="3520440" cy="1508760"/>
          </a:xfrm>
          <a:prstGeom prst="roundRect">
            <a:avLst/>
          </a:prstGeom>
          <a:solidFill>
            <a:srgbClr val="FFFFFF"/>
          </a:solidFill>
          <a:ln w="12700">
            <a:solidFill>
              <a:srgbClr val="DEE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366760" y="1417320"/>
            <a:ext cx="73152" cy="1508760"/>
          </a:xfrm>
          <a:prstGeom prst="rect">
            <a:avLst/>
          </a:prstGeom>
          <a:solidFill>
            <a:srgbClr val="1C9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567928" y="1563624"/>
            <a:ext cx="3172968" cy="310896"/>
          </a:xfrm>
          <a:prstGeom prst="rect">
            <a:avLst/>
          </a:prstGeom>
          <a:noFill/>
        </p:spPr>
        <p:txBody>
          <a:bodyPr wrap="square" lIns="54864" tIns="54864" rIns="54864" bIns="54864" anchor="t">
            <a:spAutoFit/>
          </a:bodyPr>
          <a:lstStyle/>
          <a:p>
            <a:pPr algn="l">
              <a:spcAft>
                <a:spcPts val="0"/>
              </a:spcAft>
            </a:pPr>
            <a:r>
              <a:rPr sz="1600" b="1">
                <a:solidFill>
                  <a:srgbClr val="132645"/>
                </a:solidFill>
                <a:latin typeface="Aptos"/>
              </a:rPr>
              <a:t>Regularize</a:t>
            </a:r>
          </a:p>
        </p:txBody>
      </p:sp>
      <p:sp>
        <p:nvSpPr>
          <p:cNvPr id="19" name="TextBox 18"/>
          <p:cNvSpPr txBox="1"/>
          <p:nvPr/>
        </p:nvSpPr>
        <p:spPr>
          <a:xfrm>
            <a:off x="8567928" y="1947672"/>
            <a:ext cx="3172968" cy="886967"/>
          </a:xfrm>
          <a:prstGeom prst="rect">
            <a:avLst/>
          </a:prstGeom>
          <a:noFill/>
        </p:spPr>
        <p:txBody>
          <a:bodyPr wrap="square" lIns="54864" tIns="54864" rIns="54864" bIns="54864" anchor="t">
            <a:spAutoFit/>
          </a:bodyPr>
          <a:lstStyle/>
          <a:p>
            <a:pPr algn="l">
              <a:spcAft>
                <a:spcPts val="0"/>
              </a:spcAft>
            </a:pPr>
            <a:r>
              <a:rPr sz="1300" b="0">
                <a:solidFill>
                  <a:srgbClr val="273343"/>
                </a:solidFill>
                <a:latin typeface="Aptos"/>
              </a:rPr>
              <a:t>Ridge uses L2; Lasso uses L1 and can set coefficients to zero.</a:t>
            </a:r>
          </a:p>
        </p:txBody>
      </p:sp>
      <p:sp>
        <p:nvSpPr>
          <p:cNvPr id="20" name="Rounded Rectangle 19"/>
          <p:cNvSpPr/>
          <p:nvPr/>
        </p:nvSpPr>
        <p:spPr>
          <a:xfrm>
            <a:off x="685800" y="3474720"/>
            <a:ext cx="3520440" cy="1508760"/>
          </a:xfrm>
          <a:prstGeom prst="roundRect">
            <a:avLst/>
          </a:prstGeom>
          <a:solidFill>
            <a:srgbClr val="FFFFFF"/>
          </a:solidFill>
          <a:ln w="12700">
            <a:solidFill>
              <a:srgbClr val="DEE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85800" y="3474720"/>
            <a:ext cx="73152" cy="1508760"/>
          </a:xfrm>
          <a:prstGeom prst="rect">
            <a:avLst/>
          </a:prstGeom>
          <a:solidFill>
            <a:srgbClr val="2D6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86968" y="3621024"/>
            <a:ext cx="3172968" cy="310896"/>
          </a:xfrm>
          <a:prstGeom prst="rect">
            <a:avLst/>
          </a:prstGeom>
          <a:noFill/>
        </p:spPr>
        <p:txBody>
          <a:bodyPr wrap="square" lIns="54864" tIns="54864" rIns="54864" bIns="54864" anchor="t">
            <a:spAutoFit/>
          </a:bodyPr>
          <a:lstStyle/>
          <a:p>
            <a:pPr algn="l">
              <a:spcAft>
                <a:spcPts val="0"/>
              </a:spcAft>
            </a:pPr>
            <a:r>
              <a:rPr sz="1600" b="1">
                <a:solidFill>
                  <a:srgbClr val="132645"/>
                </a:solidFill>
                <a:latin typeface="Aptos"/>
              </a:rPr>
              <a:t>Tune</a:t>
            </a:r>
          </a:p>
        </p:txBody>
      </p:sp>
      <p:sp>
        <p:nvSpPr>
          <p:cNvPr id="23" name="TextBox 22"/>
          <p:cNvSpPr txBox="1"/>
          <p:nvPr/>
        </p:nvSpPr>
        <p:spPr>
          <a:xfrm>
            <a:off x="886968" y="4005072"/>
            <a:ext cx="3172968" cy="886967"/>
          </a:xfrm>
          <a:prstGeom prst="rect">
            <a:avLst/>
          </a:prstGeom>
          <a:noFill/>
        </p:spPr>
        <p:txBody>
          <a:bodyPr wrap="square" lIns="54864" tIns="54864" rIns="54864" bIns="54864" anchor="t">
            <a:spAutoFit/>
          </a:bodyPr>
          <a:lstStyle/>
          <a:p>
            <a:pPr algn="l">
              <a:spcAft>
                <a:spcPts val="0"/>
              </a:spcAft>
            </a:pPr>
            <a:r>
              <a:rPr sz="1300" b="0">
                <a:solidFill>
                  <a:srgbClr val="273343"/>
                </a:solidFill>
                <a:latin typeface="Aptos"/>
              </a:rPr>
              <a:t>Weights are optimized during training; λ is usually selected by validation.</a:t>
            </a:r>
          </a:p>
        </p:txBody>
      </p:sp>
      <p:sp>
        <p:nvSpPr>
          <p:cNvPr id="24" name="Rounded Rectangle 23"/>
          <p:cNvSpPr/>
          <p:nvPr/>
        </p:nvSpPr>
        <p:spPr>
          <a:xfrm>
            <a:off x="4526280" y="3474720"/>
            <a:ext cx="3520440" cy="1508760"/>
          </a:xfrm>
          <a:prstGeom prst="roundRect">
            <a:avLst/>
          </a:prstGeom>
          <a:solidFill>
            <a:srgbClr val="FFFFFF"/>
          </a:solidFill>
          <a:ln w="12700">
            <a:solidFill>
              <a:srgbClr val="DEE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4526280" y="3474720"/>
            <a:ext cx="73152" cy="1508760"/>
          </a:xfrm>
          <a:prstGeom prst="rect">
            <a:avLst/>
          </a:prstGeom>
          <a:solidFill>
            <a:srgbClr val="C349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727448" y="3621024"/>
            <a:ext cx="3172968" cy="310896"/>
          </a:xfrm>
          <a:prstGeom prst="rect">
            <a:avLst/>
          </a:prstGeom>
          <a:noFill/>
        </p:spPr>
        <p:txBody>
          <a:bodyPr wrap="square" lIns="54864" tIns="54864" rIns="54864" bIns="54864" anchor="t">
            <a:spAutoFit/>
          </a:bodyPr>
          <a:lstStyle/>
          <a:p>
            <a:pPr algn="l">
              <a:spcAft>
                <a:spcPts val="0"/>
              </a:spcAft>
            </a:pPr>
            <a:r>
              <a:rPr sz="1600" b="1">
                <a:solidFill>
                  <a:srgbClr val="132645"/>
                </a:solidFill>
                <a:latin typeface="Aptos"/>
              </a:rPr>
              <a:t>Evaluate fairly</a:t>
            </a:r>
          </a:p>
        </p:txBody>
      </p:sp>
      <p:sp>
        <p:nvSpPr>
          <p:cNvPr id="27" name="TextBox 26"/>
          <p:cNvSpPr txBox="1"/>
          <p:nvPr/>
        </p:nvSpPr>
        <p:spPr>
          <a:xfrm>
            <a:off x="4727448" y="4005072"/>
            <a:ext cx="3172968" cy="886967"/>
          </a:xfrm>
          <a:prstGeom prst="rect">
            <a:avLst/>
          </a:prstGeom>
          <a:noFill/>
        </p:spPr>
        <p:txBody>
          <a:bodyPr wrap="square" lIns="54864" tIns="54864" rIns="54864" bIns="54864" anchor="t">
            <a:spAutoFit/>
          </a:bodyPr>
          <a:lstStyle/>
          <a:p>
            <a:pPr algn="l">
              <a:spcAft>
                <a:spcPts val="0"/>
              </a:spcAft>
            </a:pPr>
            <a:r>
              <a:rPr sz="1300" b="0">
                <a:solidFill>
                  <a:srgbClr val="273343"/>
                </a:solidFill>
                <a:latin typeface="Aptos"/>
              </a:rPr>
              <a:t>Use scaling correctly, prevent leakage, and keep test data untouched.</a:t>
            </a:r>
          </a:p>
        </p:txBody>
      </p:sp>
      <p:sp>
        <p:nvSpPr>
          <p:cNvPr id="28" name="Rounded Rectangle 27"/>
          <p:cNvSpPr/>
          <p:nvPr/>
        </p:nvSpPr>
        <p:spPr>
          <a:xfrm>
            <a:off x="8366760" y="3474720"/>
            <a:ext cx="3520440" cy="1508760"/>
          </a:xfrm>
          <a:prstGeom prst="roundRect">
            <a:avLst/>
          </a:prstGeom>
          <a:solidFill>
            <a:srgbClr val="FFFFFF"/>
          </a:solidFill>
          <a:ln w="12700">
            <a:solidFill>
              <a:srgbClr val="DEE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8366760" y="3474720"/>
            <a:ext cx="73152" cy="1508760"/>
          </a:xfrm>
          <a:prstGeom prst="rect">
            <a:avLst/>
          </a:prstGeom>
          <a:solidFill>
            <a:srgbClr val="1C9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567928" y="3621024"/>
            <a:ext cx="3172968" cy="310896"/>
          </a:xfrm>
          <a:prstGeom prst="rect">
            <a:avLst/>
          </a:prstGeom>
          <a:noFill/>
        </p:spPr>
        <p:txBody>
          <a:bodyPr wrap="square" lIns="54864" tIns="54864" rIns="54864" bIns="54864" anchor="t">
            <a:spAutoFit/>
          </a:bodyPr>
          <a:lstStyle/>
          <a:p>
            <a:pPr algn="l">
              <a:spcAft>
                <a:spcPts val="0"/>
              </a:spcAft>
            </a:pPr>
            <a:r>
              <a:rPr sz="1600" b="1">
                <a:solidFill>
                  <a:srgbClr val="132645"/>
                </a:solidFill>
                <a:latin typeface="Aptos"/>
              </a:rPr>
              <a:t>Aim for</a:t>
            </a:r>
          </a:p>
        </p:txBody>
      </p:sp>
      <p:sp>
        <p:nvSpPr>
          <p:cNvPr id="31" name="TextBox 30"/>
          <p:cNvSpPr txBox="1"/>
          <p:nvPr/>
        </p:nvSpPr>
        <p:spPr>
          <a:xfrm>
            <a:off x="8567928" y="4005072"/>
            <a:ext cx="3172968" cy="886967"/>
          </a:xfrm>
          <a:prstGeom prst="rect">
            <a:avLst/>
          </a:prstGeom>
          <a:noFill/>
        </p:spPr>
        <p:txBody>
          <a:bodyPr wrap="square" lIns="54864" tIns="54864" rIns="54864" bIns="54864" anchor="t">
            <a:spAutoFit/>
          </a:bodyPr>
          <a:lstStyle/>
          <a:p>
            <a:pPr algn="l">
              <a:spcAft>
                <a:spcPts val="0"/>
              </a:spcAft>
            </a:pPr>
            <a:r>
              <a:rPr sz="1300" b="0">
                <a:solidFill>
                  <a:srgbClr val="273343"/>
                </a:solidFill>
                <a:latin typeface="Aptos"/>
              </a:rPr>
              <a:t>Strong generalization on new, unseen examples.</a:t>
            </a:r>
          </a:p>
        </p:txBody>
      </p:sp>
      <p:sp>
        <p:nvSpPr>
          <p:cNvPr id="32" name="TextBox 31"/>
          <p:cNvSpPr txBox="1"/>
          <p:nvPr/>
        </p:nvSpPr>
        <p:spPr>
          <a:xfrm>
            <a:off x="914400" y="5715000"/>
            <a:ext cx="10241280" cy="320040"/>
          </a:xfrm>
          <a:prstGeom prst="rect">
            <a:avLst/>
          </a:prstGeom>
          <a:noFill/>
        </p:spPr>
        <p:txBody>
          <a:bodyPr wrap="square" lIns="54864" tIns="54864" rIns="54864" bIns="54864" anchor="t">
            <a:spAutoFit/>
          </a:bodyPr>
          <a:lstStyle/>
          <a:p>
            <a:pPr algn="ctr">
              <a:spcAft>
                <a:spcPts val="0"/>
              </a:spcAft>
            </a:pPr>
            <a:r>
              <a:rPr sz="1500" b="1">
                <a:solidFill>
                  <a:srgbClr val="132645"/>
                </a:solidFill>
                <a:latin typeface="Aptos"/>
              </a:rPr>
              <a:t>Data  →  Model  →  Regularization  →  Validation  →  Generalization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326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7854696" y="1362456"/>
            <a:ext cx="201168" cy="201168"/>
          </a:xfrm>
          <a:prstGeom prst="ellipse">
            <a:avLst/>
          </a:prstGeom>
          <a:solidFill>
            <a:srgbClr val="1C9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8586216" y="2002536"/>
            <a:ext cx="201168" cy="201168"/>
          </a:xfrm>
          <a:prstGeom prst="ellipse">
            <a:avLst/>
          </a:prstGeom>
          <a:solidFill>
            <a:srgbClr val="E69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7763256" y="2825496"/>
            <a:ext cx="201168" cy="201168"/>
          </a:xfrm>
          <a:prstGeom prst="ellipse">
            <a:avLst/>
          </a:prstGeom>
          <a:solidFill>
            <a:srgbClr val="1C9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8769096" y="3557016"/>
            <a:ext cx="201168" cy="201168"/>
          </a:xfrm>
          <a:prstGeom prst="ellipse">
            <a:avLst/>
          </a:prstGeom>
          <a:solidFill>
            <a:srgbClr val="E69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7854696" y="4471416"/>
            <a:ext cx="201168" cy="201168"/>
          </a:xfrm>
          <a:prstGeom prst="ellipse">
            <a:avLst/>
          </a:prstGeom>
          <a:solidFill>
            <a:srgbClr val="1C9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9317736" y="2551176"/>
            <a:ext cx="201168" cy="201168"/>
          </a:xfrm>
          <a:prstGeom prst="ellipse">
            <a:avLst/>
          </a:prstGeom>
          <a:solidFill>
            <a:srgbClr val="E69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0140696" y="3374136"/>
            <a:ext cx="201168" cy="201168"/>
          </a:xfrm>
          <a:prstGeom prst="ellipse">
            <a:avLst/>
          </a:prstGeom>
          <a:solidFill>
            <a:srgbClr val="1C9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0323576" y="1728216"/>
            <a:ext cx="201168" cy="201168"/>
          </a:xfrm>
          <a:prstGeom prst="ellipse">
            <a:avLst/>
          </a:prstGeom>
          <a:solidFill>
            <a:srgbClr val="E69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1" name="Connector 10"/>
          <p:cNvCxnSpPr/>
          <p:nvPr/>
        </p:nvCxnSpPr>
        <p:spPr>
          <a:xfrm>
            <a:off x="8065007" y="1463040"/>
            <a:ext cx="512065" cy="640080"/>
          </a:xfrm>
          <a:prstGeom prst="line">
            <a:avLst/>
          </a:prstGeom>
          <a:ln w="12700">
            <a:solidFill>
              <a:srgbClr val="506F9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7754112" y="2103120"/>
            <a:ext cx="1042416" cy="822960"/>
          </a:xfrm>
          <a:prstGeom prst="line">
            <a:avLst/>
          </a:prstGeom>
          <a:ln w="12700">
            <a:solidFill>
              <a:srgbClr val="506F9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973567" y="2926080"/>
            <a:ext cx="786385" cy="731520"/>
          </a:xfrm>
          <a:prstGeom prst="line">
            <a:avLst/>
          </a:prstGeom>
          <a:ln w="12700">
            <a:solidFill>
              <a:srgbClr val="506F96"/>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7845552" y="3657600"/>
            <a:ext cx="1133855" cy="914400"/>
          </a:xfrm>
          <a:prstGeom prst="line">
            <a:avLst/>
          </a:prstGeom>
          <a:ln w="12700">
            <a:solidFill>
              <a:srgbClr val="506F96"/>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8065007" y="2651760"/>
            <a:ext cx="1243585" cy="1920240"/>
          </a:xfrm>
          <a:prstGeom prst="line">
            <a:avLst/>
          </a:prstGeom>
          <a:ln w="12700">
            <a:solidFill>
              <a:srgbClr val="506F96"/>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9528048" y="2651760"/>
            <a:ext cx="603504" cy="822960"/>
          </a:xfrm>
          <a:prstGeom prst="line">
            <a:avLst/>
          </a:prstGeom>
          <a:ln w="12700">
            <a:solidFill>
              <a:srgbClr val="506F96"/>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flipV="1">
            <a:off x="10314432" y="1828800"/>
            <a:ext cx="36575" cy="1645920"/>
          </a:xfrm>
          <a:prstGeom prst="line">
            <a:avLst/>
          </a:prstGeom>
          <a:ln w="12700">
            <a:solidFill>
              <a:srgbClr val="506F96"/>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868680" y="1920240"/>
            <a:ext cx="5943600" cy="822960"/>
          </a:xfrm>
          <a:prstGeom prst="rect">
            <a:avLst/>
          </a:prstGeom>
          <a:noFill/>
        </p:spPr>
        <p:txBody>
          <a:bodyPr wrap="square" lIns="54864" tIns="54864" rIns="54864" bIns="54864" anchor="t">
            <a:spAutoFit/>
          </a:bodyPr>
          <a:lstStyle/>
          <a:p>
            <a:pPr algn="l">
              <a:spcAft>
                <a:spcPts val="0"/>
              </a:spcAft>
            </a:pPr>
            <a:r>
              <a:rPr sz="3600" b="1">
                <a:solidFill>
                  <a:srgbClr val="FFFFFF"/>
                </a:solidFill>
                <a:latin typeface="Aptos"/>
              </a:rPr>
              <a:t>Thank You</a:t>
            </a:r>
          </a:p>
        </p:txBody>
      </p:sp>
      <p:sp>
        <p:nvSpPr>
          <p:cNvPr id="19" name="TextBox 18"/>
          <p:cNvSpPr txBox="1"/>
          <p:nvPr/>
        </p:nvSpPr>
        <p:spPr>
          <a:xfrm>
            <a:off x="896112" y="2880360"/>
            <a:ext cx="5852160" cy="502920"/>
          </a:xfrm>
          <a:prstGeom prst="rect">
            <a:avLst/>
          </a:prstGeom>
          <a:noFill/>
        </p:spPr>
        <p:txBody>
          <a:bodyPr wrap="square" lIns="54864" tIns="54864" rIns="54864" bIns="54864" anchor="t">
            <a:spAutoFit/>
          </a:bodyPr>
          <a:lstStyle/>
          <a:p>
            <a:pPr algn="l">
              <a:spcAft>
                <a:spcPts val="0"/>
              </a:spcAft>
            </a:pPr>
            <a:r>
              <a:rPr sz="2100" b="1">
                <a:solidFill>
                  <a:srgbClr val="1C968C"/>
                </a:solidFill>
                <a:latin typeface="Aptos"/>
              </a:rPr>
              <a:t>Questions and Discussion</a:t>
            </a:r>
          </a:p>
        </p:txBody>
      </p:sp>
      <p:sp>
        <p:nvSpPr>
          <p:cNvPr id="20" name="TextBox 19"/>
          <p:cNvSpPr txBox="1"/>
          <p:nvPr/>
        </p:nvSpPr>
        <p:spPr>
          <a:xfrm>
            <a:off x="896112" y="5806440"/>
            <a:ext cx="6217920" cy="320040"/>
          </a:xfrm>
          <a:prstGeom prst="rect">
            <a:avLst/>
          </a:prstGeom>
          <a:noFill/>
        </p:spPr>
        <p:txBody>
          <a:bodyPr wrap="square" lIns="54864" tIns="54864" rIns="54864" bIns="54864" anchor="t">
            <a:spAutoFit/>
          </a:bodyPr>
          <a:lstStyle/>
          <a:p>
            <a:pPr algn="l">
              <a:spcAft>
                <a:spcPts val="0"/>
              </a:spcAft>
            </a:pPr>
            <a:r>
              <a:rPr sz="1100" b="0">
                <a:solidFill>
                  <a:srgbClr val="B9CBE0"/>
                </a:solidFill>
                <a:latin typeface="Aptos"/>
              </a:rPr>
              <a:t>Understanding Machine Learning • Technical Seminar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3913</Words>
  <Application>Microsoft Office PowerPoint</Application>
  <PresentationFormat>Widescreen</PresentationFormat>
  <Paragraphs>436</Paragraphs>
  <Slides>24</Slides>
  <Notes>24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Understanding Machine Learning: Bias, Variance, Overfitting, and Regularization</dc:title>
  <dc:subject>Technical seminar presentation with speaker notes</dc:subject>
  <dc:creator>OpenAI</dc:creator>
  <cp:keywords>machine learning, bias, variance, overfitting, regularization, Ridge, Lasso</cp:keywords>
  <dc:description>generated using python-pptx</dc:description>
  <cp:lastModifiedBy>VASUNDRAA S</cp:lastModifiedBy>
  <cp:revision>2</cp:revision>
  <dcterms:created xsi:type="dcterms:W3CDTF">2013-01-27T09:14:16Z</dcterms:created>
  <dcterms:modified xsi:type="dcterms:W3CDTF">2026-10-15T13:51:27Z</dcterms:modified>
  <cp:category/>
</cp:coreProperties>
</file>